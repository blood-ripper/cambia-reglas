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2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PS 2, Entrepreneurship &amp; Employment. Sangam is where talent, ideas and opportunities meet, and our twist is "proof, not promises": recruiters are scored on hires that candidates confirm, ideas are tested with community polls, and every student gets a free path to the skills that openings demand.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players, five gaps. 93% of Indian job seekers have met suspected recruitment scams and 51% cannot tell real recruiters from fraudsters (Indeed survey, July 2026). Employability is 56.35% (India Skills Report 2026). India has 2.23 lakh DPIIT-recognised startups with 23.36 lakh direct jobs (31 March 2026), yet students cannot reach them with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Sangam maps exactly to the PS sentence. It connects five players and helps them discover opportunities, build skills and turn ideas into ventures. Right: eight features, each tagged with the part of PS 2 it serves.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joins the same way: sign up, then a profile with name, age, gender, university, college, course, year, skills and goal, then email verification. Unverified users stay guests. The role decides the lane. Every lane ends in the score engine, which makes the feed smarter for the next user.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is free: Next.js on Vercel Hobby, the Supabase free tier for Postgres, auth, realtime and storage, and the Gemini free tier plus open-source embeddings for AI. Deploys are one CLI command. The Hire-Proof Score weights confirmed hires most.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USP is the trust layer: no platform we compared asks the hired candidate to confirm the hire. Impact for all five players and for colleges. Students stay free; recruiters pay for Pro, and sponsored listings never change scores.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wireframes cover the core demo. The hour-by-hour plan for the 24-hour round has an owner for every block. Demo path: sign up, verified hire, validated idea, all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2.png"/><Relationship Id="rId12" Type="http://schemas.openxmlformats.org/officeDocument/2006/relationships/image" Target="../media/image12.png"/><Relationship Id="rId2" Type="http://schemas.openxmlformats.org/officeDocument/2006/relationships/notesSlide" Target="../notesSlides/notesSlide3.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1.png"/><Relationship Id="rId5" Type="http://schemas.openxmlformats.org/officeDocument/2006/relationships/image" Target="../media/image7.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a:effectLst/>
      </p:bgPr>
    </p:bg>
    <p:spTree>
      <p:nvGrpSpPr>
        <p:cNvPr id="1" name=""/>
        <p:cNvGrpSpPr/>
        <p:nvPr/>
      </p:nvGrpSpPr>
      <p:grpSpPr>
        <a:xfrm>
          <a:off x="0" y="0"/>
          <a:ext cx="0" cy="0"/>
          <a:chOff x="0" y="0"/>
          <a:chExt cx="0" cy="0"/>
        </a:xfrm>
      </p:grpSpPr>
      <p:sp>
        <p:nvSpPr>
          <p:cNvPr id="2" name="Shape 0"/>
          <p:cNvSpPr/>
          <p:nvPr/>
        </p:nvSpPr>
        <p:spPr>
          <a:xfrm>
            <a:off x="457200" y="370332"/>
            <a:ext cx="91440" cy="91440"/>
          </a:xfrm>
          <a:prstGeom prst="ellipse">
            <a:avLst/>
          </a:prstGeom>
          <a:solidFill>
            <a:srgbClr val="E5482D"/>
          </a:solidFill>
          <a:ln/>
        </p:spPr>
        <p:txBody>
          <a:bodyPr/>
          <a:lstStyle/>
          <a:p>
            <a:endParaRPr lang="en-IN"/>
          </a:p>
        </p:txBody>
      </p:sp>
      <p:sp>
        <p:nvSpPr>
          <p:cNvPr id="3" name="Text 1"/>
          <p:cNvSpPr txBox="1"/>
          <p:nvPr/>
        </p:nvSpPr>
        <p:spPr>
          <a:xfrm>
            <a:off x="640080" y="329184"/>
            <a:ext cx="6400800" cy="182880"/>
          </a:xfrm>
          <a:prstGeom prst="rect">
            <a:avLst/>
          </a:prstGeom>
          <a:noFill/>
          <a:ln/>
        </p:spPr>
        <p:txBody>
          <a:bodyPr wrap="square" lIns="0" tIns="0" rIns="0" bIns="0" rtlCol="0" anchor="ctr"/>
          <a:lstStyle/>
          <a:p>
            <a:pPr marL="0" indent="0">
              <a:buNone/>
            </a:pPr>
            <a:r>
              <a:rPr lang="en-US" sz="900" b="1" kern="0" spc="150" dirty="0">
                <a:solidFill>
                  <a:srgbClr val="A2A5AC"/>
                </a:solidFill>
                <a:latin typeface="Inter" pitchFamily="34" charset="0"/>
                <a:ea typeface="Inter" pitchFamily="34" charset="-122"/>
                <a:cs typeface="Inter" pitchFamily="34" charset="-120"/>
              </a:rPr>
              <a:t>HACKSHIFT 2026  ·  OFFLINE ROUND  ·  SOLUTION SUBMISSION</a:t>
            </a:r>
            <a:endParaRPr lang="en-US" sz="900" dirty="0"/>
          </a:p>
        </p:txBody>
      </p:sp>
      <p:sp>
        <p:nvSpPr>
          <p:cNvPr id="4" name="Text 2"/>
          <p:cNvSpPr txBox="1"/>
          <p:nvPr/>
        </p:nvSpPr>
        <p:spPr>
          <a:xfrm>
            <a:off x="7616952" y="329184"/>
            <a:ext cx="4114800" cy="182880"/>
          </a:xfrm>
          <a:prstGeom prst="rect">
            <a:avLst/>
          </a:prstGeom>
          <a:noFill/>
          <a:ln/>
        </p:spPr>
        <p:txBody>
          <a:bodyPr wrap="square" lIns="0" tIns="0" rIns="0" bIns="0" rtlCol="0" anchor="ctr"/>
          <a:lstStyle/>
          <a:p>
            <a:pPr marL="0" indent="0" algn="r">
              <a:buNone/>
            </a:pPr>
            <a:r>
              <a:rPr lang="en-US" sz="900" b="1" kern="0" spc="150" dirty="0">
                <a:solidFill>
                  <a:srgbClr val="A2A5AC"/>
                </a:solidFill>
                <a:latin typeface="Inter" pitchFamily="34" charset="0"/>
                <a:ea typeface="Inter" pitchFamily="34" charset="-122"/>
                <a:cs typeface="Inter" pitchFamily="34" charset="-120"/>
              </a:rPr>
              <a:t>SLIDE 1 / 7  ·  TEAM &amp; IDEA</a:t>
            </a:r>
            <a:endParaRPr lang="en-US" sz="900" dirty="0"/>
          </a:p>
        </p:txBody>
      </p:sp>
      <p:sp>
        <p:nvSpPr>
          <p:cNvPr id="5" name="Text 3"/>
          <p:cNvSpPr txBox="1"/>
          <p:nvPr/>
        </p:nvSpPr>
        <p:spPr>
          <a:xfrm>
            <a:off x="457200" y="896112"/>
            <a:ext cx="5486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SELECTED PROBLEM STATEMENT</a:t>
            </a:r>
            <a:endParaRPr lang="en-US" sz="900" dirty="0"/>
          </a:p>
        </p:txBody>
      </p:sp>
      <p:sp>
        <p:nvSpPr>
          <p:cNvPr id="6" name="Text 4"/>
          <p:cNvSpPr txBox="1"/>
          <p:nvPr/>
        </p:nvSpPr>
        <p:spPr>
          <a:xfrm>
            <a:off x="457200" y="1115568"/>
            <a:ext cx="6949440" cy="329184"/>
          </a:xfrm>
          <a:prstGeom prst="rect">
            <a:avLst/>
          </a:prstGeom>
          <a:noFill/>
          <a:ln/>
        </p:spPr>
        <p:txBody>
          <a:bodyPr wrap="square" lIns="0" tIns="0" rIns="0" bIns="0" rtlCol="0" anchor="ctr"/>
          <a:lstStyle/>
          <a:p>
            <a:pPr marL="0" indent="0">
              <a:buNone/>
            </a:pPr>
            <a:r>
              <a:rPr lang="en-US" sz="1700" dirty="0">
                <a:solidFill>
                  <a:srgbClr val="FFFFFF"/>
                </a:solidFill>
                <a:latin typeface="Inter" pitchFamily="34" charset="0"/>
                <a:ea typeface="Inter" pitchFamily="34" charset="-122"/>
                <a:cs typeface="Inter" pitchFamily="34" charset="-120"/>
              </a:rPr>
              <a:t>PS 2 — Entrepreneurship &amp; Employment</a:t>
            </a:r>
            <a:endParaRPr lang="en-US" sz="1700" dirty="0"/>
          </a:p>
        </p:txBody>
      </p:sp>
      <p:sp>
        <p:nvSpPr>
          <p:cNvPr id="7" name="Text 5"/>
          <p:cNvSpPr txBox="1"/>
          <p:nvPr/>
        </p:nvSpPr>
        <p:spPr>
          <a:xfrm>
            <a:off x="457200" y="1444752"/>
            <a:ext cx="6949440" cy="256032"/>
          </a:xfrm>
          <a:prstGeom prst="rect">
            <a:avLst/>
          </a:prstGeom>
          <a:noFill/>
          <a:ln/>
        </p:spPr>
        <p:txBody>
          <a:bodyPr wrap="square" lIns="0" tIns="0" rIns="0" bIns="0" rtlCol="0" anchor="ctr"/>
          <a:lstStyle/>
          <a:p>
            <a:pPr marL="0" indent="0">
              <a:buNone/>
            </a:pPr>
            <a:r>
              <a:rPr lang="en-US" sz="1200" dirty="0">
                <a:solidFill>
                  <a:srgbClr val="A2A5AC"/>
                </a:solidFill>
                <a:latin typeface="Inter" pitchFamily="34" charset="0"/>
                <a:ea typeface="Inter" pitchFamily="34" charset="-122"/>
                <a:cs typeface="Inter" pitchFamily="34" charset="-120"/>
              </a:rPr>
              <a:t>Theme: Connecting Talent, Ideas, and Opportunities</a:t>
            </a:r>
            <a:endParaRPr lang="en-US" sz="1200" dirty="0"/>
          </a:p>
        </p:txBody>
      </p:sp>
      <p:sp>
        <p:nvSpPr>
          <p:cNvPr id="8" name="Shape 6"/>
          <p:cNvSpPr/>
          <p:nvPr/>
        </p:nvSpPr>
        <p:spPr>
          <a:xfrm>
            <a:off x="639897" y="1984248"/>
            <a:ext cx="566928" cy="566928"/>
          </a:xfrm>
          <a:prstGeom prst="ellipse">
            <a:avLst/>
          </a:prstGeom>
          <a:solidFill>
            <a:srgbClr val="4F6BFF">
              <a:alpha val="90000"/>
            </a:srgbClr>
          </a:solidFill>
          <a:ln/>
        </p:spPr>
        <p:txBody>
          <a:bodyPr/>
          <a:lstStyle/>
          <a:p>
            <a:endParaRPr lang="en-IN"/>
          </a:p>
        </p:txBody>
      </p:sp>
      <p:sp>
        <p:nvSpPr>
          <p:cNvPr id="9" name="Shape 7"/>
          <p:cNvSpPr/>
          <p:nvPr/>
        </p:nvSpPr>
        <p:spPr>
          <a:xfrm>
            <a:off x="475488" y="2269005"/>
            <a:ext cx="566928" cy="566928"/>
          </a:xfrm>
          <a:prstGeom prst="ellipse">
            <a:avLst/>
          </a:prstGeom>
          <a:solidFill>
            <a:srgbClr val="F5A524">
              <a:alpha val="90000"/>
            </a:srgbClr>
          </a:solidFill>
          <a:ln/>
        </p:spPr>
        <p:txBody>
          <a:bodyPr/>
          <a:lstStyle/>
          <a:p>
            <a:endParaRPr lang="en-IN"/>
          </a:p>
        </p:txBody>
      </p:sp>
      <p:sp>
        <p:nvSpPr>
          <p:cNvPr id="10" name="Shape 8"/>
          <p:cNvSpPr/>
          <p:nvPr/>
        </p:nvSpPr>
        <p:spPr>
          <a:xfrm>
            <a:off x="804306" y="2269005"/>
            <a:ext cx="566928" cy="566928"/>
          </a:xfrm>
          <a:prstGeom prst="ellipse">
            <a:avLst/>
          </a:prstGeom>
          <a:solidFill>
            <a:srgbClr val="22C38E">
              <a:alpha val="90000"/>
            </a:srgbClr>
          </a:solidFill>
          <a:ln/>
        </p:spPr>
        <p:txBody>
          <a:bodyPr/>
          <a:lstStyle/>
          <a:p>
            <a:endParaRPr lang="en-IN"/>
          </a:p>
        </p:txBody>
      </p:sp>
      <p:sp>
        <p:nvSpPr>
          <p:cNvPr id="11" name="Text 9"/>
          <p:cNvSpPr txBox="1"/>
          <p:nvPr/>
        </p:nvSpPr>
        <p:spPr>
          <a:xfrm>
            <a:off x="1572768" y="1810512"/>
            <a:ext cx="5669280" cy="1188720"/>
          </a:xfrm>
          <a:prstGeom prst="rect">
            <a:avLst/>
          </a:prstGeom>
          <a:noFill/>
          <a:ln/>
        </p:spPr>
        <p:txBody>
          <a:bodyPr wrap="square" lIns="0" tIns="0" rIns="0" bIns="0" rtlCol="0" anchor="ctr"/>
          <a:lstStyle/>
          <a:p>
            <a:pPr marL="0" indent="0">
              <a:buNone/>
            </a:pPr>
            <a:r>
              <a:rPr lang="en-US" sz="8000" dirty="0">
                <a:solidFill>
                  <a:srgbClr val="FFFFFF"/>
                </a:solidFill>
                <a:latin typeface="Inter" pitchFamily="34" charset="0"/>
                <a:ea typeface="Inter" pitchFamily="34" charset="-122"/>
                <a:cs typeface="Inter" pitchFamily="34" charset="-120"/>
              </a:rPr>
              <a:t>Sangam</a:t>
            </a:r>
            <a:endParaRPr lang="en-US" sz="8000" dirty="0"/>
          </a:p>
        </p:txBody>
      </p:sp>
      <p:sp>
        <p:nvSpPr>
          <p:cNvPr id="12" name="Text 10"/>
          <p:cNvSpPr txBox="1"/>
          <p:nvPr/>
        </p:nvSpPr>
        <p:spPr>
          <a:xfrm>
            <a:off x="457200" y="3127248"/>
            <a:ext cx="6949440" cy="603504"/>
          </a:xfrm>
          <a:prstGeom prst="rect">
            <a:avLst/>
          </a:prstGeom>
          <a:noFill/>
          <a:ln/>
        </p:spPr>
        <p:txBody>
          <a:bodyPr wrap="square" lIns="0" tIns="0" rIns="0" bIns="0" rtlCol="0" anchor="t"/>
          <a:lstStyle/>
          <a:p>
            <a:pPr marL="0" indent="0">
              <a:spcAft>
                <a:spcPts val="200"/>
              </a:spcAft>
              <a:buNone/>
            </a:pPr>
            <a:r>
              <a:rPr lang="en-US" sz="1700" dirty="0">
                <a:solidFill>
                  <a:srgbClr val="FFFFFF"/>
                </a:solidFill>
                <a:latin typeface="Inter" pitchFamily="34" charset="0"/>
                <a:ea typeface="Inter" pitchFamily="34" charset="-122"/>
                <a:cs typeface="Inter" pitchFamily="34" charset="-120"/>
              </a:rPr>
              <a:t>Where talent, ideas and opportunities meet.</a:t>
            </a:r>
            <a:endParaRPr lang="en-US" sz="1700" dirty="0"/>
          </a:p>
          <a:p>
            <a:pPr marL="0" indent="0">
              <a:spcAft>
                <a:spcPts val="200"/>
              </a:spcAft>
              <a:buNone/>
            </a:pPr>
            <a:r>
              <a:rPr lang="en-US" sz="1700" b="1" dirty="0">
                <a:solidFill>
                  <a:srgbClr val="E5482D"/>
                </a:solidFill>
                <a:latin typeface="Inter" pitchFamily="34" charset="0"/>
                <a:ea typeface="Inter" pitchFamily="34" charset="-122"/>
                <a:cs typeface="Inter" pitchFamily="34" charset="-120"/>
              </a:rPr>
              <a:t>Proof, not promises.</a:t>
            </a:r>
            <a:endParaRPr lang="en-US" sz="1700" dirty="0"/>
          </a:p>
        </p:txBody>
      </p:sp>
      <p:sp>
        <p:nvSpPr>
          <p:cNvPr id="13" name="Text 11"/>
          <p:cNvSpPr txBox="1"/>
          <p:nvPr/>
        </p:nvSpPr>
        <p:spPr>
          <a:xfrm>
            <a:off x="457200" y="3931920"/>
            <a:ext cx="5486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ONE-LINE SOLUTION</a:t>
            </a:r>
            <a:endParaRPr lang="en-US" sz="900" dirty="0"/>
          </a:p>
        </p:txBody>
      </p:sp>
      <p:sp>
        <p:nvSpPr>
          <p:cNvPr id="14" name="Text 12"/>
          <p:cNvSpPr txBox="1"/>
          <p:nvPr/>
        </p:nvSpPr>
        <p:spPr>
          <a:xfrm>
            <a:off x="457200" y="4169664"/>
            <a:ext cx="6766560" cy="960120"/>
          </a:xfrm>
          <a:prstGeom prst="rect">
            <a:avLst/>
          </a:prstGeom>
          <a:noFill/>
          <a:ln/>
        </p:spPr>
        <p:txBody>
          <a:bodyPr wrap="square" lIns="0" tIns="0" rIns="0" bIns="0" rtlCol="0" anchor="t"/>
          <a:lstStyle/>
          <a:p>
            <a:pPr marL="0" indent="0">
              <a:lnSpc>
                <a:spcPct val="108000"/>
              </a:lnSpc>
              <a:buNone/>
            </a:pPr>
            <a:r>
              <a:rPr lang="en-US" sz="1300" dirty="0">
                <a:solidFill>
                  <a:srgbClr val="D9DCE1"/>
                </a:solidFill>
                <a:latin typeface="Inter" pitchFamily="34" charset="0"/>
                <a:ea typeface="Inter" pitchFamily="34" charset="-122"/>
                <a:cs typeface="Inter" pitchFamily="34" charset="-120"/>
              </a:rPr>
              <a:t>Sangam connects job seekers, entrepreneurs, startups, mentors and recruiters on one verified network. Recruiters are scored on hires that candidates confirm, ideas are tested with community polls, and every student gets a free AI path to the skills that openings demand.</a:t>
            </a:r>
            <a:endParaRPr lang="en-US" sz="1300" dirty="0"/>
          </a:p>
        </p:txBody>
      </p:sp>
      <p:sp>
        <p:nvSpPr>
          <p:cNvPr id="15" name="Text 13"/>
          <p:cNvSpPr txBox="1"/>
          <p:nvPr/>
        </p:nvSpPr>
        <p:spPr>
          <a:xfrm>
            <a:off x="457200" y="5303520"/>
            <a:ext cx="5486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BUILT ON THE FOUR PROMISES OF PS 2</a:t>
            </a:r>
            <a:endParaRPr lang="en-US" sz="900" dirty="0"/>
          </a:p>
        </p:txBody>
      </p:sp>
      <p:sp>
        <p:nvSpPr>
          <p:cNvPr id="16" name="Text 14"/>
          <p:cNvSpPr txBox="1"/>
          <p:nvPr/>
        </p:nvSpPr>
        <p:spPr>
          <a:xfrm>
            <a:off x="457200" y="5559552"/>
            <a:ext cx="1078992" cy="384048"/>
          </a:xfrm>
          <a:prstGeom prst="roundRect">
            <a:avLst>
              <a:gd name="adj" fmla="val 50000"/>
            </a:avLst>
          </a:prstGeom>
          <a:solidFill>
            <a:srgbClr val="14161C"/>
          </a:solidFill>
          <a:ln w="12700">
            <a:solidFill>
              <a:srgbClr val="6B7180"/>
            </a:solidFill>
          </a:ln>
        </p:spPr>
        <p:txBody>
          <a:bodyPr wrap="square" lIns="0" tIns="0" rIns="0" bIns="0" rtlCol="0" anchor="ctr"/>
          <a:lstStyle/>
          <a:p>
            <a:pPr marL="0" indent="0" algn="ctr">
              <a:buNone/>
            </a:pPr>
            <a:r>
              <a:rPr lang="en-US" sz="1000" b="1" dirty="0">
                <a:solidFill>
                  <a:srgbClr val="E5482D"/>
                </a:solidFill>
                <a:latin typeface="Inter" pitchFamily="34" charset="0"/>
                <a:ea typeface="Inter" pitchFamily="34" charset="-122"/>
                <a:cs typeface="Inter" pitchFamily="34" charset="-120"/>
              </a:rPr>
              <a:t>01</a:t>
            </a:r>
            <a:r>
              <a:rPr lang="en-US" sz="1000" b="1" dirty="0">
                <a:solidFill>
                  <a:srgbClr val="FFFFFF"/>
                </a:solidFill>
                <a:latin typeface="Inter" pitchFamily="34" charset="0"/>
                <a:ea typeface="Inter" pitchFamily="34" charset="-122"/>
                <a:cs typeface="Inter" pitchFamily="34" charset="-120"/>
              </a:rPr>
              <a:t> Connect</a:t>
            </a:r>
            <a:endParaRPr lang="en-US" sz="1000" dirty="0"/>
          </a:p>
        </p:txBody>
      </p:sp>
      <p:sp>
        <p:nvSpPr>
          <p:cNvPr id="17" name="Text 15"/>
          <p:cNvSpPr txBox="1"/>
          <p:nvPr/>
        </p:nvSpPr>
        <p:spPr>
          <a:xfrm>
            <a:off x="1645920" y="5559552"/>
            <a:ext cx="2212848" cy="384048"/>
          </a:xfrm>
          <a:prstGeom prst="roundRect">
            <a:avLst>
              <a:gd name="adj" fmla="val 50000"/>
            </a:avLst>
          </a:prstGeom>
          <a:solidFill>
            <a:srgbClr val="14161C"/>
          </a:solidFill>
          <a:ln w="12700">
            <a:solidFill>
              <a:srgbClr val="6B7180"/>
            </a:solidFill>
          </a:ln>
        </p:spPr>
        <p:txBody>
          <a:bodyPr wrap="square" lIns="0" tIns="0" rIns="0" bIns="0" rtlCol="0" anchor="ctr"/>
          <a:lstStyle/>
          <a:p>
            <a:pPr marL="0" indent="0" algn="ctr">
              <a:buNone/>
            </a:pPr>
            <a:r>
              <a:rPr lang="en-US" sz="1000" b="1" dirty="0">
                <a:solidFill>
                  <a:srgbClr val="E5482D"/>
                </a:solidFill>
                <a:latin typeface="Inter" pitchFamily="34" charset="0"/>
                <a:ea typeface="Inter" pitchFamily="34" charset="-122"/>
                <a:cs typeface="Inter" pitchFamily="34" charset="-120"/>
              </a:rPr>
              <a:t>02</a:t>
            </a:r>
            <a:r>
              <a:rPr lang="en-US" sz="1000" b="1" dirty="0">
                <a:solidFill>
                  <a:srgbClr val="FFFFFF"/>
                </a:solidFill>
                <a:latin typeface="Inter" pitchFamily="34" charset="0"/>
                <a:ea typeface="Inter" pitchFamily="34" charset="-122"/>
                <a:cs typeface="Inter" pitchFamily="34" charset="-120"/>
              </a:rPr>
              <a:t> Discover opportunities</a:t>
            </a:r>
            <a:endParaRPr lang="en-US" sz="1000" dirty="0"/>
          </a:p>
        </p:txBody>
      </p:sp>
      <p:sp>
        <p:nvSpPr>
          <p:cNvPr id="18" name="Text 16"/>
          <p:cNvSpPr txBox="1"/>
          <p:nvPr/>
        </p:nvSpPr>
        <p:spPr>
          <a:xfrm>
            <a:off x="3968496" y="5559552"/>
            <a:ext cx="1463040" cy="384048"/>
          </a:xfrm>
          <a:prstGeom prst="roundRect">
            <a:avLst>
              <a:gd name="adj" fmla="val 50000"/>
            </a:avLst>
          </a:prstGeom>
          <a:solidFill>
            <a:srgbClr val="14161C"/>
          </a:solidFill>
          <a:ln w="12700">
            <a:solidFill>
              <a:srgbClr val="6B7180"/>
            </a:solidFill>
          </a:ln>
        </p:spPr>
        <p:txBody>
          <a:bodyPr wrap="square" lIns="0" tIns="0" rIns="0" bIns="0" rtlCol="0" anchor="ctr"/>
          <a:lstStyle/>
          <a:p>
            <a:pPr marL="0" indent="0" algn="ctr">
              <a:buNone/>
            </a:pPr>
            <a:r>
              <a:rPr lang="en-US" sz="1000" b="1" dirty="0">
                <a:solidFill>
                  <a:srgbClr val="E5482D"/>
                </a:solidFill>
                <a:latin typeface="Inter" pitchFamily="34" charset="0"/>
                <a:ea typeface="Inter" pitchFamily="34" charset="-122"/>
                <a:cs typeface="Inter" pitchFamily="34" charset="-120"/>
              </a:rPr>
              <a:t>03</a:t>
            </a:r>
            <a:r>
              <a:rPr lang="en-US" sz="1000" b="1" dirty="0">
                <a:solidFill>
                  <a:srgbClr val="FFFFFF"/>
                </a:solidFill>
                <a:latin typeface="Inter" pitchFamily="34" charset="0"/>
                <a:ea typeface="Inter" pitchFamily="34" charset="-122"/>
                <a:cs typeface="Inter" pitchFamily="34" charset="-120"/>
              </a:rPr>
              <a:t> Build skills</a:t>
            </a:r>
            <a:endParaRPr lang="en-US" sz="1000" dirty="0"/>
          </a:p>
        </p:txBody>
      </p:sp>
      <p:sp>
        <p:nvSpPr>
          <p:cNvPr id="19" name="Text 17"/>
          <p:cNvSpPr txBox="1"/>
          <p:nvPr/>
        </p:nvSpPr>
        <p:spPr>
          <a:xfrm>
            <a:off x="5541264" y="5559552"/>
            <a:ext cx="1755648" cy="384048"/>
          </a:xfrm>
          <a:prstGeom prst="roundRect">
            <a:avLst>
              <a:gd name="adj" fmla="val 50000"/>
            </a:avLst>
          </a:prstGeom>
          <a:solidFill>
            <a:srgbClr val="14161C"/>
          </a:solidFill>
          <a:ln w="12700">
            <a:solidFill>
              <a:srgbClr val="6B7180"/>
            </a:solidFill>
          </a:ln>
        </p:spPr>
        <p:txBody>
          <a:bodyPr wrap="square" lIns="0" tIns="0" rIns="0" bIns="0" rtlCol="0" anchor="ctr"/>
          <a:lstStyle/>
          <a:p>
            <a:pPr marL="0" indent="0" algn="ctr">
              <a:buNone/>
            </a:pPr>
            <a:r>
              <a:rPr lang="en-US" sz="1000" b="1" dirty="0">
                <a:solidFill>
                  <a:srgbClr val="E5482D"/>
                </a:solidFill>
                <a:latin typeface="Inter" pitchFamily="34" charset="0"/>
                <a:ea typeface="Inter" pitchFamily="34" charset="-122"/>
                <a:cs typeface="Inter" pitchFamily="34" charset="-120"/>
              </a:rPr>
              <a:t>04</a:t>
            </a:r>
            <a:r>
              <a:rPr lang="en-US" sz="1000" b="1" dirty="0">
                <a:solidFill>
                  <a:srgbClr val="FFFFFF"/>
                </a:solidFill>
                <a:latin typeface="Inter" pitchFamily="34" charset="0"/>
                <a:ea typeface="Inter" pitchFamily="34" charset="-122"/>
                <a:cs typeface="Inter" pitchFamily="34" charset="-120"/>
              </a:rPr>
              <a:t> Ideas → ventures</a:t>
            </a:r>
            <a:endParaRPr lang="en-US" sz="1000" dirty="0"/>
          </a:p>
        </p:txBody>
      </p:sp>
      <p:sp>
        <p:nvSpPr>
          <p:cNvPr id="20" name="Shape 18"/>
          <p:cNvSpPr/>
          <p:nvPr/>
        </p:nvSpPr>
        <p:spPr>
          <a:xfrm>
            <a:off x="7818120" y="868680"/>
            <a:ext cx="3913632" cy="2395728"/>
          </a:xfrm>
          <a:prstGeom prst="roundRect">
            <a:avLst>
              <a:gd name="adj" fmla="val 5344"/>
            </a:avLst>
          </a:prstGeom>
          <a:solidFill>
            <a:srgbClr val="0E3B36"/>
          </a:solidFill>
          <a:ln/>
        </p:spPr>
        <p:txBody>
          <a:bodyPr/>
          <a:lstStyle/>
          <a:p>
            <a:endParaRPr lang="en-IN"/>
          </a:p>
        </p:txBody>
      </p:sp>
      <p:sp>
        <p:nvSpPr>
          <p:cNvPr id="21" name="Text 19"/>
          <p:cNvSpPr txBox="1"/>
          <p:nvPr/>
        </p:nvSpPr>
        <p:spPr>
          <a:xfrm>
            <a:off x="8092440" y="1042416"/>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TEAM NAME</a:t>
            </a:r>
            <a:endParaRPr lang="en-US" sz="900" dirty="0"/>
          </a:p>
        </p:txBody>
      </p:sp>
      <p:sp>
        <p:nvSpPr>
          <p:cNvPr id="22" name="Text 20"/>
          <p:cNvSpPr txBox="1"/>
          <p:nvPr/>
        </p:nvSpPr>
        <p:spPr>
          <a:xfrm>
            <a:off x="8092440" y="1243584"/>
            <a:ext cx="3474720" cy="475488"/>
          </a:xfrm>
          <a:prstGeom prst="rect">
            <a:avLst/>
          </a:prstGeom>
          <a:noFill/>
          <a:ln/>
        </p:spPr>
        <p:txBody>
          <a:bodyPr wrap="square" lIns="0" tIns="0" rIns="0" bIns="0" rtlCol="0" anchor="ctr"/>
          <a:lstStyle/>
          <a:p>
            <a:pPr marL="0" indent="0">
              <a:buNone/>
            </a:pPr>
            <a:r>
              <a:rPr lang="en-US" sz="2600" dirty="0">
                <a:solidFill>
                  <a:srgbClr val="FFFFFF"/>
                </a:solidFill>
                <a:latin typeface="Inter" pitchFamily="34" charset="0"/>
                <a:ea typeface="Inter" pitchFamily="34" charset="-122"/>
                <a:cs typeface="Inter" pitchFamily="34" charset="-120"/>
              </a:rPr>
              <a:t>CAMBIA-REGLAS</a:t>
            </a:r>
            <a:endParaRPr lang="en-US" sz="2600" dirty="0"/>
          </a:p>
        </p:txBody>
      </p:sp>
      <p:sp>
        <p:nvSpPr>
          <p:cNvPr id="23" name="Text 21"/>
          <p:cNvSpPr txBox="1"/>
          <p:nvPr/>
        </p:nvSpPr>
        <p:spPr>
          <a:xfrm>
            <a:off x="8092440" y="1828800"/>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TEAM MEMBERS</a:t>
            </a:r>
            <a:endParaRPr lang="en-US" sz="900" dirty="0"/>
          </a:p>
        </p:txBody>
      </p:sp>
      <p:sp>
        <p:nvSpPr>
          <p:cNvPr id="24" name="Text 22"/>
          <p:cNvSpPr txBox="1"/>
          <p:nvPr/>
        </p:nvSpPr>
        <p:spPr>
          <a:xfrm>
            <a:off x="8092440" y="2103120"/>
            <a:ext cx="237744" cy="237744"/>
          </a:xfrm>
          <a:prstGeom prst="roundRect">
            <a:avLst>
              <a:gd name="adj" fmla="val 50000"/>
            </a:avLst>
          </a:prstGeom>
          <a:solidFill>
            <a:srgbClr val="E5482D"/>
          </a:solidFill>
          <a:ln/>
        </p:spPr>
        <p:txBody>
          <a:bodyPr wrap="square" lIns="0" tIns="0" rIns="0" bIns="0" rtlCol="0" anchor="ctr"/>
          <a:lstStyle/>
          <a:p>
            <a:pPr marL="0" indent="0" algn="ctr">
              <a:buNone/>
            </a:pPr>
            <a:r>
              <a:rPr lang="en-US" sz="750" b="1" dirty="0">
                <a:solidFill>
                  <a:srgbClr val="FFFFFF"/>
                </a:solidFill>
                <a:latin typeface="Inter" pitchFamily="34" charset="0"/>
                <a:ea typeface="Inter" pitchFamily="34" charset="-122"/>
                <a:cs typeface="Inter" pitchFamily="34" charset="-120"/>
              </a:rPr>
              <a:t>SP</a:t>
            </a:r>
            <a:endParaRPr lang="en-US" sz="750" dirty="0"/>
          </a:p>
        </p:txBody>
      </p:sp>
      <p:sp>
        <p:nvSpPr>
          <p:cNvPr id="25" name="Text 23"/>
          <p:cNvSpPr txBox="1"/>
          <p:nvPr/>
        </p:nvSpPr>
        <p:spPr>
          <a:xfrm>
            <a:off x="8430768" y="2103120"/>
            <a:ext cx="1463040" cy="237744"/>
          </a:xfrm>
          <a:prstGeom prst="rect">
            <a:avLst/>
          </a:prstGeom>
          <a:noFill/>
          <a:ln/>
        </p:spPr>
        <p:txBody>
          <a:bodyPr wrap="square" lIns="0" tIns="0" rIns="0" bIns="0" rtlCol="0" anchor="ctr"/>
          <a:lstStyle/>
          <a:p>
            <a:pPr marL="0" indent="0">
              <a:buNone/>
            </a:pPr>
            <a:r>
              <a:rPr lang="en-US" sz="1200" b="1" dirty="0">
                <a:solidFill>
                  <a:srgbClr val="FFFFFF"/>
                </a:solidFill>
                <a:latin typeface="Inter" pitchFamily="34" charset="0"/>
                <a:ea typeface="Inter" pitchFamily="34" charset="-122"/>
                <a:cs typeface="Inter" pitchFamily="34" charset="-120"/>
              </a:rPr>
              <a:t>Shivam</a:t>
            </a:r>
            <a:endParaRPr lang="en-US" sz="1200" dirty="0"/>
          </a:p>
        </p:txBody>
      </p:sp>
      <p:sp>
        <p:nvSpPr>
          <p:cNvPr id="26" name="Text 24"/>
          <p:cNvSpPr txBox="1"/>
          <p:nvPr/>
        </p:nvSpPr>
        <p:spPr>
          <a:xfrm>
            <a:off x="9646920" y="2103120"/>
            <a:ext cx="1828800" cy="237744"/>
          </a:xfrm>
          <a:prstGeom prst="rect">
            <a:avLst/>
          </a:prstGeom>
          <a:noFill/>
          <a:ln/>
        </p:spPr>
        <p:txBody>
          <a:bodyPr wrap="square" lIns="0" tIns="0" rIns="0" bIns="0" rtlCol="0" anchor="ctr"/>
          <a:lstStyle/>
          <a:p>
            <a:pPr marL="0" indent="0" algn="r">
              <a:buNone/>
            </a:pPr>
            <a:r>
              <a:rPr lang="en-US" sz="1000" dirty="0">
                <a:solidFill>
                  <a:srgbClr val="B9C9C5"/>
                </a:solidFill>
                <a:latin typeface="Inter" pitchFamily="34" charset="0"/>
                <a:ea typeface="Inter" pitchFamily="34" charset="-122"/>
                <a:cs typeface="Inter" pitchFamily="34" charset="-120"/>
              </a:rPr>
              <a:t>Team Lead · Full-stack</a:t>
            </a:r>
            <a:endParaRPr lang="en-US" sz="1000" dirty="0"/>
          </a:p>
        </p:txBody>
      </p:sp>
      <p:sp>
        <p:nvSpPr>
          <p:cNvPr id="27" name="Text 25"/>
          <p:cNvSpPr txBox="1"/>
          <p:nvPr/>
        </p:nvSpPr>
        <p:spPr>
          <a:xfrm>
            <a:off x="8092440" y="2386584"/>
            <a:ext cx="237744" cy="237744"/>
          </a:xfrm>
          <a:prstGeom prst="roundRect">
            <a:avLst>
              <a:gd name="adj" fmla="val 50000"/>
            </a:avLst>
          </a:prstGeom>
          <a:solidFill>
            <a:srgbClr val="2E6B62"/>
          </a:solidFill>
          <a:ln/>
        </p:spPr>
        <p:txBody>
          <a:bodyPr wrap="square" lIns="0" tIns="0" rIns="0" bIns="0" rtlCol="0" anchor="ctr"/>
          <a:lstStyle/>
          <a:p>
            <a:pPr marL="0" indent="0" algn="ctr">
              <a:buNone/>
            </a:pPr>
            <a:r>
              <a:rPr lang="en-US" sz="750" b="1" dirty="0">
                <a:solidFill>
                  <a:srgbClr val="FFFFFF"/>
                </a:solidFill>
                <a:latin typeface="Inter" pitchFamily="34" charset="0"/>
                <a:ea typeface="Inter" pitchFamily="34" charset="-122"/>
                <a:cs typeface="Inter" pitchFamily="34" charset="-120"/>
              </a:rPr>
              <a:t>MS</a:t>
            </a:r>
            <a:endParaRPr lang="en-US" sz="750" dirty="0"/>
          </a:p>
        </p:txBody>
      </p:sp>
      <p:sp>
        <p:nvSpPr>
          <p:cNvPr id="28" name="Text 26"/>
          <p:cNvSpPr txBox="1"/>
          <p:nvPr/>
        </p:nvSpPr>
        <p:spPr>
          <a:xfrm>
            <a:off x="8430768" y="2386584"/>
            <a:ext cx="1463040" cy="237744"/>
          </a:xfrm>
          <a:prstGeom prst="rect">
            <a:avLst/>
          </a:prstGeom>
          <a:noFill/>
          <a:ln/>
        </p:spPr>
        <p:txBody>
          <a:bodyPr wrap="square" lIns="0" tIns="0" rIns="0" bIns="0" rtlCol="0" anchor="ctr"/>
          <a:lstStyle/>
          <a:p>
            <a:pPr marL="0" indent="0">
              <a:buNone/>
            </a:pPr>
            <a:r>
              <a:rPr lang="en-US" sz="1200" b="1" dirty="0">
                <a:solidFill>
                  <a:srgbClr val="FFFFFF"/>
                </a:solidFill>
                <a:latin typeface="Inter" pitchFamily="34" charset="0"/>
                <a:ea typeface="Inter" pitchFamily="34" charset="-122"/>
                <a:cs typeface="Inter" pitchFamily="34" charset="-120"/>
              </a:rPr>
              <a:t>Ritwik </a:t>
            </a:r>
            <a:endParaRPr lang="en-US" sz="1200" dirty="0"/>
          </a:p>
        </p:txBody>
      </p:sp>
      <p:sp>
        <p:nvSpPr>
          <p:cNvPr id="29" name="Text 27"/>
          <p:cNvSpPr txBox="1"/>
          <p:nvPr/>
        </p:nvSpPr>
        <p:spPr>
          <a:xfrm>
            <a:off x="9646920" y="2386584"/>
            <a:ext cx="1828800" cy="237744"/>
          </a:xfrm>
          <a:prstGeom prst="rect">
            <a:avLst/>
          </a:prstGeom>
          <a:noFill/>
          <a:ln/>
        </p:spPr>
        <p:txBody>
          <a:bodyPr wrap="square" lIns="0" tIns="0" rIns="0" bIns="0" rtlCol="0" anchor="ctr"/>
          <a:lstStyle/>
          <a:p>
            <a:pPr marL="0" indent="0" algn="r">
              <a:buNone/>
            </a:pPr>
            <a:r>
              <a:rPr lang="en-US" sz="1000" dirty="0">
                <a:solidFill>
                  <a:srgbClr val="B9C9C5"/>
                </a:solidFill>
                <a:latin typeface="Inter" pitchFamily="34" charset="0"/>
                <a:ea typeface="Inter" pitchFamily="34" charset="-122"/>
                <a:cs typeface="Inter" pitchFamily="34" charset="-120"/>
              </a:rPr>
              <a:t>Frontend · UI/UX</a:t>
            </a:r>
            <a:endParaRPr lang="en-US" sz="1000" dirty="0"/>
          </a:p>
        </p:txBody>
      </p:sp>
      <p:sp>
        <p:nvSpPr>
          <p:cNvPr id="30" name="Text 28"/>
          <p:cNvSpPr txBox="1"/>
          <p:nvPr/>
        </p:nvSpPr>
        <p:spPr>
          <a:xfrm>
            <a:off x="8092440" y="2670048"/>
            <a:ext cx="237744" cy="237744"/>
          </a:xfrm>
          <a:prstGeom prst="roundRect">
            <a:avLst>
              <a:gd name="adj" fmla="val 50000"/>
            </a:avLst>
          </a:prstGeom>
          <a:solidFill>
            <a:srgbClr val="2E6B62"/>
          </a:solidFill>
          <a:ln/>
        </p:spPr>
        <p:txBody>
          <a:bodyPr wrap="square" lIns="0" tIns="0" rIns="0" bIns="0" rtlCol="0" anchor="ctr"/>
          <a:lstStyle/>
          <a:p>
            <a:pPr marL="0" indent="0" algn="ctr">
              <a:buNone/>
            </a:pPr>
            <a:r>
              <a:rPr lang="en-US" sz="750" b="1" dirty="0">
                <a:solidFill>
                  <a:srgbClr val="FFFFFF"/>
                </a:solidFill>
                <a:latin typeface="Inter" pitchFamily="34" charset="0"/>
                <a:ea typeface="Inter" pitchFamily="34" charset="-122"/>
                <a:cs typeface="Inter" pitchFamily="34" charset="-120"/>
              </a:rPr>
              <a:t>AD</a:t>
            </a:r>
            <a:endParaRPr lang="en-US" sz="750" dirty="0"/>
          </a:p>
        </p:txBody>
      </p:sp>
      <p:sp>
        <p:nvSpPr>
          <p:cNvPr id="31" name="Text 29"/>
          <p:cNvSpPr txBox="1"/>
          <p:nvPr/>
        </p:nvSpPr>
        <p:spPr>
          <a:xfrm>
            <a:off x="8430768" y="2670048"/>
            <a:ext cx="1463040" cy="237744"/>
          </a:xfrm>
          <a:prstGeom prst="rect">
            <a:avLst/>
          </a:prstGeom>
          <a:noFill/>
          <a:ln/>
        </p:spPr>
        <p:txBody>
          <a:bodyPr wrap="square" lIns="0" tIns="0" rIns="0" bIns="0" rtlCol="0" anchor="ctr"/>
          <a:lstStyle/>
          <a:p>
            <a:pPr marL="0" indent="0">
              <a:buNone/>
            </a:pPr>
            <a:r>
              <a:rPr lang="en-US" sz="1200" b="1" dirty="0">
                <a:solidFill>
                  <a:srgbClr val="FFFFFF"/>
                </a:solidFill>
                <a:latin typeface="Inter" pitchFamily="34" charset="0"/>
                <a:ea typeface="Inter" pitchFamily="34" charset="-122"/>
              </a:rPr>
              <a:t>Muskan</a:t>
            </a:r>
            <a:endParaRPr lang="en-US" sz="1200" dirty="0"/>
          </a:p>
        </p:txBody>
      </p:sp>
      <p:sp>
        <p:nvSpPr>
          <p:cNvPr id="32" name="Text 30"/>
          <p:cNvSpPr txBox="1"/>
          <p:nvPr/>
        </p:nvSpPr>
        <p:spPr>
          <a:xfrm>
            <a:off x="9646920" y="2670048"/>
            <a:ext cx="1828800" cy="237744"/>
          </a:xfrm>
          <a:prstGeom prst="rect">
            <a:avLst/>
          </a:prstGeom>
          <a:noFill/>
          <a:ln/>
        </p:spPr>
        <p:txBody>
          <a:bodyPr wrap="square" lIns="0" tIns="0" rIns="0" bIns="0" rtlCol="0" anchor="ctr"/>
          <a:lstStyle/>
          <a:p>
            <a:pPr marL="0" indent="0" algn="r">
              <a:buNone/>
            </a:pPr>
            <a:r>
              <a:rPr lang="en-US" sz="1000" dirty="0">
                <a:solidFill>
                  <a:srgbClr val="B9C9C5"/>
                </a:solidFill>
                <a:latin typeface="Inter" pitchFamily="34" charset="0"/>
                <a:ea typeface="Inter" pitchFamily="34" charset="-122"/>
                <a:cs typeface="Inter" pitchFamily="34" charset="-120"/>
              </a:rPr>
              <a:t>Backend · Database</a:t>
            </a:r>
            <a:endParaRPr lang="en-US" sz="1000" dirty="0"/>
          </a:p>
        </p:txBody>
      </p:sp>
      <p:sp>
        <p:nvSpPr>
          <p:cNvPr id="33" name="Text 31"/>
          <p:cNvSpPr txBox="1"/>
          <p:nvPr/>
        </p:nvSpPr>
        <p:spPr>
          <a:xfrm>
            <a:off x="8092440" y="2953512"/>
            <a:ext cx="237744" cy="237744"/>
          </a:xfrm>
          <a:prstGeom prst="roundRect">
            <a:avLst>
              <a:gd name="adj" fmla="val 50000"/>
            </a:avLst>
          </a:prstGeom>
          <a:solidFill>
            <a:srgbClr val="2E6B62"/>
          </a:solidFill>
          <a:ln/>
        </p:spPr>
        <p:txBody>
          <a:bodyPr wrap="square" lIns="0" tIns="0" rIns="0" bIns="0" rtlCol="0" anchor="ctr"/>
          <a:lstStyle/>
          <a:p>
            <a:pPr marL="0" indent="0" algn="ctr">
              <a:buNone/>
            </a:pPr>
            <a:r>
              <a:rPr lang="en-US" sz="750" b="1" dirty="0">
                <a:solidFill>
                  <a:srgbClr val="FFFFFF"/>
                </a:solidFill>
                <a:latin typeface="Inter" pitchFamily="34" charset="0"/>
                <a:ea typeface="Inter" pitchFamily="34" charset="-122"/>
                <a:cs typeface="Inter" pitchFamily="34" charset="-120"/>
              </a:rPr>
              <a:t>RS</a:t>
            </a:r>
            <a:endParaRPr lang="en-US" sz="750" dirty="0"/>
          </a:p>
        </p:txBody>
      </p:sp>
      <p:sp>
        <p:nvSpPr>
          <p:cNvPr id="34" name="Text 32"/>
          <p:cNvSpPr txBox="1"/>
          <p:nvPr/>
        </p:nvSpPr>
        <p:spPr>
          <a:xfrm>
            <a:off x="8430768" y="2953512"/>
            <a:ext cx="1463040" cy="237744"/>
          </a:xfrm>
          <a:prstGeom prst="rect">
            <a:avLst/>
          </a:prstGeom>
          <a:noFill/>
          <a:ln/>
        </p:spPr>
        <p:txBody>
          <a:bodyPr wrap="square" lIns="0" tIns="0" rIns="0" bIns="0" rtlCol="0" anchor="ctr"/>
          <a:lstStyle/>
          <a:p>
            <a:pPr marL="0" indent="0">
              <a:buNone/>
            </a:pPr>
            <a:r>
              <a:rPr lang="en-US" sz="1200" b="1" dirty="0" err="1">
                <a:solidFill>
                  <a:srgbClr val="FFFFFF"/>
                </a:solidFill>
                <a:latin typeface="Inter" pitchFamily="34" charset="0"/>
                <a:ea typeface="Inter" pitchFamily="34" charset="-122"/>
              </a:rPr>
              <a:t>Sumeksha</a:t>
            </a:r>
            <a:r>
              <a:rPr lang="en-US" sz="1200" b="1" dirty="0">
                <a:solidFill>
                  <a:srgbClr val="FFFFFF"/>
                </a:solidFill>
                <a:latin typeface="Inter" pitchFamily="34" charset="0"/>
                <a:ea typeface="Inter" pitchFamily="34" charset="-122"/>
              </a:rPr>
              <a:t> </a:t>
            </a:r>
            <a:endParaRPr lang="en-US" sz="1200" dirty="0"/>
          </a:p>
        </p:txBody>
      </p:sp>
      <p:sp>
        <p:nvSpPr>
          <p:cNvPr id="35" name="Text 33"/>
          <p:cNvSpPr txBox="1"/>
          <p:nvPr/>
        </p:nvSpPr>
        <p:spPr>
          <a:xfrm>
            <a:off x="9646920" y="2953512"/>
            <a:ext cx="1828800" cy="237744"/>
          </a:xfrm>
          <a:prstGeom prst="rect">
            <a:avLst/>
          </a:prstGeom>
          <a:noFill/>
          <a:ln/>
        </p:spPr>
        <p:txBody>
          <a:bodyPr wrap="square" lIns="0" tIns="0" rIns="0" bIns="0" rtlCol="0" anchor="ctr"/>
          <a:lstStyle/>
          <a:p>
            <a:pPr marL="0" indent="0" algn="r">
              <a:buNone/>
            </a:pPr>
            <a:r>
              <a:rPr lang="en-US" sz="1000" dirty="0">
                <a:solidFill>
                  <a:srgbClr val="B9C9C5"/>
                </a:solidFill>
                <a:latin typeface="Inter" pitchFamily="34" charset="0"/>
                <a:ea typeface="Inter" pitchFamily="34" charset="-122"/>
                <a:cs typeface="Inter" pitchFamily="34" charset="-120"/>
              </a:rPr>
              <a:t>AI/ML · Pitch</a:t>
            </a:r>
            <a:endParaRPr lang="en-US" sz="1000" dirty="0"/>
          </a:p>
        </p:txBody>
      </p:sp>
      <p:sp>
        <p:nvSpPr>
          <p:cNvPr id="36" name="Shape 34"/>
          <p:cNvSpPr/>
          <p:nvPr/>
        </p:nvSpPr>
        <p:spPr>
          <a:xfrm>
            <a:off x="7818120" y="3520440"/>
            <a:ext cx="3913632" cy="2450592"/>
          </a:xfrm>
          <a:prstGeom prst="roundRect">
            <a:avLst>
              <a:gd name="adj" fmla="val 5224"/>
            </a:avLst>
          </a:prstGeom>
          <a:solidFill>
            <a:srgbClr val="FFFFFF"/>
          </a:solidFill>
          <a:ln/>
        </p:spPr>
        <p:txBody>
          <a:bodyPr/>
          <a:lstStyle/>
          <a:p>
            <a:endParaRPr lang="en-IN"/>
          </a:p>
        </p:txBody>
      </p:sp>
      <p:sp>
        <p:nvSpPr>
          <p:cNvPr id="37" name="Text 35"/>
          <p:cNvSpPr txBox="1"/>
          <p:nvPr/>
        </p:nvSpPr>
        <p:spPr>
          <a:xfrm>
            <a:off x="8046720" y="3703320"/>
            <a:ext cx="2560320" cy="182880"/>
          </a:xfrm>
          <a:prstGeom prst="rect">
            <a:avLst/>
          </a:prstGeom>
          <a:noFill/>
          <a:ln/>
        </p:spPr>
        <p:txBody>
          <a:bodyPr wrap="square" lIns="0" tIns="0" rIns="0" bIns="0" rtlCol="0" anchor="ctr"/>
          <a:lstStyle/>
          <a:p>
            <a:pPr marL="0" indent="0">
              <a:buNone/>
            </a:pPr>
            <a:r>
              <a:rPr lang="en-US" sz="850" b="1" kern="0" spc="150" dirty="0">
                <a:solidFill>
                  <a:srgbClr val="3446C9"/>
                </a:solidFill>
                <a:latin typeface="Inter" pitchFamily="34" charset="0"/>
                <a:ea typeface="Inter" pitchFamily="34" charset="-122"/>
                <a:cs typeface="Inter" pitchFamily="34" charset="-120"/>
              </a:rPr>
              <a:t>INTERNSHIP  ·  STARTUP  ·  REMOTE</a:t>
            </a:r>
            <a:endParaRPr lang="en-US" sz="850" dirty="0"/>
          </a:p>
        </p:txBody>
      </p:sp>
      <p:sp>
        <p:nvSpPr>
          <p:cNvPr id="38" name="Text 36"/>
          <p:cNvSpPr txBox="1"/>
          <p:nvPr/>
        </p:nvSpPr>
        <p:spPr>
          <a:xfrm>
            <a:off x="8046720" y="3913632"/>
            <a:ext cx="2468880" cy="365760"/>
          </a:xfrm>
          <a:prstGeom prst="rect">
            <a:avLst/>
          </a:prstGeom>
          <a:noFill/>
          <a:ln/>
        </p:spPr>
        <p:txBody>
          <a:bodyPr wrap="square" lIns="0" tIns="0" rIns="0" bIns="0" rtlCol="0" anchor="ctr"/>
          <a:lstStyle/>
          <a:p>
            <a:pPr marL="0" indent="0">
              <a:buNone/>
            </a:pPr>
            <a:r>
              <a:rPr lang="en-US" sz="1800" dirty="0">
                <a:solidFill>
                  <a:srgbClr val="14161C"/>
                </a:solidFill>
                <a:latin typeface="Inter" pitchFamily="34" charset="0"/>
                <a:ea typeface="Inter" pitchFamily="34" charset="-122"/>
                <a:cs typeface="Inter" pitchFamily="34" charset="-120"/>
              </a:rPr>
              <a:t>Frontend Intern</a:t>
            </a:r>
            <a:endParaRPr lang="en-US" sz="1800" dirty="0"/>
          </a:p>
        </p:txBody>
      </p:sp>
      <p:sp>
        <p:nvSpPr>
          <p:cNvPr id="39" name="Text 37"/>
          <p:cNvSpPr txBox="1"/>
          <p:nvPr/>
        </p:nvSpPr>
        <p:spPr>
          <a:xfrm>
            <a:off x="8046720" y="4279392"/>
            <a:ext cx="2468880" cy="219456"/>
          </a:xfrm>
          <a:prstGeom prst="rect">
            <a:avLst/>
          </a:prstGeom>
          <a:noFill/>
          <a:ln/>
        </p:spPr>
        <p:txBody>
          <a:bodyPr wrap="square" lIns="0" tIns="0" rIns="0" bIns="0" rtlCol="0" anchor="ctr"/>
          <a:lstStyle/>
          <a:p>
            <a:pPr marL="0" indent="0">
              <a:buNone/>
            </a:pPr>
            <a:r>
              <a:rPr lang="en-US" sz="1000" dirty="0">
                <a:solidFill>
                  <a:srgbClr val="545B69"/>
                </a:solidFill>
                <a:latin typeface="Inter" pitchFamily="34" charset="0"/>
                <a:ea typeface="Inter" pitchFamily="34" charset="-122"/>
                <a:cs typeface="Inter" pitchFamily="34" charset="-120"/>
              </a:rPr>
              <a:t>Pixel Labs  ·  ₹15,000 / month</a:t>
            </a:r>
            <a:endParaRPr lang="en-US" sz="1000" dirty="0"/>
          </a:p>
        </p:txBody>
      </p:sp>
      <p:sp>
        <p:nvSpPr>
          <p:cNvPr id="40" name="Shape 38"/>
          <p:cNvSpPr/>
          <p:nvPr/>
        </p:nvSpPr>
        <p:spPr>
          <a:xfrm>
            <a:off x="10625328" y="3675888"/>
            <a:ext cx="896112" cy="896112"/>
          </a:xfrm>
          <a:prstGeom prst="ellipse">
            <a:avLst/>
          </a:prstGeom>
          <a:solidFill>
            <a:srgbClr val="FFFFFF"/>
          </a:solidFill>
          <a:ln w="31750">
            <a:solidFill>
              <a:srgbClr val="E5482D"/>
            </a:solidFill>
            <a:prstDash val="solid"/>
          </a:ln>
        </p:spPr>
        <p:txBody>
          <a:bodyPr/>
          <a:lstStyle/>
          <a:p>
            <a:endParaRPr lang="en-IN"/>
          </a:p>
        </p:txBody>
      </p:sp>
      <p:sp>
        <p:nvSpPr>
          <p:cNvPr id="41" name="Text 39"/>
          <p:cNvSpPr txBox="1"/>
          <p:nvPr/>
        </p:nvSpPr>
        <p:spPr>
          <a:xfrm>
            <a:off x="10625328" y="3840480"/>
            <a:ext cx="896112" cy="384048"/>
          </a:xfrm>
          <a:prstGeom prst="rect">
            <a:avLst/>
          </a:prstGeom>
          <a:noFill/>
          <a:ln/>
        </p:spPr>
        <p:txBody>
          <a:bodyPr wrap="square" lIns="0" tIns="0" rIns="0" bIns="0" rtlCol="0" anchor="ctr"/>
          <a:lstStyle/>
          <a:p>
            <a:pPr marL="0" indent="0" algn="ctr">
              <a:buNone/>
            </a:pPr>
            <a:r>
              <a:rPr lang="en-US" sz="2400" dirty="0">
                <a:solidFill>
                  <a:srgbClr val="14161C"/>
                </a:solidFill>
                <a:latin typeface="Inter" pitchFamily="34" charset="0"/>
                <a:ea typeface="Inter" pitchFamily="34" charset="-122"/>
                <a:cs typeface="Inter" pitchFamily="34" charset="-120"/>
              </a:rPr>
              <a:t>88</a:t>
            </a:r>
            <a:endParaRPr lang="en-US" sz="2400" dirty="0"/>
          </a:p>
        </p:txBody>
      </p:sp>
      <p:sp>
        <p:nvSpPr>
          <p:cNvPr id="42" name="Text 40"/>
          <p:cNvSpPr txBox="1"/>
          <p:nvPr/>
        </p:nvSpPr>
        <p:spPr>
          <a:xfrm>
            <a:off x="10625328" y="4206240"/>
            <a:ext cx="896112" cy="164592"/>
          </a:xfrm>
          <a:prstGeom prst="rect">
            <a:avLst/>
          </a:prstGeom>
          <a:noFill/>
          <a:ln/>
        </p:spPr>
        <p:txBody>
          <a:bodyPr wrap="square" lIns="0" tIns="0" rIns="0" bIns="0" rtlCol="0" anchor="ctr"/>
          <a:lstStyle/>
          <a:p>
            <a:pPr marL="0" indent="0" algn="ctr">
              <a:buNone/>
            </a:pPr>
            <a:r>
              <a:rPr lang="en-US" sz="650" b="1" kern="0" spc="100" dirty="0">
                <a:solidFill>
                  <a:srgbClr val="545B69"/>
                </a:solidFill>
                <a:latin typeface="Inter" pitchFamily="34" charset="0"/>
                <a:ea typeface="Inter" pitchFamily="34" charset="-122"/>
                <a:cs typeface="Inter" pitchFamily="34" charset="-120"/>
              </a:rPr>
              <a:t>HIRE-PROOF</a:t>
            </a:r>
            <a:endParaRPr lang="en-US" sz="650" dirty="0"/>
          </a:p>
        </p:txBody>
      </p:sp>
      <p:sp>
        <p:nvSpPr>
          <p:cNvPr id="43" name="Text 41"/>
          <p:cNvSpPr txBox="1"/>
          <p:nvPr/>
        </p:nvSpPr>
        <p:spPr>
          <a:xfrm>
            <a:off x="8046720" y="4681728"/>
            <a:ext cx="1371600" cy="274320"/>
          </a:xfrm>
          <a:prstGeom prst="roundRect">
            <a:avLst>
              <a:gd name="adj" fmla="val 50000"/>
            </a:avLst>
          </a:prstGeom>
          <a:solidFill>
            <a:srgbClr val="3446C9"/>
          </a:solidFill>
          <a:ln/>
        </p:spPr>
        <p:txBody>
          <a:bodyPr wrap="square" lIns="0" tIns="0" rIns="0" bIns="0" rtlCol="0" anchor="ctr"/>
          <a:lstStyle/>
          <a:p>
            <a:pPr marL="0" indent="0" algn="ctr">
              <a:buNone/>
            </a:pPr>
            <a:r>
              <a:rPr lang="en-US" sz="850" b="1" dirty="0">
                <a:solidFill>
                  <a:srgbClr val="FFFFFF"/>
                </a:solidFill>
                <a:latin typeface="Inter" pitchFamily="34" charset="0"/>
                <a:ea typeface="Inter" pitchFamily="34" charset="-122"/>
                <a:cs typeface="Inter" pitchFamily="34" charset="-120"/>
              </a:rPr>
              <a:t>92% match for you</a:t>
            </a:r>
            <a:endParaRPr lang="en-US" sz="850" dirty="0"/>
          </a:p>
        </p:txBody>
      </p:sp>
      <p:sp>
        <p:nvSpPr>
          <p:cNvPr id="44" name="Text 42"/>
          <p:cNvSpPr txBox="1"/>
          <p:nvPr/>
        </p:nvSpPr>
        <p:spPr>
          <a:xfrm>
            <a:off x="9509760" y="4681728"/>
            <a:ext cx="1645920" cy="274320"/>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dirty="0">
                <a:solidFill>
                  <a:srgbClr val="FFFFFF"/>
                </a:solidFill>
                <a:latin typeface="Inter" pitchFamily="34" charset="0"/>
                <a:ea typeface="Inter" pitchFamily="34" charset="-122"/>
                <a:cs typeface="Inter" pitchFamily="34" charset="-120"/>
              </a:rPr>
              <a:t>6 of 6 hires confirmed</a:t>
            </a:r>
            <a:endParaRPr lang="en-US" sz="850" dirty="0"/>
          </a:p>
        </p:txBody>
      </p:sp>
      <p:sp>
        <p:nvSpPr>
          <p:cNvPr id="45" name="Text 43"/>
          <p:cNvSpPr txBox="1"/>
          <p:nvPr/>
        </p:nvSpPr>
        <p:spPr>
          <a:xfrm>
            <a:off x="8046720" y="5029200"/>
            <a:ext cx="1463040" cy="274320"/>
          </a:xfrm>
          <a:prstGeom prst="roundRect">
            <a:avLst>
              <a:gd name="adj" fmla="val 50000"/>
            </a:avLst>
          </a:prstGeom>
          <a:solidFill>
            <a:srgbClr val="EEF1F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Stipend paid on time</a:t>
            </a:r>
            <a:endParaRPr lang="en-US" sz="850" dirty="0"/>
          </a:p>
        </p:txBody>
      </p:sp>
      <p:sp>
        <p:nvSpPr>
          <p:cNvPr id="46" name="Text 44"/>
          <p:cNvSpPr txBox="1"/>
          <p:nvPr/>
        </p:nvSpPr>
        <p:spPr>
          <a:xfrm>
            <a:off x="9601200" y="5029200"/>
            <a:ext cx="1005840" cy="274320"/>
          </a:xfrm>
          <a:prstGeom prst="roundRect">
            <a:avLst>
              <a:gd name="adj" fmla="val 50000"/>
            </a:avLst>
          </a:prstGeom>
          <a:solidFill>
            <a:srgbClr val="EEF1F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No fee asked</a:t>
            </a:r>
            <a:endParaRPr lang="en-US" sz="850" dirty="0"/>
          </a:p>
        </p:txBody>
      </p:sp>
      <p:sp>
        <p:nvSpPr>
          <p:cNvPr id="47" name="Text 45"/>
          <p:cNvSpPr txBox="1"/>
          <p:nvPr/>
        </p:nvSpPr>
        <p:spPr>
          <a:xfrm>
            <a:off x="8046720" y="5413248"/>
            <a:ext cx="3520440" cy="438912"/>
          </a:xfrm>
          <a:prstGeom prst="rect">
            <a:avLst/>
          </a:prstGeom>
          <a:noFill/>
          <a:ln/>
        </p:spPr>
        <p:txBody>
          <a:bodyPr wrap="square" lIns="0" tIns="0" rIns="0" bIns="0" rtlCol="0" anchor="t"/>
          <a:lstStyle/>
          <a:p>
            <a:pPr marL="0" indent="0">
              <a:lnSpc>
                <a:spcPct val="105000"/>
              </a:lnSpc>
              <a:buNone/>
            </a:pPr>
            <a:r>
              <a:rPr lang="en-US" sz="950" b="1" dirty="0">
                <a:solidFill>
                  <a:srgbClr val="3446C9"/>
                </a:solidFill>
                <a:latin typeface="Inter" pitchFamily="34" charset="0"/>
                <a:ea typeface="Inter" pitchFamily="34" charset="-122"/>
                <a:cs typeface="Inter" pitchFamily="34" charset="-120"/>
              </a:rPr>
              <a:t>AI  </a:t>
            </a:r>
            <a:r>
              <a:rPr lang="en-US" sz="950" dirty="0">
                <a:solidFill>
                  <a:srgbClr val="14161C"/>
                </a:solidFill>
                <a:latin typeface="Inter" pitchFamily="34" charset="0"/>
                <a:ea typeface="Inter" pitchFamily="34" charset="-122"/>
                <a:cs typeface="Inter" pitchFamily="34" charset="-120"/>
              </a:rPr>
              <a:t>Skill gap: TypeScript → free 2-week path, then a proof task from Pixel Labs.</a:t>
            </a:r>
            <a:endParaRPr lang="en-US" sz="950" dirty="0"/>
          </a:p>
        </p:txBody>
      </p:sp>
      <p:sp>
        <p:nvSpPr>
          <p:cNvPr id="48" name="Text 46"/>
          <p:cNvSpPr txBox="1"/>
          <p:nvPr/>
        </p:nvSpPr>
        <p:spPr>
          <a:xfrm>
            <a:off x="7818120" y="6035040"/>
            <a:ext cx="3913632" cy="201168"/>
          </a:xfrm>
          <a:prstGeom prst="rect">
            <a:avLst/>
          </a:prstGeom>
          <a:noFill/>
          <a:ln/>
        </p:spPr>
        <p:txBody>
          <a:bodyPr wrap="square" lIns="0" tIns="0" rIns="0" bIns="0" rtlCol="0" anchor="ctr"/>
          <a:lstStyle/>
          <a:p>
            <a:pPr marL="0" indent="0" algn="r">
              <a:buNone/>
            </a:pPr>
            <a:r>
              <a:rPr lang="en-US" sz="900" i="1" dirty="0">
                <a:solidFill>
                  <a:srgbClr val="A2A5AC"/>
                </a:solidFill>
                <a:latin typeface="Inter" pitchFamily="34" charset="0"/>
                <a:ea typeface="Inter" pitchFamily="34" charset="-122"/>
                <a:cs typeface="Inter" pitchFamily="34" charset="-120"/>
              </a:rPr>
              <a:t>Illustrative preview with sample data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2 / 7  ·  PROBLEM</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Problem</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Talent, ideas and opportunities already exist, but they sit on separate apps and nothing proves which offers are real.</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2</a:t>
            </a:r>
            <a:endParaRPr lang="en-US" sz="1400" dirty="0"/>
          </a:p>
        </p:txBody>
      </p:sp>
      <p:sp>
        <p:nvSpPr>
          <p:cNvPr id="12" name="Shape 9"/>
          <p:cNvSpPr/>
          <p:nvPr/>
        </p:nvSpPr>
        <p:spPr>
          <a:xfrm>
            <a:off x="457200" y="1755648"/>
            <a:ext cx="3611880" cy="3090672"/>
          </a:xfrm>
          <a:prstGeom prst="roundRect">
            <a:avLst>
              <a:gd name="adj" fmla="val 3550"/>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13" name="Text 10"/>
          <p:cNvSpPr txBox="1"/>
          <p:nvPr/>
        </p:nvSpPr>
        <p:spPr>
          <a:xfrm>
            <a:off x="676656" y="1920240"/>
            <a:ext cx="3200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PROBLEM STATEMENT  ·  PS 2</a:t>
            </a:r>
            <a:endParaRPr lang="en-US" sz="900" dirty="0"/>
          </a:p>
        </p:txBody>
      </p:sp>
      <p:sp>
        <p:nvSpPr>
          <p:cNvPr id="14" name="Text 11"/>
          <p:cNvSpPr txBox="1"/>
          <p:nvPr/>
        </p:nvSpPr>
        <p:spPr>
          <a:xfrm>
            <a:off x="676656" y="2157984"/>
            <a:ext cx="3200400" cy="1024128"/>
          </a:xfrm>
          <a:prstGeom prst="rect">
            <a:avLst/>
          </a:prstGeom>
          <a:noFill/>
          <a:ln/>
        </p:spPr>
        <p:txBody>
          <a:bodyPr wrap="square" lIns="0" tIns="0" rIns="0" bIns="0" rtlCol="0" anchor="t"/>
          <a:lstStyle/>
          <a:p>
            <a:pPr marL="0" indent="0">
              <a:lnSpc>
                <a:spcPct val="105000"/>
              </a:lnSpc>
              <a:buNone/>
            </a:pPr>
            <a:r>
              <a:rPr lang="en-US" sz="1250" i="1" dirty="0">
                <a:solidFill>
                  <a:srgbClr val="14161C"/>
                </a:solidFill>
                <a:latin typeface="Inter" pitchFamily="34" charset="0"/>
                <a:ea typeface="Inter" pitchFamily="34" charset="-122"/>
                <a:cs typeface="Inter" pitchFamily="34" charset="-120"/>
              </a:rPr>
              <a:t>“Create a platform that connects entrepreneurs, job seekers, startups, mentors and recruiters, helping them discover opportunities, build skills and turn ideas into ventures.”</a:t>
            </a:r>
            <a:endParaRPr lang="en-US" sz="1250" dirty="0"/>
          </a:p>
        </p:txBody>
      </p:sp>
      <p:sp>
        <p:nvSpPr>
          <p:cNvPr id="15" name="Text 12"/>
          <p:cNvSpPr txBox="1"/>
          <p:nvPr/>
        </p:nvSpPr>
        <p:spPr>
          <a:xfrm>
            <a:off x="676656" y="3310128"/>
            <a:ext cx="3200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ON A REAL CAMPUS</a:t>
            </a:r>
            <a:endParaRPr lang="en-US" sz="900" dirty="0"/>
          </a:p>
        </p:txBody>
      </p:sp>
      <p:sp>
        <p:nvSpPr>
          <p:cNvPr id="16" name="Text 13"/>
          <p:cNvSpPr txBox="1"/>
          <p:nvPr/>
        </p:nvSpPr>
        <p:spPr>
          <a:xfrm>
            <a:off x="676656" y="3547872"/>
            <a:ext cx="3200400" cy="118872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545B69"/>
                </a:solidFill>
                <a:latin typeface="Inter" pitchFamily="34" charset="0"/>
                <a:ea typeface="Inter" pitchFamily="34" charset="-122"/>
                <a:cs typeface="Inter" pitchFamily="34" charset="-120"/>
              </a:rPr>
              <a:t>Applications go out on many portals; most never get a reply.</a:t>
            </a:r>
            <a:endParaRPr lang="en-US" sz="1000" dirty="0"/>
          </a:p>
          <a:p>
            <a:pPr marL="127000" indent="-127000">
              <a:spcAft>
                <a:spcPts val="400"/>
              </a:spcAft>
              <a:buSzPct val="100000"/>
              <a:buChar char="•"/>
            </a:pPr>
            <a:r>
              <a:rPr lang="en-US" sz="1000" dirty="0">
                <a:solidFill>
                  <a:srgbClr val="545B69"/>
                </a:solidFill>
                <a:latin typeface="Inter" pitchFamily="34" charset="0"/>
                <a:ea typeface="Inter" pitchFamily="34" charset="-122"/>
                <a:cs typeface="Inter" pitchFamily="34" charset="-120"/>
              </a:rPr>
              <a:t>A “paid internship” asks for a training fee before day one.</a:t>
            </a:r>
            <a:endParaRPr lang="en-US" sz="1000" dirty="0"/>
          </a:p>
          <a:p>
            <a:pPr marL="127000" indent="-127000">
              <a:spcAft>
                <a:spcPts val="400"/>
              </a:spcAft>
              <a:buSzPct val="100000"/>
              <a:buChar char="•"/>
            </a:pPr>
            <a:r>
              <a:rPr lang="en-US" sz="1000" dirty="0">
                <a:solidFill>
                  <a:srgbClr val="545B69"/>
                </a:solidFill>
                <a:latin typeface="Inter" pitchFamily="34" charset="0"/>
                <a:ea typeface="Inter" pitchFamily="34" charset="-122"/>
                <a:cs typeface="Inter" pitchFamily="34" charset="-120"/>
              </a:rPr>
              <a:t>A student founder has an idea, but no co-founder, no mentor and no way to test demand.</a:t>
            </a:r>
            <a:endParaRPr lang="en-US" sz="1000" dirty="0"/>
          </a:p>
        </p:txBody>
      </p:sp>
      <p:sp>
        <p:nvSpPr>
          <p:cNvPr id="17" name="Text 14"/>
          <p:cNvSpPr txBox="1"/>
          <p:nvPr/>
        </p:nvSpPr>
        <p:spPr>
          <a:xfrm>
            <a:off x="4297680" y="1755648"/>
            <a:ext cx="329184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TARGET USERS</a:t>
            </a:r>
            <a:endParaRPr lang="en-US" sz="900" dirty="0"/>
          </a:p>
        </p:txBody>
      </p:sp>
      <p:sp>
        <p:nvSpPr>
          <p:cNvPr id="18" name="Shape 15"/>
          <p:cNvSpPr/>
          <p:nvPr/>
        </p:nvSpPr>
        <p:spPr>
          <a:xfrm>
            <a:off x="4297680" y="1993392"/>
            <a:ext cx="3429000" cy="1371600"/>
          </a:xfrm>
          <a:prstGeom prst="roundRect">
            <a:avLst>
              <a:gd name="adj" fmla="val 8000"/>
            </a:avLst>
          </a:prstGeom>
          <a:solidFill>
            <a:srgbClr val="14161C"/>
          </a:solidFill>
          <a:ln/>
        </p:spPr>
        <p:txBody>
          <a:bodyPr/>
          <a:lstStyle/>
          <a:p>
            <a:endParaRPr lang="en-IN"/>
          </a:p>
        </p:txBody>
      </p:sp>
      <p:pic>
        <p:nvPicPr>
          <p:cNvPr id="19" name="Image 0" descr="preencoded.png"/>
          <p:cNvPicPr>
            <a:picLocks noChangeAspect="1"/>
          </p:cNvPicPr>
          <p:nvPr/>
        </p:nvPicPr>
        <p:blipFill>
          <a:blip r:embed="rId3"/>
          <a:stretch>
            <a:fillRect/>
          </a:stretch>
        </p:blipFill>
        <p:spPr>
          <a:xfrm>
            <a:off x="4498848" y="2139696"/>
            <a:ext cx="237744" cy="237744"/>
          </a:xfrm>
          <a:prstGeom prst="rect">
            <a:avLst/>
          </a:prstGeom>
        </p:spPr>
      </p:pic>
      <p:sp>
        <p:nvSpPr>
          <p:cNvPr id="20" name="Text 16"/>
          <p:cNvSpPr txBox="1"/>
          <p:nvPr/>
        </p:nvSpPr>
        <p:spPr>
          <a:xfrm>
            <a:off x="4818888" y="2167128"/>
            <a:ext cx="22860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PRIMARY USERS</a:t>
            </a:r>
            <a:endParaRPr lang="en-US" sz="900" dirty="0"/>
          </a:p>
        </p:txBody>
      </p:sp>
      <p:sp>
        <p:nvSpPr>
          <p:cNvPr id="21" name="Text 17"/>
          <p:cNvSpPr txBox="1"/>
          <p:nvPr/>
        </p:nvSpPr>
        <p:spPr>
          <a:xfrm>
            <a:off x="4498848" y="2432304"/>
            <a:ext cx="3108960" cy="292608"/>
          </a:xfrm>
          <a:prstGeom prst="rect">
            <a:avLst/>
          </a:prstGeom>
          <a:noFill/>
          <a:ln/>
        </p:spPr>
        <p:txBody>
          <a:bodyPr wrap="square" lIns="0" tIns="0" rIns="0" bIns="0" rtlCol="0" anchor="ctr"/>
          <a:lstStyle/>
          <a:p>
            <a:pPr marL="0" indent="0">
              <a:buNone/>
            </a:pPr>
            <a:r>
              <a:rPr lang="en-US" sz="1500" dirty="0">
                <a:solidFill>
                  <a:srgbClr val="FFFFFF"/>
                </a:solidFill>
                <a:latin typeface="Inter" pitchFamily="34" charset="0"/>
                <a:ea typeface="Inter" pitchFamily="34" charset="-122"/>
                <a:cs typeface="Inter" pitchFamily="34" charset="-120"/>
              </a:rPr>
              <a:t>Students &amp; fresh graduates</a:t>
            </a:r>
            <a:endParaRPr lang="en-US" sz="1500" dirty="0"/>
          </a:p>
        </p:txBody>
      </p:sp>
      <p:sp>
        <p:nvSpPr>
          <p:cNvPr id="22" name="Text 18"/>
          <p:cNvSpPr txBox="1"/>
          <p:nvPr/>
        </p:nvSpPr>
        <p:spPr>
          <a:xfrm>
            <a:off x="4498848" y="2724912"/>
            <a:ext cx="3108960" cy="201168"/>
          </a:xfrm>
          <a:prstGeom prst="rect">
            <a:avLst/>
          </a:prstGeom>
          <a:noFill/>
          <a:ln/>
        </p:spPr>
        <p:txBody>
          <a:bodyPr wrap="square" lIns="0" tIns="0" rIns="0" bIns="0" rtlCol="0" anchor="ctr"/>
          <a:lstStyle/>
          <a:p>
            <a:pPr marL="0" indent="0">
              <a:buNone/>
            </a:pPr>
            <a:r>
              <a:rPr lang="en-US" sz="900" dirty="0">
                <a:solidFill>
                  <a:srgbClr val="A2A5AC"/>
                </a:solidFill>
                <a:latin typeface="Inter" pitchFamily="34" charset="0"/>
                <a:ea typeface="Inter" pitchFamily="34" charset="-122"/>
                <a:cs typeface="Inter" pitchFamily="34" charset="-120"/>
              </a:rPr>
              <a:t>Job seekers and student founders, every branch</a:t>
            </a:r>
            <a:endParaRPr lang="en-US" sz="900" dirty="0"/>
          </a:p>
        </p:txBody>
      </p:sp>
      <p:sp>
        <p:nvSpPr>
          <p:cNvPr id="23" name="Text 19"/>
          <p:cNvSpPr txBox="1"/>
          <p:nvPr/>
        </p:nvSpPr>
        <p:spPr>
          <a:xfrm>
            <a:off x="4498848" y="2944368"/>
            <a:ext cx="3063240" cy="347472"/>
          </a:xfrm>
          <a:prstGeom prst="rect">
            <a:avLst/>
          </a:prstGeom>
          <a:noFill/>
          <a:ln/>
        </p:spPr>
        <p:txBody>
          <a:bodyPr wrap="square" lIns="0" tIns="0" rIns="0" bIns="0" rtlCol="0" anchor="t"/>
          <a:lstStyle/>
          <a:p>
            <a:pPr marL="0" indent="0">
              <a:buNone/>
            </a:pPr>
            <a:r>
              <a:rPr lang="en-US" sz="950" dirty="0">
                <a:solidFill>
                  <a:srgbClr val="FFFFFF"/>
                </a:solidFill>
                <a:latin typeface="Inter" pitchFamily="34" charset="0"/>
                <a:ea typeface="Inter" pitchFamily="34" charset="-122"/>
                <a:cs typeface="Inter" pitchFamily="34" charset="-120"/>
              </a:rPr>
              <a:t>“Is this recruiter real?”  “Am I ready for this role?”  “Will anyone use my idea?”</a:t>
            </a:r>
            <a:endParaRPr lang="en-US" sz="950" dirty="0"/>
          </a:p>
        </p:txBody>
      </p:sp>
      <p:sp>
        <p:nvSpPr>
          <p:cNvPr id="24" name="Text 20"/>
          <p:cNvSpPr txBox="1"/>
          <p:nvPr/>
        </p:nvSpPr>
        <p:spPr>
          <a:xfrm>
            <a:off x="4297680" y="3511296"/>
            <a:ext cx="329184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ALSO SERVES</a:t>
            </a:r>
            <a:endParaRPr lang="en-US" sz="900" dirty="0"/>
          </a:p>
        </p:txBody>
      </p:sp>
      <p:pic>
        <p:nvPicPr>
          <p:cNvPr id="25" name="Image 1" descr="preencoded.png"/>
          <p:cNvPicPr>
            <a:picLocks noChangeAspect="1"/>
          </p:cNvPicPr>
          <p:nvPr/>
        </p:nvPicPr>
        <p:blipFill>
          <a:blip r:embed="rId4"/>
          <a:stretch>
            <a:fillRect/>
          </a:stretch>
        </p:blipFill>
        <p:spPr>
          <a:xfrm>
            <a:off x="4297680" y="3785616"/>
            <a:ext cx="237744" cy="237744"/>
          </a:xfrm>
          <a:prstGeom prst="rect">
            <a:avLst/>
          </a:prstGeom>
        </p:spPr>
      </p:pic>
      <p:sp>
        <p:nvSpPr>
          <p:cNvPr id="26" name="Text 21"/>
          <p:cNvSpPr txBox="1"/>
          <p:nvPr/>
        </p:nvSpPr>
        <p:spPr>
          <a:xfrm>
            <a:off x="4645152" y="3767328"/>
            <a:ext cx="3063240" cy="182880"/>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Startups &amp; recruiters</a:t>
            </a:r>
            <a:endParaRPr lang="en-US" sz="1050" dirty="0"/>
          </a:p>
        </p:txBody>
      </p:sp>
      <p:sp>
        <p:nvSpPr>
          <p:cNvPr id="27" name="Text 22"/>
          <p:cNvSpPr txBox="1"/>
          <p:nvPr/>
        </p:nvSpPr>
        <p:spPr>
          <a:xfrm>
            <a:off x="4645152" y="3950208"/>
            <a:ext cx="3063240" cy="164592"/>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Find proven talent; earn a verified-hiring badge</a:t>
            </a:r>
            <a:endParaRPr lang="en-US" sz="900" dirty="0"/>
          </a:p>
        </p:txBody>
      </p:sp>
      <p:pic>
        <p:nvPicPr>
          <p:cNvPr id="28" name="Image 2" descr="preencoded.png"/>
          <p:cNvPicPr>
            <a:picLocks noChangeAspect="1"/>
          </p:cNvPicPr>
          <p:nvPr/>
        </p:nvPicPr>
        <p:blipFill>
          <a:blip r:embed="rId5"/>
          <a:stretch>
            <a:fillRect/>
          </a:stretch>
        </p:blipFill>
        <p:spPr>
          <a:xfrm>
            <a:off x="4297680" y="4169664"/>
            <a:ext cx="237744" cy="237744"/>
          </a:xfrm>
          <a:prstGeom prst="rect">
            <a:avLst/>
          </a:prstGeom>
        </p:spPr>
      </p:pic>
      <p:sp>
        <p:nvSpPr>
          <p:cNvPr id="29" name="Text 23"/>
          <p:cNvSpPr txBox="1"/>
          <p:nvPr/>
        </p:nvSpPr>
        <p:spPr>
          <a:xfrm>
            <a:off x="4645152" y="4151376"/>
            <a:ext cx="3063240" cy="182880"/>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Mentors &amp; alumni</a:t>
            </a:r>
            <a:endParaRPr lang="en-US" sz="1050" dirty="0"/>
          </a:p>
        </p:txBody>
      </p:sp>
      <p:sp>
        <p:nvSpPr>
          <p:cNvPr id="30" name="Text 24"/>
          <p:cNvSpPr txBox="1"/>
          <p:nvPr/>
        </p:nvSpPr>
        <p:spPr>
          <a:xfrm>
            <a:off x="4645152" y="4334256"/>
            <a:ext cx="3063240" cy="164592"/>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Guide the right students; build a public track record</a:t>
            </a:r>
            <a:endParaRPr lang="en-US" sz="900" dirty="0"/>
          </a:p>
        </p:txBody>
      </p:sp>
      <p:pic>
        <p:nvPicPr>
          <p:cNvPr id="31" name="Image 3" descr="preencoded.png"/>
          <p:cNvPicPr>
            <a:picLocks noChangeAspect="1"/>
          </p:cNvPicPr>
          <p:nvPr/>
        </p:nvPicPr>
        <p:blipFill>
          <a:blip r:embed="rId6"/>
          <a:stretch>
            <a:fillRect/>
          </a:stretch>
        </p:blipFill>
        <p:spPr>
          <a:xfrm>
            <a:off x="4297680" y="4553712"/>
            <a:ext cx="237744" cy="237744"/>
          </a:xfrm>
          <a:prstGeom prst="rect">
            <a:avLst/>
          </a:prstGeom>
        </p:spPr>
      </p:pic>
      <p:sp>
        <p:nvSpPr>
          <p:cNvPr id="32" name="Text 25"/>
          <p:cNvSpPr txBox="1"/>
          <p:nvPr/>
        </p:nvSpPr>
        <p:spPr>
          <a:xfrm>
            <a:off x="4645152" y="4535424"/>
            <a:ext cx="3063240" cy="182880"/>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T&amp;P cells, E-cells, incubators</a:t>
            </a:r>
            <a:endParaRPr lang="en-US" sz="1050" dirty="0"/>
          </a:p>
        </p:txBody>
      </p:sp>
      <p:sp>
        <p:nvSpPr>
          <p:cNvPr id="33" name="Text 26"/>
          <p:cNvSpPr txBox="1"/>
          <p:nvPr/>
        </p:nvSpPr>
        <p:spPr>
          <a:xfrm>
            <a:off x="4645152" y="4718304"/>
            <a:ext cx="3063240" cy="164592"/>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Placement and venture outcomes in one dashboard</a:t>
            </a:r>
            <a:endParaRPr lang="en-US" sz="900" dirty="0"/>
          </a:p>
        </p:txBody>
      </p:sp>
      <p:sp>
        <p:nvSpPr>
          <p:cNvPr id="34" name="Text 27"/>
          <p:cNvSpPr txBox="1"/>
          <p:nvPr/>
        </p:nvSpPr>
        <p:spPr>
          <a:xfrm>
            <a:off x="7955280" y="1755648"/>
            <a:ext cx="36576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EXISTING GAP</a:t>
            </a:r>
            <a:endParaRPr lang="en-US" sz="900" dirty="0"/>
          </a:p>
        </p:txBody>
      </p:sp>
      <p:sp>
        <p:nvSpPr>
          <p:cNvPr id="35" name="Text 28"/>
          <p:cNvSpPr txBox="1"/>
          <p:nvPr/>
        </p:nvSpPr>
        <p:spPr>
          <a:xfrm>
            <a:off x="7955280" y="1975104"/>
            <a:ext cx="411480" cy="365760"/>
          </a:xfrm>
          <a:prstGeom prst="rect">
            <a:avLst/>
          </a:prstGeom>
          <a:noFill/>
          <a:ln/>
        </p:spPr>
        <p:txBody>
          <a:bodyPr wrap="square" lIns="0" tIns="0" rIns="0" bIns="0" rtlCol="0" anchor="t"/>
          <a:lstStyle/>
          <a:p>
            <a:pPr marL="0" indent="0">
              <a:buNone/>
            </a:pPr>
            <a:r>
              <a:rPr lang="en-US" sz="2000" dirty="0">
                <a:solidFill>
                  <a:srgbClr val="E5482D"/>
                </a:solidFill>
                <a:latin typeface="Inter" pitchFamily="34" charset="0"/>
                <a:ea typeface="Inter" pitchFamily="34" charset="-122"/>
                <a:cs typeface="Inter" pitchFamily="34" charset="-120"/>
              </a:rPr>
              <a:t>01</a:t>
            </a:r>
            <a:endParaRPr lang="en-US" sz="2000" dirty="0"/>
          </a:p>
        </p:txBody>
      </p:sp>
      <p:sp>
        <p:nvSpPr>
          <p:cNvPr id="36" name="Text 29"/>
          <p:cNvSpPr txBox="1"/>
          <p:nvPr/>
        </p:nvSpPr>
        <p:spPr>
          <a:xfrm>
            <a:off x="8412480" y="1993392"/>
            <a:ext cx="3319272" cy="201168"/>
          </a:xfrm>
          <a:prstGeom prst="rect">
            <a:avLst/>
          </a:prstGeom>
          <a:noFill/>
          <a:ln/>
        </p:spPr>
        <p:txBody>
          <a:bodyPr wrap="square" lIns="0" tIns="0" rIns="0" bIns="0" rtlCol="0" anchor="ctr"/>
          <a:lstStyle/>
          <a:p>
            <a:pPr marL="0" indent="0">
              <a:buNone/>
            </a:pPr>
            <a:r>
              <a:rPr lang="en-US" sz="1100" b="1" dirty="0">
                <a:solidFill>
                  <a:srgbClr val="14161C"/>
                </a:solidFill>
                <a:latin typeface="Inter" pitchFamily="34" charset="0"/>
                <a:ea typeface="Inter" pitchFamily="34" charset="-122"/>
                <a:cs typeface="Inter" pitchFamily="34" charset="-120"/>
              </a:rPr>
              <a:t>Scattered across apps</a:t>
            </a:r>
            <a:endParaRPr lang="en-US" sz="1100" dirty="0"/>
          </a:p>
        </p:txBody>
      </p:sp>
      <p:sp>
        <p:nvSpPr>
          <p:cNvPr id="37" name="Text 30"/>
          <p:cNvSpPr txBox="1"/>
          <p:nvPr/>
        </p:nvSpPr>
        <p:spPr>
          <a:xfrm>
            <a:off x="8412480" y="2194560"/>
            <a:ext cx="3319272" cy="329184"/>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Jobs on Naukri, internships on Internshala, hackathons on Unstop, co-founders on WhatsApp. No single place.</a:t>
            </a:r>
            <a:endParaRPr lang="en-US" sz="900" dirty="0"/>
          </a:p>
        </p:txBody>
      </p:sp>
      <p:sp>
        <p:nvSpPr>
          <p:cNvPr id="38" name="Shape 31"/>
          <p:cNvSpPr/>
          <p:nvPr/>
        </p:nvSpPr>
        <p:spPr>
          <a:xfrm>
            <a:off x="8412480" y="2542032"/>
            <a:ext cx="3319272" cy="0"/>
          </a:xfrm>
          <a:prstGeom prst="line">
            <a:avLst/>
          </a:prstGeom>
          <a:noFill/>
          <a:ln w="9525">
            <a:solidFill>
              <a:srgbClr val="DCDFE4"/>
            </a:solidFill>
            <a:prstDash val="solid"/>
          </a:ln>
        </p:spPr>
        <p:txBody>
          <a:bodyPr/>
          <a:lstStyle/>
          <a:p>
            <a:endParaRPr lang="en-IN"/>
          </a:p>
        </p:txBody>
      </p:sp>
      <p:sp>
        <p:nvSpPr>
          <p:cNvPr id="39" name="Text 32"/>
          <p:cNvSpPr txBox="1"/>
          <p:nvPr/>
        </p:nvSpPr>
        <p:spPr>
          <a:xfrm>
            <a:off x="7955280" y="2551176"/>
            <a:ext cx="411480" cy="365760"/>
          </a:xfrm>
          <a:prstGeom prst="rect">
            <a:avLst/>
          </a:prstGeom>
          <a:noFill/>
          <a:ln/>
        </p:spPr>
        <p:txBody>
          <a:bodyPr wrap="square" lIns="0" tIns="0" rIns="0" bIns="0" rtlCol="0" anchor="t"/>
          <a:lstStyle/>
          <a:p>
            <a:pPr marL="0" indent="0">
              <a:buNone/>
            </a:pPr>
            <a:r>
              <a:rPr lang="en-US" sz="2000" dirty="0">
                <a:solidFill>
                  <a:srgbClr val="E5482D"/>
                </a:solidFill>
                <a:latin typeface="Inter" pitchFamily="34" charset="0"/>
                <a:ea typeface="Inter" pitchFamily="34" charset="-122"/>
                <a:cs typeface="Inter" pitchFamily="34" charset="-120"/>
              </a:rPr>
              <a:t>02</a:t>
            </a:r>
            <a:endParaRPr lang="en-US" sz="2000" dirty="0"/>
          </a:p>
        </p:txBody>
      </p:sp>
      <p:sp>
        <p:nvSpPr>
          <p:cNvPr id="40" name="Text 33"/>
          <p:cNvSpPr txBox="1"/>
          <p:nvPr/>
        </p:nvSpPr>
        <p:spPr>
          <a:xfrm>
            <a:off x="8412480" y="2569464"/>
            <a:ext cx="3319272" cy="201168"/>
          </a:xfrm>
          <a:prstGeom prst="rect">
            <a:avLst/>
          </a:prstGeom>
          <a:noFill/>
          <a:ln/>
        </p:spPr>
        <p:txBody>
          <a:bodyPr wrap="square" lIns="0" tIns="0" rIns="0" bIns="0" rtlCol="0" anchor="ctr"/>
          <a:lstStyle/>
          <a:p>
            <a:pPr marL="0" indent="0">
              <a:buNone/>
            </a:pPr>
            <a:r>
              <a:rPr lang="en-US" sz="1100" b="1" dirty="0">
                <a:solidFill>
                  <a:srgbClr val="14161C"/>
                </a:solidFill>
                <a:latin typeface="Inter" pitchFamily="34" charset="0"/>
                <a:ea typeface="Inter" pitchFamily="34" charset="-122"/>
                <a:cs typeface="Inter" pitchFamily="34" charset="-120"/>
              </a:rPr>
              <a:t>Hiring claims go unchecked</a:t>
            </a:r>
            <a:endParaRPr lang="en-US" sz="1100" dirty="0"/>
          </a:p>
        </p:txBody>
      </p:sp>
      <p:sp>
        <p:nvSpPr>
          <p:cNvPr id="41" name="Text 34"/>
          <p:cNvSpPr txBox="1"/>
          <p:nvPr/>
        </p:nvSpPr>
        <p:spPr>
          <a:xfrm>
            <a:off x="8412480" y="2770632"/>
            <a:ext cx="3319272" cy="329184"/>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“We’re hiring” and “paid internship” are never verified, so ghost jobs and fee scams look like real offers.</a:t>
            </a:r>
            <a:endParaRPr lang="en-US" sz="900" dirty="0"/>
          </a:p>
        </p:txBody>
      </p:sp>
      <p:sp>
        <p:nvSpPr>
          <p:cNvPr id="42" name="Shape 35"/>
          <p:cNvSpPr/>
          <p:nvPr/>
        </p:nvSpPr>
        <p:spPr>
          <a:xfrm>
            <a:off x="8412480" y="3118104"/>
            <a:ext cx="3319272" cy="0"/>
          </a:xfrm>
          <a:prstGeom prst="line">
            <a:avLst/>
          </a:prstGeom>
          <a:noFill/>
          <a:ln w="9525">
            <a:solidFill>
              <a:srgbClr val="DCDFE4"/>
            </a:solidFill>
            <a:prstDash val="solid"/>
          </a:ln>
        </p:spPr>
        <p:txBody>
          <a:bodyPr/>
          <a:lstStyle/>
          <a:p>
            <a:endParaRPr lang="en-IN"/>
          </a:p>
        </p:txBody>
      </p:sp>
      <p:sp>
        <p:nvSpPr>
          <p:cNvPr id="43" name="Text 36"/>
          <p:cNvSpPr txBox="1"/>
          <p:nvPr/>
        </p:nvSpPr>
        <p:spPr>
          <a:xfrm>
            <a:off x="7955280" y="3127248"/>
            <a:ext cx="411480" cy="365760"/>
          </a:xfrm>
          <a:prstGeom prst="rect">
            <a:avLst/>
          </a:prstGeom>
          <a:noFill/>
          <a:ln/>
        </p:spPr>
        <p:txBody>
          <a:bodyPr wrap="square" lIns="0" tIns="0" rIns="0" bIns="0" rtlCol="0" anchor="t"/>
          <a:lstStyle/>
          <a:p>
            <a:pPr marL="0" indent="0">
              <a:buNone/>
            </a:pPr>
            <a:r>
              <a:rPr lang="en-US" sz="2000" dirty="0">
                <a:solidFill>
                  <a:srgbClr val="E5482D"/>
                </a:solidFill>
                <a:latin typeface="Inter" pitchFamily="34" charset="0"/>
                <a:ea typeface="Inter" pitchFamily="34" charset="-122"/>
                <a:cs typeface="Inter" pitchFamily="34" charset="-120"/>
              </a:rPr>
              <a:t>03</a:t>
            </a:r>
            <a:endParaRPr lang="en-US" sz="2000" dirty="0"/>
          </a:p>
        </p:txBody>
      </p:sp>
      <p:sp>
        <p:nvSpPr>
          <p:cNvPr id="44" name="Text 37"/>
          <p:cNvSpPr txBox="1"/>
          <p:nvPr/>
        </p:nvSpPr>
        <p:spPr>
          <a:xfrm>
            <a:off x="8412480" y="3145536"/>
            <a:ext cx="3319272" cy="201168"/>
          </a:xfrm>
          <a:prstGeom prst="rect">
            <a:avLst/>
          </a:prstGeom>
          <a:noFill/>
          <a:ln/>
        </p:spPr>
        <p:txBody>
          <a:bodyPr wrap="square" lIns="0" tIns="0" rIns="0" bIns="0" rtlCol="0" anchor="ctr"/>
          <a:lstStyle/>
          <a:p>
            <a:pPr marL="0" indent="0">
              <a:buNone/>
            </a:pPr>
            <a:r>
              <a:rPr lang="en-US" sz="1100" b="1" dirty="0">
                <a:solidFill>
                  <a:srgbClr val="14161C"/>
                </a:solidFill>
                <a:latin typeface="Inter" pitchFamily="34" charset="0"/>
                <a:ea typeface="Inter" pitchFamily="34" charset="-122"/>
                <a:cs typeface="Inter" pitchFamily="34" charset="-120"/>
              </a:rPr>
              <a:t>Skills don’t match openings</a:t>
            </a:r>
            <a:endParaRPr lang="en-US" sz="1100" dirty="0"/>
          </a:p>
        </p:txBody>
      </p:sp>
      <p:sp>
        <p:nvSpPr>
          <p:cNvPr id="45" name="Text 38"/>
          <p:cNvSpPr txBox="1"/>
          <p:nvPr/>
        </p:nvSpPr>
        <p:spPr>
          <a:xfrm>
            <a:off x="8412480" y="3346704"/>
            <a:ext cx="3319272" cy="329184"/>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Students can’t see the exact gap between their profile and a role, or a free way to close it.</a:t>
            </a:r>
            <a:endParaRPr lang="en-US" sz="900" dirty="0"/>
          </a:p>
        </p:txBody>
      </p:sp>
      <p:sp>
        <p:nvSpPr>
          <p:cNvPr id="46" name="Shape 39"/>
          <p:cNvSpPr/>
          <p:nvPr/>
        </p:nvSpPr>
        <p:spPr>
          <a:xfrm>
            <a:off x="8412480" y="3694176"/>
            <a:ext cx="3319272" cy="0"/>
          </a:xfrm>
          <a:prstGeom prst="line">
            <a:avLst/>
          </a:prstGeom>
          <a:noFill/>
          <a:ln w="9525">
            <a:solidFill>
              <a:srgbClr val="DCDFE4"/>
            </a:solidFill>
            <a:prstDash val="solid"/>
          </a:ln>
        </p:spPr>
        <p:txBody>
          <a:bodyPr/>
          <a:lstStyle/>
          <a:p>
            <a:endParaRPr lang="en-IN"/>
          </a:p>
        </p:txBody>
      </p:sp>
      <p:sp>
        <p:nvSpPr>
          <p:cNvPr id="47" name="Text 40"/>
          <p:cNvSpPr txBox="1"/>
          <p:nvPr/>
        </p:nvSpPr>
        <p:spPr>
          <a:xfrm>
            <a:off x="7955280" y="3703320"/>
            <a:ext cx="411480" cy="365760"/>
          </a:xfrm>
          <a:prstGeom prst="rect">
            <a:avLst/>
          </a:prstGeom>
          <a:noFill/>
          <a:ln/>
        </p:spPr>
        <p:txBody>
          <a:bodyPr wrap="square" lIns="0" tIns="0" rIns="0" bIns="0" rtlCol="0" anchor="t"/>
          <a:lstStyle/>
          <a:p>
            <a:pPr marL="0" indent="0">
              <a:buNone/>
            </a:pPr>
            <a:r>
              <a:rPr lang="en-US" sz="2000" dirty="0">
                <a:solidFill>
                  <a:srgbClr val="E5482D"/>
                </a:solidFill>
                <a:latin typeface="Inter" pitchFamily="34" charset="0"/>
                <a:ea typeface="Inter" pitchFamily="34" charset="-122"/>
                <a:cs typeface="Inter" pitchFamily="34" charset="-120"/>
              </a:rPr>
              <a:t>04</a:t>
            </a:r>
            <a:endParaRPr lang="en-US" sz="2000" dirty="0"/>
          </a:p>
        </p:txBody>
      </p:sp>
      <p:sp>
        <p:nvSpPr>
          <p:cNvPr id="48" name="Text 41"/>
          <p:cNvSpPr txBox="1"/>
          <p:nvPr/>
        </p:nvSpPr>
        <p:spPr>
          <a:xfrm>
            <a:off x="8412480" y="3721608"/>
            <a:ext cx="3319272" cy="201168"/>
          </a:xfrm>
          <a:prstGeom prst="rect">
            <a:avLst/>
          </a:prstGeom>
          <a:noFill/>
          <a:ln/>
        </p:spPr>
        <p:txBody>
          <a:bodyPr wrap="square" lIns="0" tIns="0" rIns="0" bIns="0" rtlCol="0" anchor="ctr"/>
          <a:lstStyle/>
          <a:p>
            <a:pPr marL="0" indent="0">
              <a:buNone/>
            </a:pPr>
            <a:r>
              <a:rPr lang="en-US" sz="1100" b="1" dirty="0">
                <a:solidFill>
                  <a:srgbClr val="14161C"/>
                </a:solidFill>
                <a:latin typeface="Inter" pitchFamily="34" charset="0"/>
                <a:ea typeface="Inter" pitchFamily="34" charset="-122"/>
                <a:cs typeface="Inter" pitchFamily="34" charset="-120"/>
              </a:rPr>
              <a:t>Ideas die untested</a:t>
            </a:r>
            <a:endParaRPr lang="en-US" sz="1100" dirty="0"/>
          </a:p>
        </p:txBody>
      </p:sp>
      <p:sp>
        <p:nvSpPr>
          <p:cNvPr id="49" name="Text 42"/>
          <p:cNvSpPr txBox="1"/>
          <p:nvPr/>
        </p:nvSpPr>
        <p:spPr>
          <a:xfrm>
            <a:off x="8412480" y="3922776"/>
            <a:ext cx="3319272" cy="329184"/>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Student founders have no fast way to test demand, find a co-founder or reach a mentor.</a:t>
            </a:r>
            <a:endParaRPr lang="en-US" sz="900" dirty="0"/>
          </a:p>
        </p:txBody>
      </p:sp>
      <p:sp>
        <p:nvSpPr>
          <p:cNvPr id="50" name="Shape 43"/>
          <p:cNvSpPr/>
          <p:nvPr/>
        </p:nvSpPr>
        <p:spPr>
          <a:xfrm>
            <a:off x="8412480" y="4270248"/>
            <a:ext cx="3319272" cy="0"/>
          </a:xfrm>
          <a:prstGeom prst="line">
            <a:avLst/>
          </a:prstGeom>
          <a:noFill/>
          <a:ln w="9525">
            <a:solidFill>
              <a:srgbClr val="DCDFE4"/>
            </a:solidFill>
            <a:prstDash val="solid"/>
          </a:ln>
        </p:spPr>
        <p:txBody>
          <a:bodyPr/>
          <a:lstStyle/>
          <a:p>
            <a:endParaRPr lang="en-IN"/>
          </a:p>
        </p:txBody>
      </p:sp>
      <p:sp>
        <p:nvSpPr>
          <p:cNvPr id="51" name="Text 44"/>
          <p:cNvSpPr txBox="1"/>
          <p:nvPr/>
        </p:nvSpPr>
        <p:spPr>
          <a:xfrm>
            <a:off x="7955280" y="4279392"/>
            <a:ext cx="411480" cy="365760"/>
          </a:xfrm>
          <a:prstGeom prst="rect">
            <a:avLst/>
          </a:prstGeom>
          <a:noFill/>
          <a:ln/>
        </p:spPr>
        <p:txBody>
          <a:bodyPr wrap="square" lIns="0" tIns="0" rIns="0" bIns="0" rtlCol="0" anchor="t"/>
          <a:lstStyle/>
          <a:p>
            <a:pPr marL="0" indent="0">
              <a:buNone/>
            </a:pPr>
            <a:r>
              <a:rPr lang="en-US" sz="2000" dirty="0">
                <a:solidFill>
                  <a:srgbClr val="E5482D"/>
                </a:solidFill>
                <a:latin typeface="Inter" pitchFamily="34" charset="0"/>
                <a:ea typeface="Inter" pitchFamily="34" charset="-122"/>
                <a:cs typeface="Inter" pitchFamily="34" charset="-120"/>
              </a:rPr>
              <a:t>05</a:t>
            </a:r>
            <a:endParaRPr lang="en-US" sz="2000" dirty="0"/>
          </a:p>
        </p:txBody>
      </p:sp>
      <p:sp>
        <p:nvSpPr>
          <p:cNvPr id="52" name="Text 45"/>
          <p:cNvSpPr txBox="1"/>
          <p:nvPr/>
        </p:nvSpPr>
        <p:spPr>
          <a:xfrm>
            <a:off x="8412480" y="4297680"/>
            <a:ext cx="3319272" cy="201168"/>
          </a:xfrm>
          <a:prstGeom prst="rect">
            <a:avLst/>
          </a:prstGeom>
          <a:noFill/>
          <a:ln/>
        </p:spPr>
        <p:txBody>
          <a:bodyPr wrap="square" lIns="0" tIns="0" rIns="0" bIns="0" rtlCol="0" anchor="ctr"/>
          <a:lstStyle/>
          <a:p>
            <a:pPr marL="0" indent="0">
              <a:buNone/>
            </a:pPr>
            <a:r>
              <a:rPr lang="en-US" sz="1100" b="1" dirty="0">
                <a:solidFill>
                  <a:srgbClr val="14161C"/>
                </a:solidFill>
                <a:latin typeface="Inter" pitchFamily="34" charset="0"/>
                <a:ea typeface="Inter" pitchFamily="34" charset="-122"/>
                <a:cs typeface="Inter" pitchFamily="34" charset="-120"/>
              </a:rPr>
              <a:t>Reviews without proof</a:t>
            </a:r>
            <a:endParaRPr lang="en-US" sz="1100" dirty="0"/>
          </a:p>
        </p:txBody>
      </p:sp>
      <p:sp>
        <p:nvSpPr>
          <p:cNvPr id="53" name="Text 46"/>
          <p:cNvSpPr txBox="1"/>
          <p:nvPr/>
        </p:nvSpPr>
        <p:spPr>
          <a:xfrm>
            <a:off x="8412480" y="4498848"/>
            <a:ext cx="3319272" cy="329184"/>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Recruiter and startup reviews are hearsay; nothing proves the reviewer applied or worked there.</a:t>
            </a:r>
            <a:endParaRPr lang="en-US" sz="900" dirty="0"/>
          </a:p>
        </p:txBody>
      </p:sp>
      <p:sp>
        <p:nvSpPr>
          <p:cNvPr id="54" name="Shape 47"/>
          <p:cNvSpPr/>
          <p:nvPr/>
        </p:nvSpPr>
        <p:spPr>
          <a:xfrm>
            <a:off x="457200" y="4992624"/>
            <a:ext cx="2724912" cy="786384"/>
          </a:xfrm>
          <a:prstGeom prst="roundRect">
            <a:avLst>
              <a:gd name="adj" fmla="val 11628"/>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55" name="Text 48"/>
          <p:cNvSpPr txBox="1"/>
          <p:nvPr/>
        </p:nvSpPr>
        <p:spPr>
          <a:xfrm>
            <a:off x="621792" y="5029200"/>
            <a:ext cx="2468880" cy="347472"/>
          </a:xfrm>
          <a:prstGeom prst="rect">
            <a:avLst/>
          </a:prstGeom>
          <a:noFill/>
          <a:ln/>
        </p:spPr>
        <p:txBody>
          <a:bodyPr wrap="square" lIns="0" tIns="0" rIns="0" bIns="0" rtlCol="0" anchor="ctr"/>
          <a:lstStyle/>
          <a:p>
            <a:pPr marL="0" indent="0">
              <a:buNone/>
            </a:pPr>
            <a:r>
              <a:rPr lang="en-US" sz="2200" b="1" dirty="0">
                <a:solidFill>
                  <a:srgbClr val="E5482D"/>
                </a:solidFill>
                <a:latin typeface="Inter" pitchFamily="34" charset="0"/>
                <a:ea typeface="Inter" pitchFamily="34" charset="-122"/>
                <a:cs typeface="Inter" pitchFamily="34" charset="-120"/>
              </a:rPr>
              <a:t>93%</a:t>
            </a:r>
            <a:endParaRPr lang="en-US" sz="2200" dirty="0"/>
          </a:p>
        </p:txBody>
      </p:sp>
      <p:sp>
        <p:nvSpPr>
          <p:cNvPr id="56" name="Text 49"/>
          <p:cNvSpPr txBox="1"/>
          <p:nvPr/>
        </p:nvSpPr>
        <p:spPr>
          <a:xfrm>
            <a:off x="621792" y="5376672"/>
            <a:ext cx="2468880" cy="347472"/>
          </a:xfrm>
          <a:prstGeom prst="rect">
            <a:avLst/>
          </a:prstGeom>
          <a:noFill/>
          <a:ln/>
        </p:spPr>
        <p:txBody>
          <a:bodyPr wrap="square" lIns="0" tIns="0" rIns="0" bIns="0" rtlCol="0" anchor="t"/>
          <a:lstStyle/>
          <a:p>
            <a:pPr marL="0" indent="0">
              <a:spcAft>
                <a:spcPts val="100"/>
              </a:spcAft>
              <a:buNone/>
            </a:pPr>
            <a:r>
              <a:rPr lang="en-US" sz="850" dirty="0">
                <a:solidFill>
                  <a:srgbClr val="14161C"/>
                </a:solidFill>
                <a:latin typeface="Inter" pitchFamily="34" charset="0"/>
                <a:ea typeface="Inter" pitchFamily="34" charset="-122"/>
                <a:cs typeface="Inter" pitchFamily="34" charset="-120"/>
              </a:rPr>
              <a:t>of Indian job seekers saw suspected job scams</a:t>
            </a:r>
            <a:endParaRPr lang="en-US" sz="850" dirty="0"/>
          </a:p>
          <a:p>
            <a:pPr marL="0" indent="0">
              <a:spcAft>
                <a:spcPts val="100"/>
              </a:spcAft>
              <a:buNone/>
            </a:pPr>
            <a:r>
              <a:rPr lang="en-US" sz="850" i="1" dirty="0">
                <a:solidFill>
                  <a:srgbClr val="8B919D"/>
                </a:solidFill>
                <a:latin typeface="Inter" pitchFamily="34" charset="0"/>
                <a:ea typeface="Inter" pitchFamily="34" charset="-122"/>
                <a:cs typeface="Inter" pitchFamily="34" charset="-120"/>
              </a:rPr>
              <a:t>Indeed survey, Jul 2026</a:t>
            </a:r>
            <a:endParaRPr lang="en-US" sz="850" dirty="0"/>
          </a:p>
        </p:txBody>
      </p:sp>
      <p:sp>
        <p:nvSpPr>
          <p:cNvPr id="57" name="Shape 50"/>
          <p:cNvSpPr/>
          <p:nvPr/>
        </p:nvSpPr>
        <p:spPr>
          <a:xfrm>
            <a:off x="3291840" y="4992624"/>
            <a:ext cx="2724912" cy="786384"/>
          </a:xfrm>
          <a:prstGeom prst="roundRect">
            <a:avLst>
              <a:gd name="adj" fmla="val 11628"/>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58" name="Text 51"/>
          <p:cNvSpPr txBox="1"/>
          <p:nvPr/>
        </p:nvSpPr>
        <p:spPr>
          <a:xfrm>
            <a:off x="3456432" y="5029200"/>
            <a:ext cx="2468880" cy="347472"/>
          </a:xfrm>
          <a:prstGeom prst="rect">
            <a:avLst/>
          </a:prstGeom>
          <a:noFill/>
          <a:ln/>
        </p:spPr>
        <p:txBody>
          <a:bodyPr wrap="square" lIns="0" tIns="0" rIns="0" bIns="0" rtlCol="0" anchor="ctr"/>
          <a:lstStyle/>
          <a:p>
            <a:pPr marL="0" indent="0">
              <a:buNone/>
            </a:pPr>
            <a:r>
              <a:rPr lang="en-US" sz="2200" b="1" dirty="0">
                <a:solidFill>
                  <a:srgbClr val="E5482D"/>
                </a:solidFill>
                <a:latin typeface="Inter" pitchFamily="34" charset="0"/>
                <a:ea typeface="Inter" pitchFamily="34" charset="-122"/>
                <a:cs typeface="Inter" pitchFamily="34" charset="-120"/>
              </a:rPr>
              <a:t>51%</a:t>
            </a:r>
            <a:endParaRPr lang="en-US" sz="2200" dirty="0"/>
          </a:p>
        </p:txBody>
      </p:sp>
      <p:sp>
        <p:nvSpPr>
          <p:cNvPr id="59" name="Text 52"/>
          <p:cNvSpPr txBox="1"/>
          <p:nvPr/>
        </p:nvSpPr>
        <p:spPr>
          <a:xfrm>
            <a:off x="3456432" y="5376672"/>
            <a:ext cx="2468880" cy="347472"/>
          </a:xfrm>
          <a:prstGeom prst="rect">
            <a:avLst/>
          </a:prstGeom>
          <a:noFill/>
          <a:ln/>
        </p:spPr>
        <p:txBody>
          <a:bodyPr wrap="square" lIns="0" tIns="0" rIns="0" bIns="0" rtlCol="0" anchor="t"/>
          <a:lstStyle/>
          <a:p>
            <a:pPr marL="0" indent="0">
              <a:spcAft>
                <a:spcPts val="100"/>
              </a:spcAft>
              <a:buNone/>
            </a:pPr>
            <a:r>
              <a:rPr lang="en-US" sz="850" dirty="0">
                <a:solidFill>
                  <a:srgbClr val="14161C"/>
                </a:solidFill>
                <a:latin typeface="Inter" pitchFamily="34" charset="0"/>
                <a:ea typeface="Inter" pitchFamily="34" charset="-122"/>
                <a:cs typeface="Inter" pitchFamily="34" charset="-120"/>
              </a:rPr>
              <a:t>aren’t confident they can spot a fake recruiter</a:t>
            </a:r>
            <a:endParaRPr lang="en-US" sz="850" dirty="0"/>
          </a:p>
          <a:p>
            <a:pPr marL="0" indent="0">
              <a:spcAft>
                <a:spcPts val="100"/>
              </a:spcAft>
              <a:buNone/>
            </a:pPr>
            <a:r>
              <a:rPr lang="en-US" sz="850" i="1" dirty="0">
                <a:solidFill>
                  <a:srgbClr val="8B919D"/>
                </a:solidFill>
                <a:latin typeface="Inter" pitchFamily="34" charset="0"/>
                <a:ea typeface="Inter" pitchFamily="34" charset="-122"/>
                <a:cs typeface="Inter" pitchFamily="34" charset="-120"/>
              </a:rPr>
              <a:t>Indeed survey, Jul 2026</a:t>
            </a:r>
            <a:endParaRPr lang="en-US" sz="850" dirty="0"/>
          </a:p>
        </p:txBody>
      </p:sp>
      <p:sp>
        <p:nvSpPr>
          <p:cNvPr id="60" name="Shape 53"/>
          <p:cNvSpPr/>
          <p:nvPr/>
        </p:nvSpPr>
        <p:spPr>
          <a:xfrm>
            <a:off x="6126480" y="4992624"/>
            <a:ext cx="2724912" cy="786384"/>
          </a:xfrm>
          <a:prstGeom prst="roundRect">
            <a:avLst>
              <a:gd name="adj" fmla="val 11628"/>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61" name="Text 54"/>
          <p:cNvSpPr txBox="1"/>
          <p:nvPr/>
        </p:nvSpPr>
        <p:spPr>
          <a:xfrm>
            <a:off x="6291072" y="5029200"/>
            <a:ext cx="2468880" cy="347472"/>
          </a:xfrm>
          <a:prstGeom prst="rect">
            <a:avLst/>
          </a:prstGeom>
          <a:noFill/>
          <a:ln/>
        </p:spPr>
        <p:txBody>
          <a:bodyPr wrap="square" lIns="0" tIns="0" rIns="0" bIns="0" rtlCol="0" anchor="ctr"/>
          <a:lstStyle/>
          <a:p>
            <a:pPr marL="0" indent="0">
              <a:buNone/>
            </a:pPr>
            <a:r>
              <a:rPr lang="en-US" sz="2200" b="1" dirty="0">
                <a:solidFill>
                  <a:srgbClr val="E5482D"/>
                </a:solidFill>
                <a:latin typeface="Inter" pitchFamily="34" charset="0"/>
                <a:ea typeface="Inter" pitchFamily="34" charset="-122"/>
                <a:cs typeface="Inter" pitchFamily="34" charset="-120"/>
              </a:rPr>
              <a:t>56.35%</a:t>
            </a:r>
            <a:endParaRPr lang="en-US" sz="2200" dirty="0"/>
          </a:p>
        </p:txBody>
      </p:sp>
      <p:sp>
        <p:nvSpPr>
          <p:cNvPr id="62" name="Text 55"/>
          <p:cNvSpPr txBox="1"/>
          <p:nvPr/>
        </p:nvSpPr>
        <p:spPr>
          <a:xfrm>
            <a:off x="6291072" y="5376672"/>
            <a:ext cx="2468880" cy="347472"/>
          </a:xfrm>
          <a:prstGeom prst="rect">
            <a:avLst/>
          </a:prstGeom>
          <a:noFill/>
          <a:ln/>
        </p:spPr>
        <p:txBody>
          <a:bodyPr wrap="square" lIns="0" tIns="0" rIns="0" bIns="0" rtlCol="0" anchor="t"/>
          <a:lstStyle/>
          <a:p>
            <a:pPr marL="0" indent="0">
              <a:spcAft>
                <a:spcPts val="100"/>
              </a:spcAft>
              <a:buNone/>
            </a:pPr>
            <a:r>
              <a:rPr lang="en-US" sz="850" dirty="0">
                <a:solidFill>
                  <a:srgbClr val="14161C"/>
                </a:solidFill>
                <a:latin typeface="Inter" pitchFamily="34" charset="0"/>
                <a:ea typeface="Inter" pitchFamily="34" charset="-122"/>
                <a:cs typeface="Inter" pitchFamily="34" charset="-120"/>
              </a:rPr>
              <a:t>rated employable; over 4 in 10 aren’t job-ready</a:t>
            </a:r>
            <a:endParaRPr lang="en-US" sz="850" dirty="0"/>
          </a:p>
          <a:p>
            <a:pPr marL="0" indent="0">
              <a:spcAft>
                <a:spcPts val="100"/>
              </a:spcAft>
              <a:buNone/>
            </a:pPr>
            <a:r>
              <a:rPr lang="en-US" sz="850" i="1" dirty="0">
                <a:solidFill>
                  <a:srgbClr val="8B919D"/>
                </a:solidFill>
                <a:latin typeface="Inter" pitchFamily="34" charset="0"/>
                <a:ea typeface="Inter" pitchFamily="34" charset="-122"/>
                <a:cs typeface="Inter" pitchFamily="34" charset="-120"/>
              </a:rPr>
              <a:t>India Skills Report 2026</a:t>
            </a:r>
            <a:endParaRPr lang="en-US" sz="850" dirty="0"/>
          </a:p>
        </p:txBody>
      </p:sp>
      <p:sp>
        <p:nvSpPr>
          <p:cNvPr id="63" name="Shape 56"/>
          <p:cNvSpPr/>
          <p:nvPr/>
        </p:nvSpPr>
        <p:spPr>
          <a:xfrm>
            <a:off x="8961120" y="4992624"/>
            <a:ext cx="2724912" cy="786384"/>
          </a:xfrm>
          <a:prstGeom prst="roundRect">
            <a:avLst>
              <a:gd name="adj" fmla="val 11628"/>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64" name="Text 57"/>
          <p:cNvSpPr txBox="1"/>
          <p:nvPr/>
        </p:nvSpPr>
        <p:spPr>
          <a:xfrm>
            <a:off x="9125712" y="5029200"/>
            <a:ext cx="2468880" cy="347472"/>
          </a:xfrm>
          <a:prstGeom prst="rect">
            <a:avLst/>
          </a:prstGeom>
          <a:noFill/>
          <a:ln/>
        </p:spPr>
        <p:txBody>
          <a:bodyPr wrap="square" lIns="0" tIns="0" rIns="0" bIns="0" rtlCol="0" anchor="ctr"/>
          <a:lstStyle/>
          <a:p>
            <a:pPr marL="0" indent="0">
              <a:buNone/>
            </a:pPr>
            <a:r>
              <a:rPr lang="en-US" sz="2200" b="1" dirty="0">
                <a:solidFill>
                  <a:srgbClr val="E5482D"/>
                </a:solidFill>
                <a:latin typeface="Inter" pitchFamily="34" charset="0"/>
                <a:ea typeface="Inter" pitchFamily="34" charset="-122"/>
                <a:cs typeface="Inter" pitchFamily="34" charset="-120"/>
              </a:rPr>
              <a:t>2.23 lakh</a:t>
            </a:r>
            <a:endParaRPr lang="en-US" sz="2200" dirty="0"/>
          </a:p>
        </p:txBody>
      </p:sp>
      <p:sp>
        <p:nvSpPr>
          <p:cNvPr id="65" name="Text 58"/>
          <p:cNvSpPr txBox="1"/>
          <p:nvPr/>
        </p:nvSpPr>
        <p:spPr>
          <a:xfrm>
            <a:off x="9125712" y="5376672"/>
            <a:ext cx="2468880" cy="347472"/>
          </a:xfrm>
          <a:prstGeom prst="rect">
            <a:avLst/>
          </a:prstGeom>
          <a:noFill/>
          <a:ln/>
        </p:spPr>
        <p:txBody>
          <a:bodyPr wrap="square" lIns="0" tIns="0" rIns="0" bIns="0" rtlCol="0" anchor="t"/>
          <a:lstStyle/>
          <a:p>
            <a:pPr marL="0" indent="0">
              <a:spcAft>
                <a:spcPts val="100"/>
              </a:spcAft>
              <a:buNone/>
            </a:pPr>
            <a:r>
              <a:rPr lang="en-US" sz="850" dirty="0">
                <a:solidFill>
                  <a:srgbClr val="14161C"/>
                </a:solidFill>
                <a:latin typeface="Inter" pitchFamily="34" charset="0"/>
                <a:ea typeface="Inter" pitchFamily="34" charset="-122"/>
                <a:cs typeface="Inter" pitchFamily="34" charset="-120"/>
              </a:rPr>
              <a:t>DPIIT-recognised startups · 23.36 lakh jobs</a:t>
            </a:r>
            <a:endParaRPr lang="en-US" sz="850" dirty="0"/>
          </a:p>
          <a:p>
            <a:pPr marL="0" indent="0">
              <a:spcAft>
                <a:spcPts val="100"/>
              </a:spcAft>
              <a:buNone/>
            </a:pPr>
            <a:r>
              <a:rPr lang="en-US" sz="850" i="1" dirty="0">
                <a:solidFill>
                  <a:srgbClr val="8B919D"/>
                </a:solidFill>
                <a:latin typeface="Inter" pitchFamily="34" charset="0"/>
                <a:ea typeface="Inter" pitchFamily="34" charset="-122"/>
                <a:cs typeface="Inter" pitchFamily="34" charset="-120"/>
              </a:rPr>
              <a:t>DPIIT, 31 Mar 2026</a:t>
            </a:r>
            <a:endParaRPr lang="en-US" sz="850" dirty="0"/>
          </a:p>
        </p:txBody>
      </p:sp>
      <p:sp>
        <p:nvSpPr>
          <p:cNvPr id="66" name="Shape 59"/>
          <p:cNvSpPr/>
          <p:nvPr/>
        </p:nvSpPr>
        <p:spPr>
          <a:xfrm>
            <a:off x="457200" y="5888736"/>
            <a:ext cx="11274552" cy="438912"/>
          </a:xfrm>
          <a:prstGeom prst="roundRect">
            <a:avLst>
              <a:gd name="adj" fmla="val 16667"/>
            </a:avLst>
          </a:prstGeom>
          <a:solidFill>
            <a:srgbClr val="14161C"/>
          </a:solidFill>
          <a:ln/>
        </p:spPr>
        <p:txBody>
          <a:bodyPr/>
          <a:lstStyle/>
          <a:p>
            <a:endParaRPr lang="en-IN"/>
          </a:p>
        </p:txBody>
      </p:sp>
      <p:sp>
        <p:nvSpPr>
          <p:cNvPr id="67" name="Text 60"/>
          <p:cNvSpPr txBox="1"/>
          <p:nvPr/>
        </p:nvSpPr>
        <p:spPr>
          <a:xfrm>
            <a:off x="676656" y="6016752"/>
            <a:ext cx="109728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THE GAP</a:t>
            </a:r>
            <a:endParaRPr lang="en-US" sz="900" dirty="0"/>
          </a:p>
        </p:txBody>
      </p:sp>
      <p:sp>
        <p:nvSpPr>
          <p:cNvPr id="68" name="Text 61"/>
          <p:cNvSpPr txBox="1"/>
          <p:nvPr/>
        </p:nvSpPr>
        <p:spPr>
          <a:xfrm>
            <a:off x="1691640" y="5907024"/>
            <a:ext cx="9875520" cy="402336"/>
          </a:xfrm>
          <a:prstGeom prst="rect">
            <a:avLst/>
          </a:prstGeom>
          <a:noFill/>
          <a:ln/>
        </p:spPr>
        <p:txBody>
          <a:bodyPr wrap="square" lIns="0" tIns="0" rIns="0" bIns="0" rtlCol="0" anchor="ctr"/>
          <a:lstStyle/>
          <a:p>
            <a:pPr marL="0" indent="0">
              <a:buNone/>
            </a:pPr>
            <a:r>
              <a:rPr lang="en-US" sz="1300" dirty="0">
                <a:solidFill>
                  <a:srgbClr val="FFFFFF"/>
                </a:solidFill>
                <a:latin typeface="Inter" pitchFamily="34" charset="0"/>
                <a:ea typeface="Inter" pitchFamily="34" charset="-122"/>
                <a:cs typeface="Inter" pitchFamily="34" charset="-120"/>
              </a:rPr>
              <a:t>Today’s platforms list opportunities. None of them prove which ones are real, or get students ready for them.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3 / 7  ·  PROPOSED SOLUTION</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Proposed Solution</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Sangam: one verified network where all five players of PS 2 meet, and talent and ideas turn into jobs and ventures.</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3</a:t>
            </a:r>
            <a:endParaRPr lang="en-US" sz="1400" dirty="0"/>
          </a:p>
        </p:txBody>
      </p:sp>
      <p:sp>
        <p:nvSpPr>
          <p:cNvPr id="12" name="Text 9"/>
          <p:cNvSpPr txBox="1"/>
          <p:nvPr/>
        </p:nvSpPr>
        <p:spPr>
          <a:xfrm>
            <a:off x="457200" y="1755648"/>
            <a:ext cx="420624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SOLUTION OVERVIEW</a:t>
            </a:r>
            <a:endParaRPr lang="en-US" sz="900" dirty="0"/>
          </a:p>
        </p:txBody>
      </p:sp>
      <p:sp>
        <p:nvSpPr>
          <p:cNvPr id="13" name="Text 10"/>
          <p:cNvSpPr txBox="1"/>
          <p:nvPr/>
        </p:nvSpPr>
        <p:spPr>
          <a:xfrm>
            <a:off x="457200" y="1993392"/>
            <a:ext cx="4389120" cy="1325880"/>
          </a:xfrm>
          <a:prstGeom prst="rect">
            <a:avLst/>
          </a:prstGeom>
          <a:noFill/>
          <a:ln/>
        </p:spPr>
        <p:txBody>
          <a:bodyPr wrap="square" lIns="0" tIns="0" rIns="0" bIns="0" rtlCol="0" anchor="t"/>
          <a:lstStyle/>
          <a:p>
            <a:pPr marL="0" indent="0">
              <a:lnSpc>
                <a:spcPct val="108000"/>
              </a:lnSpc>
              <a:buNone/>
            </a:pPr>
            <a:r>
              <a:rPr lang="en-US" sz="1050" dirty="0">
                <a:solidFill>
                  <a:srgbClr val="545B69"/>
                </a:solidFill>
                <a:latin typeface="Inter" pitchFamily="34" charset="0"/>
                <a:ea typeface="Inter" pitchFamily="34" charset="-122"/>
                <a:cs typeface="Inter" pitchFamily="34" charset="-120"/>
              </a:rPr>
              <a:t>Everyone builds one smart profile and picks a role. An AI feed matches each person to openings, co-founders and mentors, and explains why. If a student isn’t ready, Sangam shows the exact skill gap and a free path to close it. Founders test ideas with community polls before building. Every recruiter carries a Hire-Proof Score, built from hires that candidates themselves confirm.</a:t>
            </a:r>
            <a:endParaRPr lang="en-US" sz="1050" dirty="0"/>
          </a:p>
        </p:txBody>
      </p:sp>
      <p:sp>
        <p:nvSpPr>
          <p:cNvPr id="14" name="Text 11"/>
          <p:cNvSpPr txBox="1"/>
          <p:nvPr/>
        </p:nvSpPr>
        <p:spPr>
          <a:xfrm>
            <a:off x="457200" y="3419856"/>
            <a:ext cx="420624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HOW SANGAM MAPS TO PS 2</a:t>
            </a:r>
            <a:endParaRPr lang="en-US" sz="900" dirty="0"/>
          </a:p>
        </p:txBody>
      </p:sp>
      <p:sp>
        <p:nvSpPr>
          <p:cNvPr id="15" name="Text 12"/>
          <p:cNvSpPr txBox="1"/>
          <p:nvPr/>
        </p:nvSpPr>
        <p:spPr>
          <a:xfrm>
            <a:off x="457200" y="3657600"/>
            <a:ext cx="1371600" cy="182880"/>
          </a:xfrm>
          <a:prstGeom prst="rect">
            <a:avLst/>
          </a:prstGeom>
          <a:noFill/>
          <a:ln/>
        </p:spPr>
        <p:txBody>
          <a:bodyPr wrap="square" lIns="0" tIns="0" rIns="0" bIns="0" rtlCol="0" anchor="ctr"/>
          <a:lstStyle/>
          <a:p>
            <a:pPr marL="0" indent="0">
              <a:buNone/>
            </a:pPr>
            <a:r>
              <a:rPr lang="en-US" sz="800" b="1" kern="0" spc="150" dirty="0">
                <a:solidFill>
                  <a:srgbClr val="8B919D"/>
                </a:solidFill>
                <a:latin typeface="Inter" pitchFamily="34" charset="0"/>
                <a:ea typeface="Inter" pitchFamily="34" charset="-122"/>
                <a:cs typeface="Inter" pitchFamily="34" charset="-120"/>
              </a:rPr>
              <a:t>CONNECTS</a:t>
            </a:r>
            <a:endParaRPr lang="en-US" sz="800" dirty="0"/>
          </a:p>
        </p:txBody>
      </p:sp>
      <p:sp>
        <p:nvSpPr>
          <p:cNvPr id="16" name="Text 13"/>
          <p:cNvSpPr txBox="1"/>
          <p:nvPr/>
        </p:nvSpPr>
        <p:spPr>
          <a:xfrm>
            <a:off x="3584448" y="3657600"/>
            <a:ext cx="1371600" cy="182880"/>
          </a:xfrm>
          <a:prstGeom prst="rect">
            <a:avLst/>
          </a:prstGeom>
          <a:noFill/>
          <a:ln/>
        </p:spPr>
        <p:txBody>
          <a:bodyPr wrap="square" lIns="0" tIns="0" rIns="0" bIns="0" rtlCol="0" anchor="ctr"/>
          <a:lstStyle/>
          <a:p>
            <a:pPr marL="0" indent="0">
              <a:buNone/>
            </a:pPr>
            <a:r>
              <a:rPr lang="en-US" sz="800" b="1" kern="0" spc="150" dirty="0">
                <a:solidFill>
                  <a:srgbClr val="8B919D"/>
                </a:solidFill>
                <a:latin typeface="Inter" pitchFamily="34" charset="0"/>
                <a:ea typeface="Inter" pitchFamily="34" charset="-122"/>
                <a:cs typeface="Inter" pitchFamily="34" charset="-120"/>
              </a:rPr>
              <a:t>HELPING THEM</a:t>
            </a:r>
            <a:endParaRPr lang="en-US" sz="800" dirty="0"/>
          </a:p>
        </p:txBody>
      </p:sp>
      <p:sp>
        <p:nvSpPr>
          <p:cNvPr id="17" name="Shape 14"/>
          <p:cNvSpPr/>
          <p:nvPr/>
        </p:nvSpPr>
        <p:spPr>
          <a:xfrm>
            <a:off x="457200" y="3913632"/>
            <a:ext cx="1371600" cy="329184"/>
          </a:xfrm>
          <a:prstGeom prst="roundRect">
            <a:avLst>
              <a:gd name="adj" fmla="val 50000"/>
            </a:avLst>
          </a:prstGeom>
          <a:solidFill>
            <a:srgbClr val="FFFFFF"/>
          </a:solidFill>
          <a:ln w="9525">
            <a:solidFill>
              <a:srgbClr val="DCDFE4"/>
            </a:solidFill>
            <a:prstDash val="solid"/>
          </a:ln>
        </p:spPr>
        <p:txBody>
          <a:bodyPr/>
          <a:lstStyle/>
          <a:p>
            <a:endParaRPr lang="en-IN"/>
          </a:p>
        </p:txBody>
      </p:sp>
      <p:pic>
        <p:nvPicPr>
          <p:cNvPr id="18" name="Image 0" descr="preencoded.png"/>
          <p:cNvPicPr>
            <a:picLocks noChangeAspect="1"/>
          </p:cNvPicPr>
          <p:nvPr/>
        </p:nvPicPr>
        <p:blipFill>
          <a:blip r:embed="rId3"/>
          <a:stretch>
            <a:fillRect/>
          </a:stretch>
        </p:blipFill>
        <p:spPr>
          <a:xfrm>
            <a:off x="566928" y="3986784"/>
            <a:ext cx="182880" cy="182880"/>
          </a:xfrm>
          <a:prstGeom prst="rect">
            <a:avLst/>
          </a:prstGeom>
        </p:spPr>
      </p:pic>
      <p:sp>
        <p:nvSpPr>
          <p:cNvPr id="19" name="Text 15"/>
          <p:cNvSpPr txBox="1"/>
          <p:nvPr/>
        </p:nvSpPr>
        <p:spPr>
          <a:xfrm>
            <a:off x="822960" y="3913632"/>
            <a:ext cx="987552" cy="329184"/>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Job seekers</a:t>
            </a:r>
            <a:endParaRPr lang="en-US" sz="950" dirty="0"/>
          </a:p>
        </p:txBody>
      </p:sp>
      <p:sp>
        <p:nvSpPr>
          <p:cNvPr id="20" name="Shape 16"/>
          <p:cNvSpPr/>
          <p:nvPr/>
        </p:nvSpPr>
        <p:spPr>
          <a:xfrm>
            <a:off x="1828800" y="4078224"/>
            <a:ext cx="420624" cy="832104"/>
          </a:xfrm>
          <a:prstGeom prst="line">
            <a:avLst/>
          </a:prstGeom>
          <a:noFill/>
          <a:ln w="9525">
            <a:solidFill>
              <a:srgbClr val="A2A5AC"/>
            </a:solidFill>
            <a:prstDash val="solid"/>
          </a:ln>
        </p:spPr>
        <p:txBody>
          <a:bodyPr/>
          <a:lstStyle/>
          <a:p>
            <a:endParaRPr lang="en-IN"/>
          </a:p>
        </p:txBody>
      </p:sp>
      <p:sp>
        <p:nvSpPr>
          <p:cNvPr id="21" name="Shape 17"/>
          <p:cNvSpPr/>
          <p:nvPr/>
        </p:nvSpPr>
        <p:spPr>
          <a:xfrm>
            <a:off x="457200" y="4370832"/>
            <a:ext cx="1371600" cy="329184"/>
          </a:xfrm>
          <a:prstGeom prst="roundRect">
            <a:avLst>
              <a:gd name="adj" fmla="val 50000"/>
            </a:avLst>
          </a:prstGeom>
          <a:solidFill>
            <a:srgbClr val="FFFFFF"/>
          </a:solidFill>
          <a:ln w="9525">
            <a:solidFill>
              <a:srgbClr val="DCDFE4"/>
            </a:solidFill>
            <a:prstDash val="solid"/>
          </a:ln>
        </p:spPr>
        <p:txBody>
          <a:bodyPr/>
          <a:lstStyle/>
          <a:p>
            <a:endParaRPr lang="en-IN"/>
          </a:p>
        </p:txBody>
      </p:sp>
      <p:pic>
        <p:nvPicPr>
          <p:cNvPr id="22" name="Image 1" descr="preencoded.png"/>
          <p:cNvPicPr>
            <a:picLocks noChangeAspect="1"/>
          </p:cNvPicPr>
          <p:nvPr/>
        </p:nvPicPr>
        <p:blipFill>
          <a:blip r:embed="rId4"/>
          <a:stretch>
            <a:fillRect/>
          </a:stretch>
        </p:blipFill>
        <p:spPr>
          <a:xfrm>
            <a:off x="566928" y="4443984"/>
            <a:ext cx="182880" cy="182880"/>
          </a:xfrm>
          <a:prstGeom prst="rect">
            <a:avLst/>
          </a:prstGeom>
        </p:spPr>
      </p:pic>
      <p:sp>
        <p:nvSpPr>
          <p:cNvPr id="23" name="Text 18"/>
          <p:cNvSpPr txBox="1"/>
          <p:nvPr/>
        </p:nvSpPr>
        <p:spPr>
          <a:xfrm>
            <a:off x="822960" y="4370832"/>
            <a:ext cx="987552" cy="329184"/>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Entrepreneurs</a:t>
            </a:r>
            <a:endParaRPr lang="en-US" sz="950" dirty="0"/>
          </a:p>
        </p:txBody>
      </p:sp>
      <p:sp>
        <p:nvSpPr>
          <p:cNvPr id="24" name="Shape 19"/>
          <p:cNvSpPr/>
          <p:nvPr/>
        </p:nvSpPr>
        <p:spPr>
          <a:xfrm>
            <a:off x="1828800" y="4535424"/>
            <a:ext cx="420624" cy="374904"/>
          </a:xfrm>
          <a:prstGeom prst="line">
            <a:avLst/>
          </a:prstGeom>
          <a:noFill/>
          <a:ln w="9525">
            <a:solidFill>
              <a:srgbClr val="A2A5AC"/>
            </a:solidFill>
            <a:prstDash val="solid"/>
          </a:ln>
        </p:spPr>
        <p:txBody>
          <a:bodyPr/>
          <a:lstStyle/>
          <a:p>
            <a:endParaRPr lang="en-IN"/>
          </a:p>
        </p:txBody>
      </p:sp>
      <p:sp>
        <p:nvSpPr>
          <p:cNvPr id="25" name="Shape 20"/>
          <p:cNvSpPr/>
          <p:nvPr/>
        </p:nvSpPr>
        <p:spPr>
          <a:xfrm>
            <a:off x="457200" y="4828032"/>
            <a:ext cx="1371600" cy="329184"/>
          </a:xfrm>
          <a:prstGeom prst="roundRect">
            <a:avLst>
              <a:gd name="adj" fmla="val 50000"/>
            </a:avLst>
          </a:prstGeom>
          <a:solidFill>
            <a:srgbClr val="FFFFFF"/>
          </a:solidFill>
          <a:ln w="9525">
            <a:solidFill>
              <a:srgbClr val="DCDFE4"/>
            </a:solidFill>
            <a:prstDash val="solid"/>
          </a:ln>
        </p:spPr>
        <p:txBody>
          <a:bodyPr/>
          <a:lstStyle/>
          <a:p>
            <a:endParaRPr lang="en-IN"/>
          </a:p>
        </p:txBody>
      </p:sp>
      <p:pic>
        <p:nvPicPr>
          <p:cNvPr id="26" name="Image 2" descr="preencoded.png"/>
          <p:cNvPicPr>
            <a:picLocks noChangeAspect="1"/>
          </p:cNvPicPr>
          <p:nvPr/>
        </p:nvPicPr>
        <p:blipFill>
          <a:blip r:embed="rId5"/>
          <a:stretch>
            <a:fillRect/>
          </a:stretch>
        </p:blipFill>
        <p:spPr>
          <a:xfrm>
            <a:off x="566928" y="4901184"/>
            <a:ext cx="182880" cy="182880"/>
          </a:xfrm>
          <a:prstGeom prst="rect">
            <a:avLst/>
          </a:prstGeom>
        </p:spPr>
      </p:pic>
      <p:sp>
        <p:nvSpPr>
          <p:cNvPr id="27" name="Text 21"/>
          <p:cNvSpPr txBox="1"/>
          <p:nvPr/>
        </p:nvSpPr>
        <p:spPr>
          <a:xfrm>
            <a:off x="822960" y="4828032"/>
            <a:ext cx="987552" cy="329184"/>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Startups</a:t>
            </a:r>
            <a:endParaRPr lang="en-US" sz="950" dirty="0"/>
          </a:p>
        </p:txBody>
      </p:sp>
      <p:sp>
        <p:nvSpPr>
          <p:cNvPr id="28" name="Shape 22"/>
          <p:cNvSpPr/>
          <p:nvPr/>
        </p:nvSpPr>
        <p:spPr>
          <a:xfrm flipV="1">
            <a:off x="1828800" y="4910328"/>
            <a:ext cx="420624" cy="82296"/>
          </a:xfrm>
          <a:prstGeom prst="line">
            <a:avLst/>
          </a:prstGeom>
          <a:noFill/>
          <a:ln w="9525">
            <a:solidFill>
              <a:srgbClr val="A2A5AC"/>
            </a:solidFill>
            <a:prstDash val="solid"/>
          </a:ln>
        </p:spPr>
        <p:txBody>
          <a:bodyPr/>
          <a:lstStyle/>
          <a:p>
            <a:endParaRPr lang="en-IN"/>
          </a:p>
        </p:txBody>
      </p:sp>
      <p:sp>
        <p:nvSpPr>
          <p:cNvPr id="29" name="Shape 23"/>
          <p:cNvSpPr/>
          <p:nvPr/>
        </p:nvSpPr>
        <p:spPr>
          <a:xfrm>
            <a:off x="457200" y="5285232"/>
            <a:ext cx="1371600" cy="329184"/>
          </a:xfrm>
          <a:prstGeom prst="roundRect">
            <a:avLst>
              <a:gd name="adj" fmla="val 50000"/>
            </a:avLst>
          </a:prstGeom>
          <a:solidFill>
            <a:srgbClr val="FFFFFF"/>
          </a:solidFill>
          <a:ln w="9525">
            <a:solidFill>
              <a:srgbClr val="DCDFE4"/>
            </a:solidFill>
            <a:prstDash val="solid"/>
          </a:ln>
        </p:spPr>
        <p:txBody>
          <a:bodyPr/>
          <a:lstStyle/>
          <a:p>
            <a:endParaRPr lang="en-IN"/>
          </a:p>
        </p:txBody>
      </p:sp>
      <p:pic>
        <p:nvPicPr>
          <p:cNvPr id="30" name="Image 3" descr="preencoded.png"/>
          <p:cNvPicPr>
            <a:picLocks noChangeAspect="1"/>
          </p:cNvPicPr>
          <p:nvPr/>
        </p:nvPicPr>
        <p:blipFill>
          <a:blip r:embed="rId6"/>
          <a:stretch>
            <a:fillRect/>
          </a:stretch>
        </p:blipFill>
        <p:spPr>
          <a:xfrm>
            <a:off x="566928" y="5358384"/>
            <a:ext cx="182880" cy="182880"/>
          </a:xfrm>
          <a:prstGeom prst="rect">
            <a:avLst/>
          </a:prstGeom>
        </p:spPr>
      </p:pic>
      <p:sp>
        <p:nvSpPr>
          <p:cNvPr id="31" name="Text 24"/>
          <p:cNvSpPr txBox="1"/>
          <p:nvPr/>
        </p:nvSpPr>
        <p:spPr>
          <a:xfrm>
            <a:off x="822960" y="5285232"/>
            <a:ext cx="987552" cy="329184"/>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Mentors</a:t>
            </a:r>
            <a:endParaRPr lang="en-US" sz="950" dirty="0"/>
          </a:p>
        </p:txBody>
      </p:sp>
      <p:sp>
        <p:nvSpPr>
          <p:cNvPr id="32" name="Shape 25"/>
          <p:cNvSpPr/>
          <p:nvPr/>
        </p:nvSpPr>
        <p:spPr>
          <a:xfrm flipV="1">
            <a:off x="1828800" y="4910328"/>
            <a:ext cx="420624" cy="539496"/>
          </a:xfrm>
          <a:prstGeom prst="line">
            <a:avLst/>
          </a:prstGeom>
          <a:noFill/>
          <a:ln w="9525">
            <a:solidFill>
              <a:srgbClr val="A2A5AC"/>
            </a:solidFill>
            <a:prstDash val="solid"/>
          </a:ln>
        </p:spPr>
        <p:txBody>
          <a:bodyPr/>
          <a:lstStyle/>
          <a:p>
            <a:endParaRPr lang="en-IN"/>
          </a:p>
        </p:txBody>
      </p:sp>
      <p:sp>
        <p:nvSpPr>
          <p:cNvPr id="33" name="Shape 26"/>
          <p:cNvSpPr/>
          <p:nvPr/>
        </p:nvSpPr>
        <p:spPr>
          <a:xfrm>
            <a:off x="457200" y="5742432"/>
            <a:ext cx="1371600" cy="329184"/>
          </a:xfrm>
          <a:prstGeom prst="roundRect">
            <a:avLst>
              <a:gd name="adj" fmla="val 50000"/>
            </a:avLst>
          </a:prstGeom>
          <a:solidFill>
            <a:srgbClr val="FFFFFF"/>
          </a:solidFill>
          <a:ln w="9525">
            <a:solidFill>
              <a:srgbClr val="DCDFE4"/>
            </a:solidFill>
            <a:prstDash val="solid"/>
          </a:ln>
        </p:spPr>
        <p:txBody>
          <a:bodyPr/>
          <a:lstStyle/>
          <a:p>
            <a:endParaRPr lang="en-IN"/>
          </a:p>
        </p:txBody>
      </p:sp>
      <p:pic>
        <p:nvPicPr>
          <p:cNvPr id="34" name="Image 4" descr="preencoded.png"/>
          <p:cNvPicPr>
            <a:picLocks noChangeAspect="1"/>
          </p:cNvPicPr>
          <p:nvPr/>
        </p:nvPicPr>
        <p:blipFill>
          <a:blip r:embed="rId7"/>
          <a:stretch>
            <a:fillRect/>
          </a:stretch>
        </p:blipFill>
        <p:spPr>
          <a:xfrm>
            <a:off x="566928" y="5815584"/>
            <a:ext cx="182880" cy="182880"/>
          </a:xfrm>
          <a:prstGeom prst="rect">
            <a:avLst/>
          </a:prstGeom>
        </p:spPr>
      </p:pic>
      <p:sp>
        <p:nvSpPr>
          <p:cNvPr id="35" name="Text 27"/>
          <p:cNvSpPr txBox="1"/>
          <p:nvPr/>
        </p:nvSpPr>
        <p:spPr>
          <a:xfrm>
            <a:off x="822960" y="5742432"/>
            <a:ext cx="987552" cy="329184"/>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Recruiters</a:t>
            </a:r>
            <a:endParaRPr lang="en-US" sz="950" dirty="0"/>
          </a:p>
        </p:txBody>
      </p:sp>
      <p:sp>
        <p:nvSpPr>
          <p:cNvPr id="36" name="Shape 28"/>
          <p:cNvSpPr/>
          <p:nvPr/>
        </p:nvSpPr>
        <p:spPr>
          <a:xfrm flipV="1">
            <a:off x="1828800" y="4910328"/>
            <a:ext cx="420624" cy="996696"/>
          </a:xfrm>
          <a:prstGeom prst="line">
            <a:avLst/>
          </a:prstGeom>
          <a:noFill/>
          <a:ln w="9525">
            <a:solidFill>
              <a:srgbClr val="A2A5AC"/>
            </a:solidFill>
            <a:prstDash val="solid"/>
          </a:ln>
        </p:spPr>
        <p:txBody>
          <a:bodyPr/>
          <a:lstStyle/>
          <a:p>
            <a:endParaRPr lang="en-IN"/>
          </a:p>
        </p:txBody>
      </p:sp>
      <p:sp>
        <p:nvSpPr>
          <p:cNvPr id="37" name="Shape 29"/>
          <p:cNvSpPr/>
          <p:nvPr/>
        </p:nvSpPr>
        <p:spPr>
          <a:xfrm>
            <a:off x="2212848" y="4334256"/>
            <a:ext cx="1152144" cy="1152144"/>
          </a:xfrm>
          <a:prstGeom prst="ellipse">
            <a:avLst/>
          </a:prstGeom>
          <a:solidFill>
            <a:srgbClr val="14161C"/>
          </a:solidFill>
          <a:ln/>
        </p:spPr>
        <p:txBody>
          <a:bodyPr/>
          <a:lstStyle/>
          <a:p>
            <a:endParaRPr lang="en-IN"/>
          </a:p>
        </p:txBody>
      </p:sp>
      <p:sp>
        <p:nvSpPr>
          <p:cNvPr id="38" name="Shape 30"/>
          <p:cNvSpPr/>
          <p:nvPr/>
        </p:nvSpPr>
        <p:spPr>
          <a:xfrm>
            <a:off x="2673523" y="4489704"/>
            <a:ext cx="201168" cy="201168"/>
          </a:xfrm>
          <a:prstGeom prst="ellipse">
            <a:avLst/>
          </a:prstGeom>
          <a:solidFill>
            <a:srgbClr val="4F6BFF">
              <a:alpha val="95000"/>
            </a:srgbClr>
          </a:solidFill>
          <a:ln/>
        </p:spPr>
        <p:txBody>
          <a:bodyPr/>
          <a:lstStyle/>
          <a:p>
            <a:endParaRPr lang="en-IN"/>
          </a:p>
        </p:txBody>
      </p:sp>
      <p:sp>
        <p:nvSpPr>
          <p:cNvPr id="39" name="Shape 31"/>
          <p:cNvSpPr/>
          <p:nvPr/>
        </p:nvSpPr>
        <p:spPr>
          <a:xfrm>
            <a:off x="2615184" y="4590747"/>
            <a:ext cx="201168" cy="201168"/>
          </a:xfrm>
          <a:prstGeom prst="ellipse">
            <a:avLst/>
          </a:prstGeom>
          <a:solidFill>
            <a:srgbClr val="F5A524">
              <a:alpha val="95000"/>
            </a:srgbClr>
          </a:solidFill>
          <a:ln/>
        </p:spPr>
        <p:txBody>
          <a:bodyPr/>
          <a:lstStyle/>
          <a:p>
            <a:endParaRPr lang="en-IN"/>
          </a:p>
        </p:txBody>
      </p:sp>
      <p:sp>
        <p:nvSpPr>
          <p:cNvPr id="40" name="Shape 32"/>
          <p:cNvSpPr/>
          <p:nvPr/>
        </p:nvSpPr>
        <p:spPr>
          <a:xfrm>
            <a:off x="2731861" y="4590747"/>
            <a:ext cx="201168" cy="201168"/>
          </a:xfrm>
          <a:prstGeom prst="ellipse">
            <a:avLst/>
          </a:prstGeom>
          <a:solidFill>
            <a:srgbClr val="22C38E">
              <a:alpha val="95000"/>
            </a:srgbClr>
          </a:solidFill>
          <a:ln/>
        </p:spPr>
        <p:txBody>
          <a:bodyPr/>
          <a:lstStyle/>
          <a:p>
            <a:endParaRPr lang="en-IN"/>
          </a:p>
        </p:txBody>
      </p:sp>
      <p:sp>
        <p:nvSpPr>
          <p:cNvPr id="41" name="Text 33"/>
          <p:cNvSpPr txBox="1"/>
          <p:nvPr/>
        </p:nvSpPr>
        <p:spPr>
          <a:xfrm>
            <a:off x="2212848" y="4855464"/>
            <a:ext cx="1152144"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Inter" pitchFamily="34" charset="0"/>
                <a:ea typeface="Inter" pitchFamily="34" charset="-122"/>
                <a:cs typeface="Inter" pitchFamily="34" charset="-120"/>
              </a:rPr>
              <a:t>Sangam</a:t>
            </a:r>
            <a:endParaRPr lang="en-US" sz="1200" dirty="0"/>
          </a:p>
        </p:txBody>
      </p:sp>
      <p:sp>
        <p:nvSpPr>
          <p:cNvPr id="42" name="Text 34"/>
          <p:cNvSpPr txBox="1"/>
          <p:nvPr/>
        </p:nvSpPr>
        <p:spPr>
          <a:xfrm>
            <a:off x="2212848" y="5084064"/>
            <a:ext cx="1152144" cy="164592"/>
          </a:xfrm>
          <a:prstGeom prst="rect">
            <a:avLst/>
          </a:prstGeom>
          <a:noFill/>
          <a:ln/>
        </p:spPr>
        <p:txBody>
          <a:bodyPr wrap="square" lIns="0" tIns="0" rIns="0" bIns="0" rtlCol="0" anchor="ctr"/>
          <a:lstStyle/>
          <a:p>
            <a:pPr marL="0" indent="0" algn="ctr">
              <a:buNone/>
            </a:pPr>
            <a:r>
              <a:rPr lang="en-US" sz="700" dirty="0">
                <a:solidFill>
                  <a:srgbClr val="A2A5AC"/>
                </a:solidFill>
                <a:latin typeface="Inter" pitchFamily="34" charset="0"/>
                <a:ea typeface="Inter" pitchFamily="34" charset="-122"/>
                <a:cs typeface="Inter" pitchFamily="34" charset="-120"/>
              </a:rPr>
              <a:t>one verified network</a:t>
            </a:r>
            <a:endParaRPr lang="en-US" sz="700" dirty="0"/>
          </a:p>
        </p:txBody>
      </p:sp>
      <p:sp>
        <p:nvSpPr>
          <p:cNvPr id="43" name="Text 35"/>
          <p:cNvSpPr txBox="1"/>
          <p:nvPr/>
        </p:nvSpPr>
        <p:spPr>
          <a:xfrm>
            <a:off x="3584448" y="3895344"/>
            <a:ext cx="1261872" cy="566928"/>
          </a:xfrm>
          <a:prstGeom prst="roundRect">
            <a:avLst>
              <a:gd name="adj" fmla="val 16129"/>
            </a:avLst>
          </a:prstGeom>
          <a:solidFill>
            <a:srgbClr val="E5482D"/>
          </a:solidFill>
          <a:ln/>
        </p:spPr>
        <p:txBody>
          <a:bodyPr wrap="square" lIns="50800" tIns="50800" rIns="50800" bIns="5080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Discover opportunities</a:t>
            </a:r>
            <a:endParaRPr lang="en-US" sz="950" dirty="0"/>
          </a:p>
        </p:txBody>
      </p:sp>
      <p:sp>
        <p:nvSpPr>
          <p:cNvPr id="44" name="Shape 36"/>
          <p:cNvSpPr/>
          <p:nvPr/>
        </p:nvSpPr>
        <p:spPr>
          <a:xfrm flipV="1">
            <a:off x="3364992" y="4178808"/>
            <a:ext cx="219456" cy="731520"/>
          </a:xfrm>
          <a:prstGeom prst="line">
            <a:avLst/>
          </a:prstGeom>
          <a:noFill/>
          <a:ln w="9525">
            <a:solidFill>
              <a:srgbClr val="A2A5AC"/>
            </a:solidFill>
            <a:prstDash val="solid"/>
            <a:tailEnd type="triangle"/>
          </a:ln>
        </p:spPr>
        <p:txBody>
          <a:bodyPr/>
          <a:lstStyle/>
          <a:p>
            <a:endParaRPr lang="en-IN"/>
          </a:p>
        </p:txBody>
      </p:sp>
      <p:sp>
        <p:nvSpPr>
          <p:cNvPr id="45" name="Text 37"/>
          <p:cNvSpPr txBox="1"/>
          <p:nvPr/>
        </p:nvSpPr>
        <p:spPr>
          <a:xfrm>
            <a:off x="3584448" y="4626864"/>
            <a:ext cx="1261872" cy="566928"/>
          </a:xfrm>
          <a:prstGeom prst="roundRect">
            <a:avLst>
              <a:gd name="adj" fmla="val 16129"/>
            </a:avLst>
          </a:prstGeom>
          <a:solidFill>
            <a:srgbClr val="3446C9"/>
          </a:solidFill>
          <a:ln/>
        </p:spPr>
        <p:txBody>
          <a:bodyPr wrap="square" lIns="50800" tIns="50800" rIns="50800" bIns="5080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Build skills</a:t>
            </a:r>
            <a:endParaRPr lang="en-US" sz="950" dirty="0"/>
          </a:p>
        </p:txBody>
      </p:sp>
      <p:sp>
        <p:nvSpPr>
          <p:cNvPr id="46" name="Shape 38"/>
          <p:cNvSpPr/>
          <p:nvPr/>
        </p:nvSpPr>
        <p:spPr>
          <a:xfrm>
            <a:off x="3364992" y="4910328"/>
            <a:ext cx="219456" cy="0"/>
          </a:xfrm>
          <a:prstGeom prst="line">
            <a:avLst/>
          </a:prstGeom>
          <a:noFill/>
          <a:ln w="9525">
            <a:solidFill>
              <a:srgbClr val="A2A5AC"/>
            </a:solidFill>
            <a:prstDash val="solid"/>
            <a:tailEnd type="triangle"/>
          </a:ln>
        </p:spPr>
        <p:txBody>
          <a:bodyPr/>
          <a:lstStyle/>
          <a:p>
            <a:endParaRPr lang="en-IN"/>
          </a:p>
        </p:txBody>
      </p:sp>
      <p:sp>
        <p:nvSpPr>
          <p:cNvPr id="47" name="Text 39"/>
          <p:cNvSpPr txBox="1"/>
          <p:nvPr/>
        </p:nvSpPr>
        <p:spPr>
          <a:xfrm>
            <a:off x="3584448" y="5358384"/>
            <a:ext cx="1261872" cy="566928"/>
          </a:xfrm>
          <a:prstGeom prst="roundRect">
            <a:avLst>
              <a:gd name="adj" fmla="val 16129"/>
            </a:avLst>
          </a:prstGeom>
          <a:solidFill>
            <a:srgbClr val="0F7A5A"/>
          </a:solidFill>
          <a:ln/>
        </p:spPr>
        <p:txBody>
          <a:bodyPr wrap="square" lIns="50800" tIns="50800" rIns="50800" bIns="50800" rtlCol="0" anchor="ctr"/>
          <a:lstStyle/>
          <a:p>
            <a:pPr marL="0" indent="0" algn="ctr">
              <a:buNone/>
            </a:pPr>
            <a:r>
              <a:rPr lang="en-US" sz="950" b="1" dirty="0">
                <a:solidFill>
                  <a:srgbClr val="FFFFFF"/>
                </a:solidFill>
                <a:latin typeface="Inter" pitchFamily="34" charset="0"/>
                <a:ea typeface="Inter" pitchFamily="34" charset="-122"/>
                <a:cs typeface="Inter" pitchFamily="34" charset="-120"/>
              </a:rPr>
              <a:t>Turn ideas into ventures</a:t>
            </a:r>
            <a:endParaRPr lang="en-US" sz="950" dirty="0"/>
          </a:p>
        </p:txBody>
      </p:sp>
      <p:sp>
        <p:nvSpPr>
          <p:cNvPr id="48" name="Shape 40"/>
          <p:cNvSpPr/>
          <p:nvPr/>
        </p:nvSpPr>
        <p:spPr>
          <a:xfrm>
            <a:off x="3364992" y="4910328"/>
            <a:ext cx="219456" cy="731520"/>
          </a:xfrm>
          <a:prstGeom prst="line">
            <a:avLst/>
          </a:prstGeom>
          <a:noFill/>
          <a:ln w="9525">
            <a:solidFill>
              <a:srgbClr val="A2A5AC"/>
            </a:solidFill>
            <a:prstDash val="solid"/>
            <a:tailEnd type="triangle"/>
          </a:ln>
        </p:spPr>
        <p:txBody>
          <a:bodyPr/>
          <a:lstStyle/>
          <a:p>
            <a:endParaRPr lang="en-IN"/>
          </a:p>
        </p:txBody>
      </p:sp>
      <p:sp>
        <p:nvSpPr>
          <p:cNvPr id="49" name="Text 41"/>
          <p:cNvSpPr txBox="1"/>
          <p:nvPr/>
        </p:nvSpPr>
        <p:spPr>
          <a:xfrm>
            <a:off x="5138928" y="1755648"/>
            <a:ext cx="36576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KEY FEATURES</a:t>
            </a:r>
            <a:endParaRPr lang="en-US" sz="900" dirty="0"/>
          </a:p>
        </p:txBody>
      </p:sp>
      <p:sp>
        <p:nvSpPr>
          <p:cNvPr id="50" name="Shape 42"/>
          <p:cNvSpPr/>
          <p:nvPr/>
        </p:nvSpPr>
        <p:spPr>
          <a:xfrm>
            <a:off x="5138928" y="20299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51" name="Image 5" descr="preencoded.png"/>
          <p:cNvPicPr>
            <a:picLocks noChangeAspect="1"/>
          </p:cNvPicPr>
          <p:nvPr/>
        </p:nvPicPr>
        <p:blipFill>
          <a:blip r:embed="rId8"/>
          <a:stretch>
            <a:fillRect/>
          </a:stretch>
        </p:blipFill>
        <p:spPr>
          <a:xfrm>
            <a:off x="5230368" y="2121408"/>
            <a:ext cx="219456" cy="219456"/>
          </a:xfrm>
          <a:prstGeom prst="rect">
            <a:avLst/>
          </a:prstGeom>
        </p:spPr>
      </p:pic>
      <p:sp>
        <p:nvSpPr>
          <p:cNvPr id="52" name="Text 43"/>
          <p:cNvSpPr txBox="1"/>
          <p:nvPr/>
        </p:nvSpPr>
        <p:spPr>
          <a:xfrm>
            <a:off x="5650992" y="2011680"/>
            <a:ext cx="2697480" cy="164592"/>
          </a:xfrm>
          <a:prstGeom prst="rect">
            <a:avLst/>
          </a:prstGeom>
          <a:noFill/>
          <a:ln/>
        </p:spPr>
        <p:txBody>
          <a:bodyPr wrap="square" lIns="0" tIns="0" rIns="0" bIns="0" rtlCol="0" anchor="ctr"/>
          <a:lstStyle/>
          <a:p>
            <a:pPr marL="0" indent="0">
              <a:buNone/>
            </a:pPr>
            <a:r>
              <a:rPr lang="en-US" sz="800" b="1" kern="0" spc="100" dirty="0">
                <a:solidFill>
                  <a:srgbClr val="3446C9"/>
                </a:solidFill>
                <a:latin typeface="Inter" pitchFamily="34" charset="0"/>
                <a:ea typeface="Inter" pitchFamily="34" charset="-122"/>
                <a:cs typeface="Inter" pitchFamily="34" charset="-120"/>
              </a:rPr>
              <a:t>CONNECT</a:t>
            </a:r>
            <a:endParaRPr lang="en-US" sz="800" dirty="0"/>
          </a:p>
        </p:txBody>
      </p:sp>
      <p:sp>
        <p:nvSpPr>
          <p:cNvPr id="53" name="Text 44"/>
          <p:cNvSpPr txBox="1"/>
          <p:nvPr/>
        </p:nvSpPr>
        <p:spPr>
          <a:xfrm>
            <a:off x="5650992" y="21762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One profile, five roles</a:t>
            </a:r>
            <a:endParaRPr lang="en-US" sz="1150" dirty="0"/>
          </a:p>
        </p:txBody>
      </p:sp>
      <p:sp>
        <p:nvSpPr>
          <p:cNvPr id="54" name="Text 45"/>
          <p:cNvSpPr txBox="1"/>
          <p:nvPr/>
        </p:nvSpPr>
        <p:spPr>
          <a:xfrm>
            <a:off x="5650992" y="24231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Job seeker, founder, startup, mentor or recruiter. A college or company email unlocks a verified badge.</a:t>
            </a:r>
            <a:endParaRPr lang="en-US" sz="900" dirty="0"/>
          </a:p>
        </p:txBody>
      </p:sp>
      <p:sp>
        <p:nvSpPr>
          <p:cNvPr id="55" name="Shape 46"/>
          <p:cNvSpPr/>
          <p:nvPr/>
        </p:nvSpPr>
        <p:spPr>
          <a:xfrm>
            <a:off x="8467344" y="20299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56" name="Image 6" descr="preencoded.png"/>
          <p:cNvPicPr>
            <a:picLocks noChangeAspect="1"/>
          </p:cNvPicPr>
          <p:nvPr/>
        </p:nvPicPr>
        <p:blipFill>
          <a:blip r:embed="rId9"/>
          <a:stretch>
            <a:fillRect/>
          </a:stretch>
        </p:blipFill>
        <p:spPr>
          <a:xfrm>
            <a:off x="8558784" y="2121408"/>
            <a:ext cx="219456" cy="219456"/>
          </a:xfrm>
          <a:prstGeom prst="rect">
            <a:avLst/>
          </a:prstGeom>
        </p:spPr>
      </p:pic>
      <p:sp>
        <p:nvSpPr>
          <p:cNvPr id="57" name="Text 47"/>
          <p:cNvSpPr txBox="1"/>
          <p:nvPr/>
        </p:nvSpPr>
        <p:spPr>
          <a:xfrm>
            <a:off x="8979408" y="2011680"/>
            <a:ext cx="2697480" cy="164592"/>
          </a:xfrm>
          <a:prstGeom prst="rect">
            <a:avLst/>
          </a:prstGeom>
          <a:noFill/>
          <a:ln/>
        </p:spPr>
        <p:txBody>
          <a:bodyPr wrap="square" lIns="0" tIns="0" rIns="0" bIns="0" rtlCol="0" anchor="ctr"/>
          <a:lstStyle/>
          <a:p>
            <a:pPr marL="0" indent="0">
              <a:buNone/>
            </a:pPr>
            <a:r>
              <a:rPr lang="en-US" sz="800" b="1" kern="0" spc="100" dirty="0">
                <a:solidFill>
                  <a:srgbClr val="E5482D"/>
                </a:solidFill>
                <a:latin typeface="Inter" pitchFamily="34" charset="0"/>
                <a:ea typeface="Inter" pitchFamily="34" charset="-122"/>
                <a:cs typeface="Inter" pitchFamily="34" charset="-120"/>
              </a:rPr>
              <a:t>DISCOVER OPPORTUNITIES</a:t>
            </a:r>
            <a:endParaRPr lang="en-US" sz="800" dirty="0"/>
          </a:p>
        </p:txBody>
      </p:sp>
      <p:sp>
        <p:nvSpPr>
          <p:cNvPr id="58" name="Text 48"/>
          <p:cNvSpPr txBox="1"/>
          <p:nvPr/>
        </p:nvSpPr>
        <p:spPr>
          <a:xfrm>
            <a:off x="8979408" y="21762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AI opportunity feed</a:t>
            </a:r>
            <a:endParaRPr lang="en-US" sz="1150" dirty="0"/>
          </a:p>
        </p:txBody>
      </p:sp>
      <p:sp>
        <p:nvSpPr>
          <p:cNvPr id="59" name="Text 49"/>
          <p:cNvSpPr txBox="1"/>
          <p:nvPr/>
        </p:nvSpPr>
        <p:spPr>
          <a:xfrm>
            <a:off x="8979408" y="24231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Jobs, internships, gigs, hackathons, co-founder calls and govt schemes, ranked by match % with reasons.</a:t>
            </a:r>
            <a:endParaRPr lang="en-US" sz="900" dirty="0"/>
          </a:p>
        </p:txBody>
      </p:sp>
      <p:sp>
        <p:nvSpPr>
          <p:cNvPr id="60" name="Shape 50"/>
          <p:cNvSpPr/>
          <p:nvPr/>
        </p:nvSpPr>
        <p:spPr>
          <a:xfrm>
            <a:off x="5138928" y="29443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61" name="Image 7" descr="preencoded.png"/>
          <p:cNvPicPr>
            <a:picLocks noChangeAspect="1"/>
          </p:cNvPicPr>
          <p:nvPr/>
        </p:nvPicPr>
        <p:blipFill>
          <a:blip r:embed="rId10"/>
          <a:stretch>
            <a:fillRect/>
          </a:stretch>
        </p:blipFill>
        <p:spPr>
          <a:xfrm>
            <a:off x="5230368" y="3035808"/>
            <a:ext cx="219456" cy="219456"/>
          </a:xfrm>
          <a:prstGeom prst="rect">
            <a:avLst/>
          </a:prstGeom>
        </p:spPr>
      </p:pic>
      <p:sp>
        <p:nvSpPr>
          <p:cNvPr id="62" name="Text 51"/>
          <p:cNvSpPr txBox="1"/>
          <p:nvPr/>
        </p:nvSpPr>
        <p:spPr>
          <a:xfrm>
            <a:off x="5650992" y="2926080"/>
            <a:ext cx="2697480" cy="164592"/>
          </a:xfrm>
          <a:prstGeom prst="rect">
            <a:avLst/>
          </a:prstGeom>
          <a:noFill/>
          <a:ln/>
        </p:spPr>
        <p:txBody>
          <a:bodyPr wrap="square" lIns="0" tIns="0" rIns="0" bIns="0" rtlCol="0" anchor="ctr"/>
          <a:lstStyle/>
          <a:p>
            <a:pPr marL="0" indent="0">
              <a:buNone/>
            </a:pPr>
            <a:r>
              <a:rPr lang="en-US" sz="800" b="1" kern="0" spc="100" dirty="0">
                <a:solidFill>
                  <a:srgbClr val="E5482D"/>
                </a:solidFill>
                <a:latin typeface="Inter" pitchFamily="34" charset="0"/>
                <a:ea typeface="Inter" pitchFamily="34" charset="-122"/>
                <a:cs typeface="Inter" pitchFamily="34" charset="-120"/>
              </a:rPr>
              <a:t>BUILD SKILLS</a:t>
            </a:r>
            <a:endParaRPr lang="en-US" sz="800" dirty="0"/>
          </a:p>
        </p:txBody>
      </p:sp>
      <p:sp>
        <p:nvSpPr>
          <p:cNvPr id="63" name="Text 52"/>
          <p:cNvSpPr txBox="1"/>
          <p:nvPr/>
        </p:nvSpPr>
        <p:spPr>
          <a:xfrm>
            <a:off x="5650992" y="30906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Skill-Gap Coach</a:t>
            </a:r>
            <a:endParaRPr lang="en-US" sz="1150" dirty="0"/>
          </a:p>
        </p:txBody>
      </p:sp>
      <p:sp>
        <p:nvSpPr>
          <p:cNvPr id="64" name="Text 53"/>
          <p:cNvSpPr txBox="1"/>
          <p:nvPr/>
        </p:nvSpPr>
        <p:spPr>
          <a:xfrm>
            <a:off x="5650992" y="33375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Compares you with the role you want, then gives a free 2-week path (NPTEL, SWAYAM, YouTube) and a proof task.</a:t>
            </a:r>
            <a:endParaRPr lang="en-US" sz="900" dirty="0"/>
          </a:p>
        </p:txBody>
      </p:sp>
      <p:sp>
        <p:nvSpPr>
          <p:cNvPr id="65" name="Shape 54"/>
          <p:cNvSpPr/>
          <p:nvPr/>
        </p:nvSpPr>
        <p:spPr>
          <a:xfrm>
            <a:off x="8467344" y="29443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66" name="Image 8" descr="preencoded.png"/>
          <p:cNvPicPr>
            <a:picLocks noChangeAspect="1"/>
          </p:cNvPicPr>
          <p:nvPr/>
        </p:nvPicPr>
        <p:blipFill>
          <a:blip r:embed="rId11"/>
          <a:stretch>
            <a:fillRect/>
          </a:stretch>
        </p:blipFill>
        <p:spPr>
          <a:xfrm>
            <a:off x="8558784" y="3035808"/>
            <a:ext cx="219456" cy="219456"/>
          </a:xfrm>
          <a:prstGeom prst="rect">
            <a:avLst/>
          </a:prstGeom>
        </p:spPr>
      </p:pic>
      <p:sp>
        <p:nvSpPr>
          <p:cNvPr id="67" name="Text 55"/>
          <p:cNvSpPr txBox="1"/>
          <p:nvPr/>
        </p:nvSpPr>
        <p:spPr>
          <a:xfrm>
            <a:off x="8979408" y="2926080"/>
            <a:ext cx="2697480" cy="164592"/>
          </a:xfrm>
          <a:prstGeom prst="rect">
            <a:avLst/>
          </a:prstGeom>
          <a:noFill/>
          <a:ln/>
        </p:spPr>
        <p:txBody>
          <a:bodyPr wrap="square" lIns="0" tIns="0" rIns="0" bIns="0" rtlCol="0" anchor="ctr"/>
          <a:lstStyle/>
          <a:p>
            <a:pPr marL="0" indent="0">
              <a:buNone/>
            </a:pPr>
            <a:r>
              <a:rPr lang="en-US" sz="800" b="1" kern="0" spc="100" dirty="0">
                <a:solidFill>
                  <a:srgbClr val="0F7A5A"/>
                </a:solidFill>
                <a:latin typeface="Inter" pitchFamily="34" charset="0"/>
                <a:ea typeface="Inter" pitchFamily="34" charset="-122"/>
                <a:cs typeface="Inter" pitchFamily="34" charset="-120"/>
              </a:rPr>
              <a:t>IDEAS → VENTURES</a:t>
            </a:r>
            <a:endParaRPr lang="en-US" sz="800" dirty="0"/>
          </a:p>
        </p:txBody>
      </p:sp>
      <p:sp>
        <p:nvSpPr>
          <p:cNvPr id="68" name="Text 56"/>
          <p:cNvSpPr txBox="1"/>
          <p:nvPr/>
        </p:nvSpPr>
        <p:spPr>
          <a:xfrm>
            <a:off x="8979408" y="30906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Idea Lab</a:t>
            </a:r>
            <a:endParaRPr lang="en-US" sz="1150" dirty="0"/>
          </a:p>
        </p:txBody>
      </p:sp>
      <p:sp>
        <p:nvSpPr>
          <p:cNvPr id="69" name="Text 57"/>
          <p:cNvSpPr txBox="1"/>
          <p:nvPr/>
        </p:nvSpPr>
        <p:spPr>
          <a:xfrm>
            <a:off x="8979408" y="33375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Post an idea, get an AI lean-canvas critique, then match co-founders, mentors and Startup India schemes.</a:t>
            </a:r>
            <a:endParaRPr lang="en-US" sz="900" dirty="0"/>
          </a:p>
        </p:txBody>
      </p:sp>
      <p:sp>
        <p:nvSpPr>
          <p:cNvPr id="70" name="Shape 58"/>
          <p:cNvSpPr/>
          <p:nvPr/>
        </p:nvSpPr>
        <p:spPr>
          <a:xfrm>
            <a:off x="5138928" y="38587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71" name="Image 9" descr="preencoded.png"/>
          <p:cNvPicPr>
            <a:picLocks noChangeAspect="1"/>
          </p:cNvPicPr>
          <p:nvPr/>
        </p:nvPicPr>
        <p:blipFill>
          <a:blip r:embed="rId12"/>
          <a:stretch>
            <a:fillRect/>
          </a:stretch>
        </p:blipFill>
        <p:spPr>
          <a:xfrm>
            <a:off x="5230368" y="3950208"/>
            <a:ext cx="219456" cy="219456"/>
          </a:xfrm>
          <a:prstGeom prst="rect">
            <a:avLst/>
          </a:prstGeom>
        </p:spPr>
      </p:pic>
      <p:sp>
        <p:nvSpPr>
          <p:cNvPr id="72" name="Text 59"/>
          <p:cNvSpPr txBox="1"/>
          <p:nvPr/>
        </p:nvSpPr>
        <p:spPr>
          <a:xfrm>
            <a:off x="5650992" y="3840480"/>
            <a:ext cx="2697480" cy="164592"/>
          </a:xfrm>
          <a:prstGeom prst="rect">
            <a:avLst/>
          </a:prstGeom>
          <a:noFill/>
          <a:ln/>
        </p:spPr>
        <p:txBody>
          <a:bodyPr wrap="square" lIns="0" tIns="0" rIns="0" bIns="0" rtlCol="0" anchor="ctr"/>
          <a:lstStyle/>
          <a:p>
            <a:pPr marL="0" indent="0">
              <a:buNone/>
            </a:pPr>
            <a:r>
              <a:rPr lang="en-US" sz="800" b="1" kern="0" spc="100" dirty="0">
                <a:solidFill>
                  <a:srgbClr val="3446C9"/>
                </a:solidFill>
                <a:latin typeface="Inter" pitchFamily="34" charset="0"/>
                <a:ea typeface="Inter" pitchFamily="34" charset="-122"/>
                <a:cs typeface="Inter" pitchFamily="34" charset="-120"/>
              </a:rPr>
              <a:t>COMMUNITY</a:t>
            </a:r>
            <a:endParaRPr lang="en-US" sz="800" dirty="0"/>
          </a:p>
        </p:txBody>
      </p:sp>
      <p:sp>
        <p:nvSpPr>
          <p:cNvPr id="73" name="Text 60"/>
          <p:cNvSpPr txBox="1"/>
          <p:nvPr/>
        </p:nvSpPr>
        <p:spPr>
          <a:xfrm>
            <a:off x="5650992" y="40050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Q&amp;A and feedback</a:t>
            </a:r>
            <a:endParaRPr lang="en-US" sz="1150" dirty="0"/>
          </a:p>
        </p:txBody>
      </p:sp>
      <p:sp>
        <p:nvSpPr>
          <p:cNvPr id="74" name="Text 61"/>
          <p:cNvSpPr txBox="1"/>
          <p:nvPr/>
        </p:nvSpPr>
        <p:spPr>
          <a:xfrm>
            <a:off x="5650992" y="42519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Ask recruiters, mentors and alumni before you apply. Useful answers are upvoted and stay searchable.</a:t>
            </a:r>
            <a:endParaRPr lang="en-US" sz="900" dirty="0"/>
          </a:p>
        </p:txBody>
      </p:sp>
      <p:sp>
        <p:nvSpPr>
          <p:cNvPr id="75" name="Shape 62"/>
          <p:cNvSpPr/>
          <p:nvPr/>
        </p:nvSpPr>
        <p:spPr>
          <a:xfrm>
            <a:off x="8467344" y="38587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76" name="Image 10" descr="preencoded.png"/>
          <p:cNvPicPr>
            <a:picLocks noChangeAspect="1"/>
          </p:cNvPicPr>
          <p:nvPr/>
        </p:nvPicPr>
        <p:blipFill>
          <a:blip r:embed="rId13"/>
          <a:stretch>
            <a:fillRect/>
          </a:stretch>
        </p:blipFill>
        <p:spPr>
          <a:xfrm>
            <a:off x="8558784" y="3950208"/>
            <a:ext cx="219456" cy="219456"/>
          </a:xfrm>
          <a:prstGeom prst="rect">
            <a:avLst/>
          </a:prstGeom>
        </p:spPr>
      </p:pic>
      <p:sp>
        <p:nvSpPr>
          <p:cNvPr id="77" name="Text 63"/>
          <p:cNvSpPr txBox="1"/>
          <p:nvPr/>
        </p:nvSpPr>
        <p:spPr>
          <a:xfrm>
            <a:off x="8979408" y="3840480"/>
            <a:ext cx="2697480" cy="164592"/>
          </a:xfrm>
          <a:prstGeom prst="rect">
            <a:avLst/>
          </a:prstGeom>
          <a:noFill/>
          <a:ln/>
        </p:spPr>
        <p:txBody>
          <a:bodyPr wrap="square" lIns="0" tIns="0" rIns="0" bIns="0" rtlCol="0" anchor="ctr"/>
          <a:lstStyle/>
          <a:p>
            <a:pPr marL="0" indent="0">
              <a:buNone/>
            </a:pPr>
            <a:r>
              <a:rPr lang="en-US" sz="800" b="1" kern="0" spc="100" dirty="0">
                <a:solidFill>
                  <a:srgbClr val="0F7A5A"/>
                </a:solidFill>
                <a:latin typeface="Inter" pitchFamily="34" charset="0"/>
                <a:ea typeface="Inter" pitchFamily="34" charset="-122"/>
                <a:cs typeface="Inter" pitchFamily="34" charset="-120"/>
              </a:rPr>
              <a:t>COMMUNITY</a:t>
            </a:r>
            <a:endParaRPr lang="en-US" sz="800" dirty="0"/>
          </a:p>
        </p:txBody>
      </p:sp>
      <p:sp>
        <p:nvSpPr>
          <p:cNvPr id="78" name="Text 64"/>
          <p:cNvSpPr txBox="1"/>
          <p:nvPr/>
        </p:nvSpPr>
        <p:spPr>
          <a:xfrm>
            <a:off x="8979408" y="40050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Live polls</a:t>
            </a:r>
            <a:endParaRPr lang="en-US" sz="1150" dirty="0"/>
          </a:p>
        </p:txBody>
      </p:sp>
      <p:sp>
        <p:nvSpPr>
          <p:cNvPr id="79" name="Text 65"/>
          <p:cNvSpPr txBox="1"/>
          <p:nvPr/>
        </p:nvSpPr>
        <p:spPr>
          <a:xfrm>
            <a:off x="8979408" y="42519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“Would you use it?” and “Would you pay?” for ideas; “Was the interview fair?” after hiring rounds.</a:t>
            </a:r>
            <a:endParaRPr lang="en-US" sz="900" dirty="0"/>
          </a:p>
        </p:txBody>
      </p:sp>
      <p:sp>
        <p:nvSpPr>
          <p:cNvPr id="80" name="Shape 66"/>
          <p:cNvSpPr/>
          <p:nvPr/>
        </p:nvSpPr>
        <p:spPr>
          <a:xfrm>
            <a:off x="5138928" y="47731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81" name="Image 11" descr="preencoded.png"/>
          <p:cNvPicPr>
            <a:picLocks noChangeAspect="1"/>
          </p:cNvPicPr>
          <p:nvPr/>
        </p:nvPicPr>
        <p:blipFill>
          <a:blip r:embed="rId14"/>
          <a:stretch>
            <a:fillRect/>
          </a:stretch>
        </p:blipFill>
        <p:spPr>
          <a:xfrm>
            <a:off x="5230368" y="4864608"/>
            <a:ext cx="219456" cy="219456"/>
          </a:xfrm>
          <a:prstGeom prst="rect">
            <a:avLst/>
          </a:prstGeom>
        </p:spPr>
      </p:pic>
      <p:sp>
        <p:nvSpPr>
          <p:cNvPr id="82" name="Text 67"/>
          <p:cNvSpPr txBox="1"/>
          <p:nvPr/>
        </p:nvSpPr>
        <p:spPr>
          <a:xfrm>
            <a:off x="5650992" y="4754880"/>
            <a:ext cx="2697480" cy="164592"/>
          </a:xfrm>
          <a:prstGeom prst="rect">
            <a:avLst/>
          </a:prstGeom>
          <a:noFill/>
          <a:ln/>
        </p:spPr>
        <p:txBody>
          <a:bodyPr wrap="square" lIns="0" tIns="0" rIns="0" bIns="0" rtlCol="0" anchor="ctr"/>
          <a:lstStyle/>
          <a:p>
            <a:pPr marL="0" indent="0">
              <a:buNone/>
            </a:pPr>
            <a:r>
              <a:rPr lang="en-US" sz="800" b="1" kern="0" spc="100" dirty="0">
                <a:solidFill>
                  <a:srgbClr val="B87503"/>
                </a:solidFill>
                <a:latin typeface="Inter" pitchFamily="34" charset="0"/>
                <a:ea typeface="Inter" pitchFamily="34" charset="-122"/>
                <a:cs typeface="Inter" pitchFamily="34" charset="-120"/>
              </a:rPr>
              <a:t>TRUST</a:t>
            </a:r>
            <a:endParaRPr lang="en-US" sz="800" dirty="0"/>
          </a:p>
        </p:txBody>
      </p:sp>
      <p:sp>
        <p:nvSpPr>
          <p:cNvPr id="83" name="Text 68"/>
          <p:cNvSpPr txBox="1"/>
          <p:nvPr/>
        </p:nvSpPr>
        <p:spPr>
          <a:xfrm>
            <a:off x="5650992" y="49194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Recruiter Reality Check</a:t>
            </a:r>
            <a:endParaRPr lang="en-US" sz="1150" dirty="0"/>
          </a:p>
        </p:txBody>
      </p:sp>
      <p:sp>
        <p:nvSpPr>
          <p:cNvPr id="84" name="Text 69"/>
          <p:cNvSpPr txBox="1"/>
          <p:nvPr/>
        </p:nvSpPr>
        <p:spPr>
          <a:xfrm>
            <a:off x="5650992" y="51663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Hires claimed vs hires confirmed by candidates. Unproven or fee-asking listings are flagged.</a:t>
            </a:r>
            <a:endParaRPr lang="en-US" sz="900" dirty="0"/>
          </a:p>
        </p:txBody>
      </p:sp>
      <p:sp>
        <p:nvSpPr>
          <p:cNvPr id="85" name="Shape 70"/>
          <p:cNvSpPr/>
          <p:nvPr/>
        </p:nvSpPr>
        <p:spPr>
          <a:xfrm>
            <a:off x="8467344" y="47731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86" name="Image 12" descr="preencoded.png"/>
          <p:cNvPicPr>
            <a:picLocks noChangeAspect="1"/>
          </p:cNvPicPr>
          <p:nvPr/>
        </p:nvPicPr>
        <p:blipFill>
          <a:blip r:embed="rId15"/>
          <a:stretch>
            <a:fillRect/>
          </a:stretch>
        </p:blipFill>
        <p:spPr>
          <a:xfrm>
            <a:off x="8558784" y="4864608"/>
            <a:ext cx="219456" cy="219456"/>
          </a:xfrm>
          <a:prstGeom prst="rect">
            <a:avLst/>
          </a:prstGeom>
        </p:spPr>
      </p:pic>
      <p:sp>
        <p:nvSpPr>
          <p:cNvPr id="87" name="Text 71"/>
          <p:cNvSpPr txBox="1"/>
          <p:nvPr/>
        </p:nvSpPr>
        <p:spPr>
          <a:xfrm>
            <a:off x="8979408" y="4754880"/>
            <a:ext cx="2697480" cy="164592"/>
          </a:xfrm>
          <a:prstGeom prst="rect">
            <a:avLst/>
          </a:prstGeom>
          <a:noFill/>
          <a:ln/>
        </p:spPr>
        <p:txBody>
          <a:bodyPr wrap="square" lIns="0" tIns="0" rIns="0" bIns="0" rtlCol="0" anchor="ctr"/>
          <a:lstStyle/>
          <a:p>
            <a:pPr marL="0" indent="0">
              <a:buNone/>
            </a:pPr>
            <a:r>
              <a:rPr lang="en-US" sz="800" b="1" kern="0" spc="100" dirty="0">
                <a:solidFill>
                  <a:srgbClr val="B87503"/>
                </a:solidFill>
                <a:latin typeface="Inter" pitchFamily="34" charset="0"/>
                <a:ea typeface="Inter" pitchFamily="34" charset="-122"/>
                <a:cs typeface="Inter" pitchFamily="34" charset="-120"/>
              </a:rPr>
              <a:t>REVIEW</a:t>
            </a:r>
            <a:endParaRPr lang="en-US" sz="800" dirty="0"/>
          </a:p>
        </p:txBody>
      </p:sp>
      <p:sp>
        <p:nvSpPr>
          <p:cNvPr id="88" name="Text 72"/>
          <p:cNvSpPr txBox="1"/>
          <p:nvPr/>
        </p:nvSpPr>
        <p:spPr>
          <a:xfrm>
            <a:off x="8979408" y="4919472"/>
            <a:ext cx="2697480" cy="237744"/>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Verified reviews</a:t>
            </a:r>
            <a:endParaRPr lang="en-US" sz="1150" dirty="0"/>
          </a:p>
        </p:txBody>
      </p:sp>
      <p:sp>
        <p:nvSpPr>
          <p:cNvPr id="89" name="Text 73"/>
          <p:cNvSpPr txBox="1"/>
          <p:nvPr/>
        </p:nvSpPr>
        <p:spPr>
          <a:xfrm>
            <a:off x="8979408" y="5166360"/>
            <a:ext cx="2697480" cy="457200"/>
          </a:xfrm>
          <a:prstGeom prst="rect">
            <a:avLst/>
          </a:prstGeom>
          <a:noFill/>
          <a:ln/>
        </p:spPr>
        <p:txBody>
          <a:bodyPr wrap="square" lIns="0" tIns="0" rIns="0" bIns="0" rtlCol="0" anchor="t"/>
          <a:lstStyle/>
          <a:p>
            <a:pPr marL="0" indent="0">
              <a:buNone/>
            </a:pPr>
            <a:r>
              <a:rPr lang="en-US" sz="900" dirty="0">
                <a:solidFill>
                  <a:srgbClr val="545B69"/>
                </a:solidFill>
                <a:latin typeface="Inter" pitchFamily="34" charset="0"/>
                <a:ea typeface="Inter" pitchFamily="34" charset="-122"/>
                <a:cs typeface="Inter" pitchFamily="34" charset="-120"/>
              </a:rPr>
              <a:t>Only people who applied, interviewed or interned can rate a recruiter, startup or mentor.</a:t>
            </a:r>
            <a:endParaRPr lang="en-US" sz="900" dirty="0"/>
          </a:p>
        </p:txBody>
      </p:sp>
      <p:sp>
        <p:nvSpPr>
          <p:cNvPr id="90" name="Shape 74"/>
          <p:cNvSpPr/>
          <p:nvPr/>
        </p:nvSpPr>
        <p:spPr>
          <a:xfrm>
            <a:off x="5138928" y="5742432"/>
            <a:ext cx="6592824" cy="566928"/>
          </a:xfrm>
          <a:prstGeom prst="roundRect">
            <a:avLst>
              <a:gd name="adj" fmla="val 16129"/>
            </a:avLst>
          </a:prstGeom>
          <a:solidFill>
            <a:srgbClr val="14161C"/>
          </a:solidFill>
          <a:ln/>
        </p:spPr>
        <p:txBody>
          <a:bodyPr/>
          <a:lstStyle/>
          <a:p>
            <a:endParaRPr lang="en-IN"/>
          </a:p>
        </p:txBody>
      </p:sp>
      <p:pic>
        <p:nvPicPr>
          <p:cNvPr id="91" name="Image 13" descr="preencoded.png"/>
          <p:cNvPicPr>
            <a:picLocks noChangeAspect="1"/>
          </p:cNvPicPr>
          <p:nvPr/>
        </p:nvPicPr>
        <p:blipFill>
          <a:blip r:embed="rId16"/>
          <a:stretch>
            <a:fillRect/>
          </a:stretch>
        </p:blipFill>
        <p:spPr>
          <a:xfrm>
            <a:off x="5321808" y="5897880"/>
            <a:ext cx="256032" cy="256032"/>
          </a:xfrm>
          <a:prstGeom prst="rect">
            <a:avLst/>
          </a:prstGeom>
        </p:spPr>
      </p:pic>
      <p:sp>
        <p:nvSpPr>
          <p:cNvPr id="92" name="Text 75"/>
          <p:cNvSpPr txBox="1"/>
          <p:nvPr/>
        </p:nvSpPr>
        <p:spPr>
          <a:xfrm>
            <a:off x="5669280" y="5934456"/>
            <a:ext cx="914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AI ASSIST</a:t>
            </a:r>
            <a:endParaRPr lang="en-US" sz="900" dirty="0"/>
          </a:p>
        </p:txBody>
      </p:sp>
      <p:sp>
        <p:nvSpPr>
          <p:cNvPr id="93" name="Text 76"/>
          <p:cNvSpPr txBox="1"/>
          <p:nvPr/>
        </p:nvSpPr>
        <p:spPr>
          <a:xfrm>
            <a:off x="6601968" y="5769864"/>
            <a:ext cx="4983480" cy="512064"/>
          </a:xfrm>
          <a:prstGeom prst="rect">
            <a:avLst/>
          </a:prstGeom>
          <a:noFill/>
          <a:ln/>
        </p:spPr>
        <p:txBody>
          <a:bodyPr wrap="square" lIns="0" tIns="0" rIns="0" bIns="0" rtlCol="0" anchor="ctr"/>
          <a:lstStyle/>
          <a:p>
            <a:pPr marL="0" indent="0">
              <a:buNone/>
            </a:pPr>
            <a:r>
              <a:rPr lang="en-US" sz="1000" dirty="0">
                <a:solidFill>
                  <a:srgbClr val="FFFFFF"/>
                </a:solidFill>
                <a:latin typeface="Inter" pitchFamily="34" charset="0"/>
                <a:ea typeface="Inter" pitchFamily="34" charset="-122"/>
                <a:cs typeface="Inter" pitchFamily="34" charset="-120"/>
              </a:rPr>
              <a:t>Match reasons, skill paths, idea critique, scam and ghost-job filter, fake-review guard and review summaries.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4 / 7  ·  SOLUTION FLOW</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Solution Flow</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Every step and every rule (if / else), from sign-up to a verified hire or a validated venture.</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4</a:t>
            </a:r>
            <a:endParaRPr lang="en-US" sz="1400" dirty="0"/>
          </a:p>
        </p:txBody>
      </p:sp>
      <p:sp>
        <p:nvSpPr>
          <p:cNvPr id="12" name="Shape 9"/>
          <p:cNvSpPr/>
          <p:nvPr/>
        </p:nvSpPr>
        <p:spPr>
          <a:xfrm>
            <a:off x="5138928" y="786384"/>
            <a:ext cx="137160" cy="137160"/>
          </a:xfrm>
          <a:prstGeom prst="roundRect">
            <a:avLst>
              <a:gd name="adj" fmla="val 20000"/>
            </a:avLst>
          </a:prstGeom>
          <a:solidFill>
            <a:srgbClr val="3446C9"/>
          </a:solidFill>
          <a:ln/>
        </p:spPr>
        <p:txBody>
          <a:bodyPr/>
          <a:lstStyle/>
          <a:p>
            <a:endParaRPr lang="en-IN"/>
          </a:p>
        </p:txBody>
      </p:sp>
      <p:sp>
        <p:nvSpPr>
          <p:cNvPr id="13" name="Text 10"/>
          <p:cNvSpPr txBox="1"/>
          <p:nvPr/>
        </p:nvSpPr>
        <p:spPr>
          <a:xfrm>
            <a:off x="5330952" y="749808"/>
            <a:ext cx="841248" cy="201168"/>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Join &amp; verify</a:t>
            </a:r>
            <a:endParaRPr lang="en-US" sz="900" dirty="0"/>
          </a:p>
        </p:txBody>
      </p:sp>
      <p:sp>
        <p:nvSpPr>
          <p:cNvPr id="14" name="Shape 11"/>
          <p:cNvSpPr/>
          <p:nvPr/>
        </p:nvSpPr>
        <p:spPr>
          <a:xfrm>
            <a:off x="6373368" y="786384"/>
            <a:ext cx="137160" cy="137160"/>
          </a:xfrm>
          <a:prstGeom prst="roundRect">
            <a:avLst>
              <a:gd name="adj" fmla="val 20000"/>
            </a:avLst>
          </a:prstGeom>
          <a:solidFill>
            <a:srgbClr val="E5482D"/>
          </a:solidFill>
          <a:ln/>
        </p:spPr>
        <p:txBody>
          <a:bodyPr/>
          <a:lstStyle/>
          <a:p>
            <a:endParaRPr lang="en-IN"/>
          </a:p>
        </p:txBody>
      </p:sp>
      <p:sp>
        <p:nvSpPr>
          <p:cNvPr id="15" name="Text 12"/>
          <p:cNvSpPr txBox="1"/>
          <p:nvPr/>
        </p:nvSpPr>
        <p:spPr>
          <a:xfrm>
            <a:off x="6565392" y="749808"/>
            <a:ext cx="1389888" cy="201168"/>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Discover &amp; build skills</a:t>
            </a:r>
            <a:endParaRPr lang="en-US" sz="900" dirty="0"/>
          </a:p>
        </p:txBody>
      </p:sp>
      <p:sp>
        <p:nvSpPr>
          <p:cNvPr id="16" name="Shape 13"/>
          <p:cNvSpPr/>
          <p:nvPr/>
        </p:nvSpPr>
        <p:spPr>
          <a:xfrm>
            <a:off x="8156448" y="786384"/>
            <a:ext cx="137160" cy="137160"/>
          </a:xfrm>
          <a:prstGeom prst="roundRect">
            <a:avLst>
              <a:gd name="adj" fmla="val 20000"/>
            </a:avLst>
          </a:prstGeom>
          <a:solidFill>
            <a:srgbClr val="0F7A5A"/>
          </a:solidFill>
          <a:ln/>
        </p:spPr>
        <p:txBody>
          <a:bodyPr/>
          <a:lstStyle/>
          <a:p>
            <a:endParaRPr lang="en-IN"/>
          </a:p>
        </p:txBody>
      </p:sp>
      <p:sp>
        <p:nvSpPr>
          <p:cNvPr id="17" name="Text 14"/>
          <p:cNvSpPr txBox="1"/>
          <p:nvPr/>
        </p:nvSpPr>
        <p:spPr>
          <a:xfrm>
            <a:off x="8348472" y="749808"/>
            <a:ext cx="1024128" cy="201168"/>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Ideas → ventures</a:t>
            </a:r>
            <a:endParaRPr lang="en-US" sz="900" dirty="0"/>
          </a:p>
        </p:txBody>
      </p:sp>
      <p:sp>
        <p:nvSpPr>
          <p:cNvPr id="18" name="Shape 15"/>
          <p:cNvSpPr/>
          <p:nvPr/>
        </p:nvSpPr>
        <p:spPr>
          <a:xfrm>
            <a:off x="9573768" y="786384"/>
            <a:ext cx="137160" cy="137160"/>
          </a:xfrm>
          <a:prstGeom prst="roundRect">
            <a:avLst>
              <a:gd name="adj" fmla="val 20000"/>
            </a:avLst>
          </a:prstGeom>
          <a:solidFill>
            <a:srgbClr val="B87503"/>
          </a:solidFill>
          <a:ln/>
        </p:spPr>
        <p:txBody>
          <a:bodyPr/>
          <a:lstStyle/>
          <a:p>
            <a:endParaRPr lang="en-IN"/>
          </a:p>
        </p:txBody>
      </p:sp>
      <p:sp>
        <p:nvSpPr>
          <p:cNvPr id="19" name="Text 16"/>
          <p:cNvSpPr txBox="1"/>
          <p:nvPr/>
        </p:nvSpPr>
        <p:spPr>
          <a:xfrm>
            <a:off x="9765792" y="749808"/>
            <a:ext cx="676656" cy="201168"/>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Trust loop</a:t>
            </a:r>
            <a:endParaRPr lang="en-US" sz="900" dirty="0"/>
          </a:p>
        </p:txBody>
      </p:sp>
      <p:sp>
        <p:nvSpPr>
          <p:cNvPr id="20" name="Shape 17"/>
          <p:cNvSpPr/>
          <p:nvPr/>
        </p:nvSpPr>
        <p:spPr>
          <a:xfrm>
            <a:off x="10643616" y="768096"/>
            <a:ext cx="182880" cy="182880"/>
          </a:xfrm>
          <a:prstGeom prst="diamond">
            <a:avLst/>
          </a:prstGeom>
          <a:solidFill>
            <a:srgbClr val="FFFFFF"/>
          </a:solidFill>
          <a:ln w="12700">
            <a:solidFill>
              <a:srgbClr val="14161C"/>
            </a:solidFill>
            <a:prstDash val="solid"/>
          </a:ln>
        </p:spPr>
        <p:txBody>
          <a:bodyPr/>
          <a:lstStyle/>
          <a:p>
            <a:endParaRPr lang="en-IN"/>
          </a:p>
        </p:txBody>
      </p:sp>
      <p:sp>
        <p:nvSpPr>
          <p:cNvPr id="21" name="Text 18"/>
          <p:cNvSpPr txBox="1"/>
          <p:nvPr/>
        </p:nvSpPr>
        <p:spPr>
          <a:xfrm>
            <a:off x="10881360" y="749808"/>
            <a:ext cx="914400" cy="201168"/>
          </a:xfrm>
          <a:prstGeom prst="rect">
            <a:avLst/>
          </a:prstGeom>
          <a:noFill/>
          <a:ln/>
        </p:spPr>
        <p:txBody>
          <a:bodyPr wrap="square" lIns="0" tIns="0" rIns="0" bIns="0" rtlCol="0" anchor="ctr"/>
          <a:lstStyle/>
          <a:p>
            <a:pPr marL="0" indent="0">
              <a:buNone/>
            </a:pPr>
            <a:r>
              <a:rPr lang="en-US" sz="900" dirty="0">
                <a:solidFill>
                  <a:srgbClr val="545B69"/>
                </a:solidFill>
                <a:latin typeface="Inter" pitchFamily="34" charset="0"/>
                <a:ea typeface="Inter" pitchFamily="34" charset="-122"/>
                <a:cs typeface="Inter" pitchFamily="34" charset="-120"/>
              </a:rPr>
              <a:t>Rule (if / else)</a:t>
            </a:r>
            <a:endParaRPr lang="en-US" sz="900" dirty="0"/>
          </a:p>
        </p:txBody>
      </p:sp>
      <p:sp>
        <p:nvSpPr>
          <p:cNvPr id="22" name="Shape 19"/>
          <p:cNvSpPr/>
          <p:nvPr/>
        </p:nvSpPr>
        <p:spPr>
          <a:xfrm>
            <a:off x="457200" y="1700784"/>
            <a:ext cx="11274552" cy="1024128"/>
          </a:xfrm>
          <a:prstGeom prst="roundRect">
            <a:avLst>
              <a:gd name="adj" fmla="val 8929"/>
            </a:avLst>
          </a:prstGeom>
          <a:solidFill>
            <a:srgbClr val="3446C9">
              <a:alpha val="9000"/>
            </a:srgbClr>
          </a:solidFill>
          <a:ln/>
        </p:spPr>
        <p:txBody>
          <a:bodyPr/>
          <a:lstStyle/>
          <a:p>
            <a:endParaRPr lang="en-IN"/>
          </a:p>
        </p:txBody>
      </p:sp>
      <p:sp>
        <p:nvSpPr>
          <p:cNvPr id="23" name="Shape 20"/>
          <p:cNvSpPr/>
          <p:nvPr/>
        </p:nvSpPr>
        <p:spPr>
          <a:xfrm>
            <a:off x="658368" y="2926080"/>
            <a:ext cx="9646920" cy="1024128"/>
          </a:xfrm>
          <a:prstGeom prst="roundRect">
            <a:avLst>
              <a:gd name="adj" fmla="val 8929"/>
            </a:avLst>
          </a:prstGeom>
          <a:solidFill>
            <a:srgbClr val="E5482D">
              <a:alpha val="9000"/>
            </a:srgbClr>
          </a:solidFill>
          <a:ln/>
        </p:spPr>
        <p:txBody>
          <a:bodyPr/>
          <a:lstStyle/>
          <a:p>
            <a:endParaRPr lang="en-IN"/>
          </a:p>
        </p:txBody>
      </p:sp>
      <p:sp>
        <p:nvSpPr>
          <p:cNvPr id="24" name="Shape 21"/>
          <p:cNvSpPr/>
          <p:nvPr/>
        </p:nvSpPr>
        <p:spPr>
          <a:xfrm>
            <a:off x="658368" y="4041648"/>
            <a:ext cx="9646920" cy="1024128"/>
          </a:xfrm>
          <a:prstGeom prst="roundRect">
            <a:avLst>
              <a:gd name="adj" fmla="val 8929"/>
            </a:avLst>
          </a:prstGeom>
          <a:solidFill>
            <a:srgbClr val="0F7A5A">
              <a:alpha val="9000"/>
            </a:srgbClr>
          </a:solidFill>
          <a:ln/>
        </p:spPr>
        <p:txBody>
          <a:bodyPr/>
          <a:lstStyle/>
          <a:p>
            <a:endParaRPr lang="en-IN"/>
          </a:p>
        </p:txBody>
      </p:sp>
      <p:sp>
        <p:nvSpPr>
          <p:cNvPr id="25" name="Shape 22"/>
          <p:cNvSpPr/>
          <p:nvPr/>
        </p:nvSpPr>
        <p:spPr>
          <a:xfrm>
            <a:off x="658368" y="5157216"/>
            <a:ext cx="9646920" cy="1024128"/>
          </a:xfrm>
          <a:prstGeom prst="roundRect">
            <a:avLst>
              <a:gd name="adj" fmla="val 8929"/>
            </a:avLst>
          </a:prstGeom>
          <a:solidFill>
            <a:srgbClr val="B87503">
              <a:alpha val="9000"/>
            </a:srgbClr>
          </a:solidFill>
          <a:ln/>
        </p:spPr>
        <p:txBody>
          <a:bodyPr/>
          <a:lstStyle/>
          <a:p>
            <a:endParaRPr lang="en-IN"/>
          </a:p>
        </p:txBody>
      </p:sp>
      <p:sp>
        <p:nvSpPr>
          <p:cNvPr id="26" name="Text 23"/>
          <p:cNvSpPr txBox="1"/>
          <p:nvPr/>
        </p:nvSpPr>
        <p:spPr>
          <a:xfrm>
            <a:off x="731520" y="1792224"/>
            <a:ext cx="1115568" cy="585216"/>
          </a:xfrm>
          <a:prstGeom prst="roundRect">
            <a:avLst>
              <a:gd name="adj" fmla="val 12500"/>
            </a:avLst>
          </a:prstGeom>
          <a:solidFill>
            <a:srgbClr val="3446C9"/>
          </a:solidFill>
          <a:ln/>
        </p:spPr>
        <p:txBody>
          <a:bodyPr wrap="square" lIns="50800" tIns="50800" rIns="50800" bIns="50800" rtlCol="0" anchor="ctr"/>
          <a:lstStyle/>
          <a:p>
            <a:pPr marL="0" indent="0" algn="ctr">
              <a:buNone/>
            </a:pPr>
            <a:r>
              <a:rPr lang="en-US" sz="850" b="1" kern="0" spc="50" dirty="0">
                <a:solidFill>
                  <a:srgbClr val="FFFFFF"/>
                </a:solidFill>
                <a:latin typeface="Inter" pitchFamily="34" charset="0"/>
                <a:ea typeface="Inter" pitchFamily="34" charset="-122"/>
                <a:cs typeface="Inter" pitchFamily="34" charset="-120"/>
              </a:rPr>
              <a:t>1 · JOIN</a:t>
            </a:r>
            <a:endParaRPr lang="en-US" sz="850" dirty="0"/>
          </a:p>
          <a:p>
            <a:pPr marL="0" indent="0" algn="ctr">
              <a:buNone/>
            </a:pPr>
            <a:r>
              <a:rPr lang="en-US" sz="750" dirty="0">
                <a:solidFill>
                  <a:srgbClr val="FFFFFF"/>
                </a:solidFill>
                <a:latin typeface="Inter" pitchFamily="34" charset="0"/>
                <a:ea typeface="Inter" pitchFamily="34" charset="-122"/>
                <a:cs typeface="Inter" pitchFamily="34" charset="-120"/>
              </a:rPr>
              <a:t>Everyone</a:t>
            </a:r>
            <a:endParaRPr lang="en-US" sz="850" dirty="0"/>
          </a:p>
        </p:txBody>
      </p:sp>
      <p:sp>
        <p:nvSpPr>
          <p:cNvPr id="27" name="Text 24"/>
          <p:cNvSpPr txBox="1"/>
          <p:nvPr/>
        </p:nvSpPr>
        <p:spPr>
          <a:xfrm>
            <a:off x="1938528" y="1792224"/>
            <a:ext cx="1261872" cy="585216"/>
          </a:xfrm>
          <a:prstGeom prst="roundRect">
            <a:avLst>
              <a:gd name="adj" fmla="val 12500"/>
            </a:avLst>
          </a:prstGeom>
          <a:solidFill>
            <a:srgbClr val="3446C9"/>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Sign up</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Google or email OTP</a:t>
            </a:r>
            <a:endParaRPr lang="en-US" sz="950" dirty="0"/>
          </a:p>
        </p:txBody>
      </p:sp>
      <p:sp>
        <p:nvSpPr>
          <p:cNvPr id="28" name="Shape 25"/>
          <p:cNvSpPr/>
          <p:nvPr/>
        </p:nvSpPr>
        <p:spPr>
          <a:xfrm>
            <a:off x="3200400" y="2084832"/>
            <a:ext cx="201168" cy="0"/>
          </a:xfrm>
          <a:prstGeom prst="line">
            <a:avLst/>
          </a:prstGeom>
          <a:noFill/>
          <a:ln w="12700">
            <a:solidFill>
              <a:srgbClr val="545B69"/>
            </a:solidFill>
            <a:prstDash val="solid"/>
            <a:tailEnd type="triangle"/>
          </a:ln>
        </p:spPr>
        <p:txBody>
          <a:bodyPr/>
          <a:lstStyle/>
          <a:p>
            <a:endParaRPr lang="en-IN"/>
          </a:p>
        </p:txBody>
      </p:sp>
      <p:sp>
        <p:nvSpPr>
          <p:cNvPr id="29" name="Text 26"/>
          <p:cNvSpPr txBox="1"/>
          <p:nvPr/>
        </p:nvSpPr>
        <p:spPr>
          <a:xfrm>
            <a:off x="3401568" y="1792224"/>
            <a:ext cx="2240280" cy="585216"/>
          </a:xfrm>
          <a:prstGeom prst="roundRect">
            <a:avLst>
              <a:gd name="adj" fmla="val 12500"/>
            </a:avLst>
          </a:prstGeom>
          <a:solidFill>
            <a:srgbClr val="3446C9"/>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Build profile</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Name, age, gender, university, college, course, year, skills, goal</a:t>
            </a:r>
            <a:endParaRPr lang="en-US" sz="950" dirty="0"/>
          </a:p>
        </p:txBody>
      </p:sp>
      <p:sp>
        <p:nvSpPr>
          <p:cNvPr id="30" name="Shape 27"/>
          <p:cNvSpPr/>
          <p:nvPr/>
        </p:nvSpPr>
        <p:spPr>
          <a:xfrm>
            <a:off x="5641848" y="2084832"/>
            <a:ext cx="201168" cy="0"/>
          </a:xfrm>
          <a:prstGeom prst="line">
            <a:avLst/>
          </a:prstGeom>
          <a:noFill/>
          <a:ln w="12700">
            <a:solidFill>
              <a:srgbClr val="545B69"/>
            </a:solidFill>
            <a:prstDash val="solid"/>
            <a:tailEnd type="triangle"/>
          </a:ln>
        </p:spPr>
        <p:txBody>
          <a:bodyPr/>
          <a:lstStyle/>
          <a:p>
            <a:endParaRPr lang="en-IN"/>
          </a:p>
        </p:txBody>
      </p:sp>
      <p:sp>
        <p:nvSpPr>
          <p:cNvPr id="31" name="Shape 28"/>
          <p:cNvSpPr/>
          <p:nvPr/>
        </p:nvSpPr>
        <p:spPr>
          <a:xfrm>
            <a:off x="5843016" y="1719072"/>
            <a:ext cx="1371600" cy="731520"/>
          </a:xfrm>
          <a:prstGeom prst="diamond">
            <a:avLst/>
          </a:prstGeom>
          <a:solidFill>
            <a:srgbClr val="FFFFFF"/>
          </a:solidFill>
          <a:ln w="12700">
            <a:solidFill>
              <a:srgbClr val="14161C"/>
            </a:solidFill>
            <a:prstDash val="solid"/>
          </a:ln>
        </p:spPr>
        <p:txBody>
          <a:bodyPr/>
          <a:lstStyle/>
          <a:p>
            <a:endParaRPr lang="en-IN"/>
          </a:p>
        </p:txBody>
      </p:sp>
      <p:sp>
        <p:nvSpPr>
          <p:cNvPr id="32" name="Text 29"/>
          <p:cNvSpPr txBox="1"/>
          <p:nvPr/>
        </p:nvSpPr>
        <p:spPr>
          <a:xfrm>
            <a:off x="5971032" y="1892808"/>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Email</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verified?</a:t>
            </a:r>
            <a:endParaRPr lang="en-US" sz="850" dirty="0"/>
          </a:p>
        </p:txBody>
      </p:sp>
      <p:sp>
        <p:nvSpPr>
          <p:cNvPr id="33" name="Shape 30"/>
          <p:cNvSpPr/>
          <p:nvPr/>
        </p:nvSpPr>
        <p:spPr>
          <a:xfrm>
            <a:off x="7214616" y="2084832"/>
            <a:ext cx="347472" cy="0"/>
          </a:xfrm>
          <a:prstGeom prst="line">
            <a:avLst/>
          </a:prstGeom>
          <a:noFill/>
          <a:ln w="12700">
            <a:solidFill>
              <a:srgbClr val="545B69"/>
            </a:solidFill>
            <a:prstDash val="solid"/>
            <a:tailEnd type="triangle"/>
          </a:ln>
        </p:spPr>
        <p:txBody>
          <a:bodyPr/>
          <a:lstStyle/>
          <a:p>
            <a:endParaRPr lang="en-IN"/>
          </a:p>
        </p:txBody>
      </p:sp>
      <p:sp>
        <p:nvSpPr>
          <p:cNvPr id="34" name="Text 31"/>
          <p:cNvSpPr txBox="1"/>
          <p:nvPr/>
        </p:nvSpPr>
        <p:spPr>
          <a:xfrm>
            <a:off x="7214616" y="1883664"/>
            <a:ext cx="347472" cy="146304"/>
          </a:xfrm>
          <a:prstGeom prst="rect">
            <a:avLst/>
          </a:prstGeom>
          <a:no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Yes</a:t>
            </a:r>
            <a:endParaRPr lang="en-US" sz="750" dirty="0"/>
          </a:p>
        </p:txBody>
      </p:sp>
      <p:sp>
        <p:nvSpPr>
          <p:cNvPr id="35" name="Text 32"/>
          <p:cNvSpPr txBox="1"/>
          <p:nvPr/>
        </p:nvSpPr>
        <p:spPr>
          <a:xfrm>
            <a:off x="5385816" y="2487168"/>
            <a:ext cx="2286000" cy="182880"/>
          </a:xfrm>
          <a:prstGeom prst="rect">
            <a:avLst/>
          </a:prstGeom>
          <a:noFill/>
          <a:ln/>
        </p:spPr>
        <p:txBody>
          <a:bodyPr wrap="square" lIns="0" tIns="0" rIns="0" bIns="0" rtlCol="0" anchor="ctr"/>
          <a:lstStyle/>
          <a:p>
            <a:pPr marL="0" indent="0" algn="ctr">
              <a:buNone/>
            </a:pPr>
            <a:r>
              <a:rPr lang="en-US" sz="800" b="1" dirty="0">
                <a:solidFill>
                  <a:srgbClr val="E5482D"/>
                </a:solidFill>
                <a:latin typeface="Inter" pitchFamily="34" charset="0"/>
                <a:ea typeface="Inter" pitchFamily="34" charset="-122"/>
                <a:cs typeface="Inter" pitchFamily="34" charset="-120"/>
              </a:rPr>
              <a:t>No → </a:t>
            </a:r>
            <a:r>
              <a:rPr lang="en-US" sz="800" dirty="0">
                <a:solidFill>
                  <a:srgbClr val="545B69"/>
                </a:solidFill>
                <a:latin typeface="Inter" pitchFamily="34" charset="0"/>
                <a:ea typeface="Inter" pitchFamily="34" charset="-122"/>
                <a:cs typeface="Inter" pitchFamily="34" charset="-120"/>
              </a:rPr>
              <a:t>Guest: browse, ask &amp; vote only</a:t>
            </a:r>
            <a:endParaRPr lang="en-US" sz="800" dirty="0"/>
          </a:p>
        </p:txBody>
      </p:sp>
      <p:sp>
        <p:nvSpPr>
          <p:cNvPr id="36" name="Text 33"/>
          <p:cNvSpPr txBox="1"/>
          <p:nvPr/>
        </p:nvSpPr>
        <p:spPr>
          <a:xfrm>
            <a:off x="7562088" y="1792224"/>
            <a:ext cx="1417320" cy="585216"/>
          </a:xfrm>
          <a:prstGeom prst="roundRect">
            <a:avLst>
              <a:gd name="adj" fmla="val 12500"/>
            </a:avLst>
          </a:prstGeom>
          <a:solidFill>
            <a:srgbClr val="3446C9"/>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Verified badge</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Apply, post, review, mentor</a:t>
            </a:r>
            <a:endParaRPr lang="en-US" sz="950" dirty="0"/>
          </a:p>
        </p:txBody>
      </p:sp>
      <p:sp>
        <p:nvSpPr>
          <p:cNvPr id="37" name="Shape 34"/>
          <p:cNvSpPr/>
          <p:nvPr/>
        </p:nvSpPr>
        <p:spPr>
          <a:xfrm>
            <a:off x="8979408" y="2084832"/>
            <a:ext cx="201168" cy="0"/>
          </a:xfrm>
          <a:prstGeom prst="line">
            <a:avLst/>
          </a:prstGeom>
          <a:noFill/>
          <a:ln w="12700">
            <a:solidFill>
              <a:srgbClr val="545B69"/>
            </a:solidFill>
            <a:prstDash val="solid"/>
            <a:tailEnd type="triangle"/>
          </a:ln>
        </p:spPr>
        <p:txBody>
          <a:bodyPr/>
          <a:lstStyle/>
          <a:p>
            <a:endParaRPr lang="en-IN"/>
          </a:p>
        </p:txBody>
      </p:sp>
      <p:sp>
        <p:nvSpPr>
          <p:cNvPr id="38" name="Shape 35"/>
          <p:cNvSpPr/>
          <p:nvPr/>
        </p:nvSpPr>
        <p:spPr>
          <a:xfrm>
            <a:off x="9180576" y="1719072"/>
            <a:ext cx="1371600" cy="731520"/>
          </a:xfrm>
          <a:prstGeom prst="diamond">
            <a:avLst/>
          </a:prstGeom>
          <a:solidFill>
            <a:srgbClr val="FFFFFF"/>
          </a:solidFill>
          <a:ln w="12700">
            <a:solidFill>
              <a:srgbClr val="14161C"/>
            </a:solidFill>
            <a:prstDash val="solid"/>
          </a:ln>
        </p:spPr>
        <p:txBody>
          <a:bodyPr/>
          <a:lstStyle/>
          <a:p>
            <a:endParaRPr lang="en-IN"/>
          </a:p>
        </p:txBody>
      </p:sp>
      <p:sp>
        <p:nvSpPr>
          <p:cNvPr id="39" name="Text 36"/>
          <p:cNvSpPr txBox="1"/>
          <p:nvPr/>
        </p:nvSpPr>
        <p:spPr>
          <a:xfrm>
            <a:off x="9308592" y="1892808"/>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Which</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role?</a:t>
            </a:r>
            <a:endParaRPr lang="en-US" sz="850" dirty="0"/>
          </a:p>
        </p:txBody>
      </p:sp>
      <p:sp>
        <p:nvSpPr>
          <p:cNvPr id="40" name="Text 37"/>
          <p:cNvSpPr txBox="1"/>
          <p:nvPr/>
        </p:nvSpPr>
        <p:spPr>
          <a:xfrm>
            <a:off x="10625328" y="1810512"/>
            <a:ext cx="1078992" cy="548640"/>
          </a:xfrm>
          <a:prstGeom prst="rect">
            <a:avLst/>
          </a:prstGeom>
          <a:noFill/>
          <a:ln/>
        </p:spPr>
        <p:txBody>
          <a:bodyPr wrap="square" lIns="0" tIns="0" rIns="0" bIns="0" rtlCol="0" anchor="ctr"/>
          <a:lstStyle/>
          <a:p>
            <a:pPr marL="0" indent="0">
              <a:buNone/>
            </a:pPr>
            <a:r>
              <a:rPr lang="en-US" sz="800" b="1" dirty="0">
                <a:solidFill>
                  <a:srgbClr val="14161C"/>
                </a:solidFill>
                <a:latin typeface="Inter" pitchFamily="34" charset="0"/>
                <a:ea typeface="Inter" pitchFamily="34" charset="-122"/>
                <a:cs typeface="Inter" pitchFamily="34" charset="-120"/>
              </a:rPr>
              <a:t>Role picks the lane</a:t>
            </a:r>
            <a:endParaRPr lang="en-US" sz="800" dirty="0"/>
          </a:p>
          <a:p>
            <a:pPr marL="0" indent="0">
              <a:buNone/>
            </a:pPr>
            <a:r>
              <a:rPr lang="en-US" sz="800" dirty="0">
                <a:solidFill>
                  <a:srgbClr val="545B69"/>
                </a:solidFill>
                <a:latin typeface="Inter" pitchFamily="34" charset="0"/>
                <a:ea typeface="Inter" pitchFamily="34" charset="-122"/>
                <a:cs typeface="Inter" pitchFamily="34" charset="-120"/>
              </a:rPr>
              <a:t>Mentors join Q&amp;A and Idea Lab</a:t>
            </a:r>
            <a:endParaRPr lang="en-US" sz="800" dirty="0"/>
          </a:p>
        </p:txBody>
      </p:sp>
      <p:sp>
        <p:nvSpPr>
          <p:cNvPr id="41" name="Shape 38"/>
          <p:cNvSpPr/>
          <p:nvPr/>
        </p:nvSpPr>
        <p:spPr>
          <a:xfrm>
            <a:off x="9866376" y="2450592"/>
            <a:ext cx="0" cy="365760"/>
          </a:xfrm>
          <a:prstGeom prst="line">
            <a:avLst/>
          </a:prstGeom>
          <a:noFill/>
          <a:ln w="12700">
            <a:solidFill>
              <a:srgbClr val="14161C"/>
            </a:solidFill>
            <a:prstDash val="solid"/>
          </a:ln>
        </p:spPr>
        <p:txBody>
          <a:bodyPr/>
          <a:lstStyle/>
          <a:p>
            <a:endParaRPr lang="en-IN"/>
          </a:p>
        </p:txBody>
      </p:sp>
      <p:sp>
        <p:nvSpPr>
          <p:cNvPr id="42" name="Shape 39"/>
          <p:cNvSpPr/>
          <p:nvPr/>
        </p:nvSpPr>
        <p:spPr>
          <a:xfrm flipH="1">
            <a:off x="530352" y="2816352"/>
            <a:ext cx="9336024" cy="0"/>
          </a:xfrm>
          <a:prstGeom prst="line">
            <a:avLst/>
          </a:prstGeom>
          <a:noFill/>
          <a:ln w="12700">
            <a:solidFill>
              <a:srgbClr val="14161C"/>
            </a:solidFill>
            <a:prstDash val="solid"/>
          </a:ln>
        </p:spPr>
        <p:txBody>
          <a:bodyPr/>
          <a:lstStyle/>
          <a:p>
            <a:endParaRPr lang="en-IN"/>
          </a:p>
        </p:txBody>
      </p:sp>
      <p:sp>
        <p:nvSpPr>
          <p:cNvPr id="43" name="Shape 40"/>
          <p:cNvSpPr/>
          <p:nvPr/>
        </p:nvSpPr>
        <p:spPr>
          <a:xfrm>
            <a:off x="530352" y="2816352"/>
            <a:ext cx="0" cy="2724912"/>
          </a:xfrm>
          <a:prstGeom prst="line">
            <a:avLst/>
          </a:prstGeom>
          <a:noFill/>
          <a:ln w="12700">
            <a:solidFill>
              <a:srgbClr val="14161C"/>
            </a:solidFill>
            <a:prstDash val="solid"/>
          </a:ln>
        </p:spPr>
        <p:txBody>
          <a:bodyPr/>
          <a:lstStyle/>
          <a:p>
            <a:endParaRPr lang="en-IN"/>
          </a:p>
        </p:txBody>
      </p:sp>
      <p:sp>
        <p:nvSpPr>
          <p:cNvPr id="44" name="Shape 41"/>
          <p:cNvSpPr/>
          <p:nvPr/>
        </p:nvSpPr>
        <p:spPr>
          <a:xfrm>
            <a:off x="530352" y="3310128"/>
            <a:ext cx="201168" cy="0"/>
          </a:xfrm>
          <a:prstGeom prst="line">
            <a:avLst/>
          </a:prstGeom>
          <a:noFill/>
          <a:ln w="12700">
            <a:solidFill>
              <a:srgbClr val="14161C"/>
            </a:solidFill>
            <a:prstDash val="solid"/>
            <a:tailEnd type="triangle"/>
          </a:ln>
        </p:spPr>
        <p:txBody>
          <a:bodyPr/>
          <a:lstStyle/>
          <a:p>
            <a:endParaRPr lang="en-IN"/>
          </a:p>
        </p:txBody>
      </p:sp>
      <p:sp>
        <p:nvSpPr>
          <p:cNvPr id="45" name="Shape 42"/>
          <p:cNvSpPr/>
          <p:nvPr/>
        </p:nvSpPr>
        <p:spPr>
          <a:xfrm>
            <a:off x="530352" y="4425696"/>
            <a:ext cx="201168" cy="0"/>
          </a:xfrm>
          <a:prstGeom prst="line">
            <a:avLst/>
          </a:prstGeom>
          <a:noFill/>
          <a:ln w="12700">
            <a:solidFill>
              <a:srgbClr val="14161C"/>
            </a:solidFill>
            <a:prstDash val="solid"/>
            <a:tailEnd type="triangle"/>
          </a:ln>
        </p:spPr>
        <p:txBody>
          <a:bodyPr/>
          <a:lstStyle/>
          <a:p>
            <a:endParaRPr lang="en-IN"/>
          </a:p>
        </p:txBody>
      </p:sp>
      <p:sp>
        <p:nvSpPr>
          <p:cNvPr id="46" name="Shape 43"/>
          <p:cNvSpPr/>
          <p:nvPr/>
        </p:nvSpPr>
        <p:spPr>
          <a:xfrm>
            <a:off x="530352" y="5541264"/>
            <a:ext cx="201168" cy="0"/>
          </a:xfrm>
          <a:prstGeom prst="line">
            <a:avLst/>
          </a:prstGeom>
          <a:noFill/>
          <a:ln w="12700">
            <a:solidFill>
              <a:srgbClr val="14161C"/>
            </a:solidFill>
            <a:prstDash val="solid"/>
            <a:tailEnd type="triangle"/>
          </a:ln>
        </p:spPr>
        <p:txBody>
          <a:bodyPr/>
          <a:lstStyle/>
          <a:p>
            <a:endParaRPr lang="en-IN"/>
          </a:p>
        </p:txBody>
      </p:sp>
      <p:sp>
        <p:nvSpPr>
          <p:cNvPr id="47" name="Text 44"/>
          <p:cNvSpPr txBox="1"/>
          <p:nvPr/>
        </p:nvSpPr>
        <p:spPr>
          <a:xfrm>
            <a:off x="731520" y="3017520"/>
            <a:ext cx="1115568" cy="585216"/>
          </a:xfrm>
          <a:prstGeom prst="roundRect">
            <a:avLst>
              <a:gd name="adj" fmla="val 12500"/>
            </a:avLst>
          </a:prstGeom>
          <a:solidFill>
            <a:srgbClr val="E5482D"/>
          </a:solidFill>
          <a:ln/>
        </p:spPr>
        <p:txBody>
          <a:bodyPr wrap="square" lIns="50800" tIns="50800" rIns="50800" bIns="50800" rtlCol="0" anchor="ctr"/>
          <a:lstStyle/>
          <a:p>
            <a:pPr marL="0" indent="0" algn="ctr">
              <a:buNone/>
            </a:pPr>
            <a:r>
              <a:rPr lang="en-US" sz="850" b="1" kern="0" spc="50" dirty="0">
                <a:solidFill>
                  <a:srgbClr val="FFFFFF"/>
                </a:solidFill>
                <a:latin typeface="Inter" pitchFamily="34" charset="0"/>
                <a:ea typeface="Inter" pitchFamily="34" charset="-122"/>
                <a:cs typeface="Inter" pitchFamily="34" charset="-120"/>
              </a:rPr>
              <a:t>2 · JOB SEEKER</a:t>
            </a:r>
            <a:endParaRPr lang="en-US" sz="850" dirty="0"/>
          </a:p>
          <a:p>
            <a:pPr marL="0" indent="0" algn="ctr">
              <a:buNone/>
            </a:pPr>
            <a:r>
              <a:rPr lang="en-US" sz="750" dirty="0">
                <a:solidFill>
                  <a:srgbClr val="FFFFFF"/>
                </a:solidFill>
                <a:latin typeface="Inter" pitchFamily="34" charset="0"/>
                <a:ea typeface="Inter" pitchFamily="34" charset="-122"/>
                <a:cs typeface="Inter" pitchFamily="34" charset="-120"/>
              </a:rPr>
              <a:t>Discover &amp; build skills</a:t>
            </a:r>
            <a:endParaRPr lang="en-US" sz="850" dirty="0"/>
          </a:p>
        </p:txBody>
      </p:sp>
      <p:sp>
        <p:nvSpPr>
          <p:cNvPr id="48" name="Text 45"/>
          <p:cNvSpPr txBox="1"/>
          <p:nvPr/>
        </p:nvSpPr>
        <p:spPr>
          <a:xfrm>
            <a:off x="1938528" y="3017520"/>
            <a:ext cx="1417320" cy="585216"/>
          </a:xfrm>
          <a:prstGeom prst="roundRect">
            <a:avLst>
              <a:gd name="adj" fmla="val 12500"/>
            </a:avLst>
          </a:prstGeom>
          <a:solidFill>
            <a:srgbClr val="E5482D"/>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AI opportunity feed</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Ranked by match % and Hire-Proof Score</a:t>
            </a:r>
            <a:endParaRPr lang="en-US" sz="950" dirty="0"/>
          </a:p>
        </p:txBody>
      </p:sp>
      <p:sp>
        <p:nvSpPr>
          <p:cNvPr id="49" name="Shape 46"/>
          <p:cNvSpPr/>
          <p:nvPr/>
        </p:nvSpPr>
        <p:spPr>
          <a:xfrm>
            <a:off x="3355848" y="3310128"/>
            <a:ext cx="201168" cy="0"/>
          </a:xfrm>
          <a:prstGeom prst="line">
            <a:avLst/>
          </a:prstGeom>
          <a:noFill/>
          <a:ln w="12700">
            <a:solidFill>
              <a:srgbClr val="545B69"/>
            </a:solidFill>
            <a:prstDash val="solid"/>
            <a:tailEnd type="triangle"/>
          </a:ln>
        </p:spPr>
        <p:txBody>
          <a:bodyPr/>
          <a:lstStyle/>
          <a:p>
            <a:endParaRPr lang="en-IN"/>
          </a:p>
        </p:txBody>
      </p:sp>
      <p:sp>
        <p:nvSpPr>
          <p:cNvPr id="50" name="Text 47"/>
          <p:cNvSpPr txBox="1"/>
          <p:nvPr/>
        </p:nvSpPr>
        <p:spPr>
          <a:xfrm>
            <a:off x="3557016" y="3017520"/>
            <a:ext cx="1417320" cy="585216"/>
          </a:xfrm>
          <a:prstGeom prst="roundRect">
            <a:avLst>
              <a:gd name="adj" fmla="val 12500"/>
            </a:avLst>
          </a:prstGeom>
          <a:solidFill>
            <a:srgbClr val="E5482D"/>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Q&amp;A + feedback</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Ask recruiters, mentors, alumni</a:t>
            </a:r>
            <a:endParaRPr lang="en-US" sz="950" dirty="0"/>
          </a:p>
        </p:txBody>
      </p:sp>
      <p:sp>
        <p:nvSpPr>
          <p:cNvPr id="51" name="Shape 48"/>
          <p:cNvSpPr/>
          <p:nvPr/>
        </p:nvSpPr>
        <p:spPr>
          <a:xfrm>
            <a:off x="4974336" y="3310128"/>
            <a:ext cx="201168" cy="0"/>
          </a:xfrm>
          <a:prstGeom prst="line">
            <a:avLst/>
          </a:prstGeom>
          <a:noFill/>
          <a:ln w="12700">
            <a:solidFill>
              <a:srgbClr val="545B69"/>
            </a:solidFill>
            <a:prstDash val="solid"/>
            <a:tailEnd type="triangle"/>
          </a:ln>
        </p:spPr>
        <p:txBody>
          <a:bodyPr/>
          <a:lstStyle/>
          <a:p>
            <a:endParaRPr lang="en-IN"/>
          </a:p>
        </p:txBody>
      </p:sp>
      <p:sp>
        <p:nvSpPr>
          <p:cNvPr id="52" name="Shape 49"/>
          <p:cNvSpPr/>
          <p:nvPr/>
        </p:nvSpPr>
        <p:spPr>
          <a:xfrm>
            <a:off x="5175504" y="2944368"/>
            <a:ext cx="1371600" cy="731520"/>
          </a:xfrm>
          <a:prstGeom prst="diamond">
            <a:avLst/>
          </a:prstGeom>
          <a:solidFill>
            <a:srgbClr val="FFFFFF"/>
          </a:solidFill>
          <a:ln w="12700">
            <a:solidFill>
              <a:srgbClr val="14161C"/>
            </a:solidFill>
            <a:prstDash val="solid"/>
          </a:ln>
        </p:spPr>
        <p:txBody>
          <a:bodyPr/>
          <a:lstStyle/>
          <a:p>
            <a:endParaRPr lang="en-IN"/>
          </a:p>
        </p:txBody>
      </p:sp>
      <p:sp>
        <p:nvSpPr>
          <p:cNvPr id="53" name="Text 50"/>
          <p:cNvSpPr txBox="1"/>
          <p:nvPr/>
        </p:nvSpPr>
        <p:spPr>
          <a:xfrm>
            <a:off x="5303520" y="3118104"/>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Skill match</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 70%?</a:t>
            </a:r>
            <a:endParaRPr lang="en-US" sz="850" dirty="0"/>
          </a:p>
        </p:txBody>
      </p:sp>
      <p:sp>
        <p:nvSpPr>
          <p:cNvPr id="54" name="Shape 51"/>
          <p:cNvSpPr/>
          <p:nvPr/>
        </p:nvSpPr>
        <p:spPr>
          <a:xfrm>
            <a:off x="6547104" y="3310128"/>
            <a:ext cx="347472" cy="0"/>
          </a:xfrm>
          <a:prstGeom prst="line">
            <a:avLst/>
          </a:prstGeom>
          <a:noFill/>
          <a:ln w="12700">
            <a:solidFill>
              <a:srgbClr val="545B69"/>
            </a:solidFill>
            <a:prstDash val="solid"/>
            <a:tailEnd type="triangle"/>
          </a:ln>
        </p:spPr>
        <p:txBody>
          <a:bodyPr/>
          <a:lstStyle/>
          <a:p>
            <a:endParaRPr lang="en-IN"/>
          </a:p>
        </p:txBody>
      </p:sp>
      <p:sp>
        <p:nvSpPr>
          <p:cNvPr id="55" name="Text 52"/>
          <p:cNvSpPr txBox="1"/>
          <p:nvPr/>
        </p:nvSpPr>
        <p:spPr>
          <a:xfrm>
            <a:off x="6547104" y="3108960"/>
            <a:ext cx="347472" cy="146304"/>
          </a:xfrm>
          <a:prstGeom prst="rect">
            <a:avLst/>
          </a:prstGeom>
          <a:no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Yes</a:t>
            </a:r>
            <a:endParaRPr lang="en-US" sz="750" dirty="0"/>
          </a:p>
        </p:txBody>
      </p:sp>
      <p:sp>
        <p:nvSpPr>
          <p:cNvPr id="56" name="Text 53"/>
          <p:cNvSpPr txBox="1"/>
          <p:nvPr/>
        </p:nvSpPr>
        <p:spPr>
          <a:xfrm>
            <a:off x="4352544" y="3712464"/>
            <a:ext cx="3017520" cy="182880"/>
          </a:xfrm>
          <a:prstGeom prst="rect">
            <a:avLst/>
          </a:prstGeom>
          <a:noFill/>
          <a:ln/>
        </p:spPr>
        <p:txBody>
          <a:bodyPr wrap="square" lIns="0" tIns="0" rIns="0" bIns="0" rtlCol="0" anchor="ctr"/>
          <a:lstStyle/>
          <a:p>
            <a:pPr marL="0" indent="0" algn="ctr">
              <a:buNone/>
            </a:pPr>
            <a:r>
              <a:rPr lang="en-US" sz="800" b="1" dirty="0">
                <a:solidFill>
                  <a:srgbClr val="E5482D"/>
                </a:solidFill>
                <a:latin typeface="Inter" pitchFamily="34" charset="0"/>
                <a:ea typeface="Inter" pitchFamily="34" charset="-122"/>
                <a:cs typeface="Inter" pitchFamily="34" charset="-120"/>
              </a:rPr>
              <a:t>No → </a:t>
            </a:r>
            <a:r>
              <a:rPr lang="en-US" sz="800" dirty="0">
                <a:solidFill>
                  <a:srgbClr val="545B69"/>
                </a:solidFill>
                <a:latin typeface="Inter" pitchFamily="34" charset="0"/>
                <a:ea typeface="Inter" pitchFamily="34" charset="-122"/>
                <a:cs typeface="Inter" pitchFamily="34" charset="-120"/>
              </a:rPr>
              <a:t>Skill-Gap Coach: free 2-week path + proof task</a:t>
            </a:r>
            <a:endParaRPr lang="en-US" sz="800" dirty="0"/>
          </a:p>
        </p:txBody>
      </p:sp>
      <p:sp>
        <p:nvSpPr>
          <p:cNvPr id="57" name="Text 54"/>
          <p:cNvSpPr txBox="1"/>
          <p:nvPr/>
        </p:nvSpPr>
        <p:spPr>
          <a:xfrm>
            <a:off x="6894576" y="3017520"/>
            <a:ext cx="1371600" cy="585216"/>
          </a:xfrm>
          <a:prstGeom prst="roundRect">
            <a:avLst>
              <a:gd name="adj" fmla="val 12500"/>
            </a:avLst>
          </a:prstGeom>
          <a:solidFill>
            <a:srgbClr val="E5482D"/>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Apply in 1 click</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Status tracked to offer</a:t>
            </a:r>
            <a:endParaRPr lang="en-US" sz="950" dirty="0"/>
          </a:p>
        </p:txBody>
      </p:sp>
      <p:sp>
        <p:nvSpPr>
          <p:cNvPr id="58" name="Shape 55"/>
          <p:cNvSpPr/>
          <p:nvPr/>
        </p:nvSpPr>
        <p:spPr>
          <a:xfrm>
            <a:off x="8266176" y="3310128"/>
            <a:ext cx="201168" cy="0"/>
          </a:xfrm>
          <a:prstGeom prst="line">
            <a:avLst/>
          </a:prstGeom>
          <a:noFill/>
          <a:ln w="12700">
            <a:solidFill>
              <a:srgbClr val="545B69"/>
            </a:solidFill>
            <a:prstDash val="solid"/>
            <a:tailEnd type="triangle"/>
          </a:ln>
        </p:spPr>
        <p:txBody>
          <a:bodyPr/>
          <a:lstStyle/>
          <a:p>
            <a:endParaRPr lang="en-IN"/>
          </a:p>
        </p:txBody>
      </p:sp>
      <p:sp>
        <p:nvSpPr>
          <p:cNvPr id="59" name="Text 56"/>
          <p:cNvSpPr txBox="1"/>
          <p:nvPr/>
        </p:nvSpPr>
        <p:spPr>
          <a:xfrm>
            <a:off x="8467344" y="3017520"/>
            <a:ext cx="1600200" cy="585216"/>
          </a:xfrm>
          <a:prstGeom prst="roundRect">
            <a:avLst>
              <a:gd name="adj" fmla="val 12500"/>
            </a:avLst>
          </a:prstGeom>
          <a:solidFill>
            <a:srgbClr val="E5482D"/>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Rate &amp; review</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Only after an interview; AI filters fakes</a:t>
            </a:r>
            <a:endParaRPr lang="en-US" sz="950" dirty="0"/>
          </a:p>
        </p:txBody>
      </p:sp>
      <p:sp>
        <p:nvSpPr>
          <p:cNvPr id="60" name="Shape 57"/>
          <p:cNvSpPr/>
          <p:nvPr/>
        </p:nvSpPr>
        <p:spPr>
          <a:xfrm>
            <a:off x="10067544" y="3310128"/>
            <a:ext cx="356616" cy="0"/>
          </a:xfrm>
          <a:prstGeom prst="line">
            <a:avLst/>
          </a:prstGeom>
          <a:noFill/>
          <a:ln w="12700">
            <a:solidFill>
              <a:srgbClr val="545B69"/>
            </a:solidFill>
            <a:prstDash val="solid"/>
            <a:tailEnd type="triangle"/>
          </a:ln>
        </p:spPr>
        <p:txBody>
          <a:bodyPr/>
          <a:lstStyle/>
          <a:p>
            <a:endParaRPr lang="en-IN"/>
          </a:p>
        </p:txBody>
      </p:sp>
      <p:sp>
        <p:nvSpPr>
          <p:cNvPr id="61" name="Text 58"/>
          <p:cNvSpPr txBox="1"/>
          <p:nvPr/>
        </p:nvSpPr>
        <p:spPr>
          <a:xfrm>
            <a:off x="731520" y="4133088"/>
            <a:ext cx="1115568" cy="585216"/>
          </a:xfrm>
          <a:prstGeom prst="roundRect">
            <a:avLst>
              <a:gd name="adj" fmla="val 12500"/>
            </a:avLst>
          </a:prstGeom>
          <a:solidFill>
            <a:srgbClr val="0F7A5A"/>
          </a:solidFill>
          <a:ln/>
        </p:spPr>
        <p:txBody>
          <a:bodyPr wrap="square" lIns="50800" tIns="50800" rIns="50800" bIns="50800" rtlCol="0" anchor="ctr"/>
          <a:lstStyle/>
          <a:p>
            <a:pPr marL="0" indent="0" algn="ctr">
              <a:buNone/>
            </a:pPr>
            <a:r>
              <a:rPr lang="en-US" sz="850" b="1" kern="0" spc="50" dirty="0">
                <a:solidFill>
                  <a:srgbClr val="FFFFFF"/>
                </a:solidFill>
                <a:latin typeface="Inter" pitchFamily="34" charset="0"/>
                <a:ea typeface="Inter" pitchFamily="34" charset="-122"/>
                <a:cs typeface="Inter" pitchFamily="34" charset="-120"/>
              </a:rPr>
              <a:t>3 · FOUNDER</a:t>
            </a:r>
            <a:endParaRPr lang="en-US" sz="850" dirty="0"/>
          </a:p>
          <a:p>
            <a:pPr marL="0" indent="0" algn="ctr">
              <a:buNone/>
            </a:pPr>
            <a:r>
              <a:rPr lang="en-US" sz="750" dirty="0">
                <a:solidFill>
                  <a:srgbClr val="FFFFFF"/>
                </a:solidFill>
                <a:latin typeface="Inter" pitchFamily="34" charset="0"/>
                <a:ea typeface="Inter" pitchFamily="34" charset="-122"/>
                <a:cs typeface="Inter" pitchFamily="34" charset="-120"/>
              </a:rPr>
              <a:t>Ideas → ventures</a:t>
            </a:r>
            <a:endParaRPr lang="en-US" sz="850" dirty="0"/>
          </a:p>
        </p:txBody>
      </p:sp>
      <p:sp>
        <p:nvSpPr>
          <p:cNvPr id="62" name="Text 59"/>
          <p:cNvSpPr txBox="1"/>
          <p:nvPr/>
        </p:nvSpPr>
        <p:spPr>
          <a:xfrm>
            <a:off x="1938528" y="4133088"/>
            <a:ext cx="1280160" cy="585216"/>
          </a:xfrm>
          <a:prstGeom prst="roundRect">
            <a:avLst>
              <a:gd name="adj" fmla="val 12500"/>
            </a:avLst>
          </a:prstGeom>
          <a:solidFill>
            <a:srgbClr val="0F7A5A"/>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Post an idea</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Problem, users, model</a:t>
            </a:r>
            <a:endParaRPr lang="en-US" sz="950" dirty="0"/>
          </a:p>
        </p:txBody>
      </p:sp>
      <p:sp>
        <p:nvSpPr>
          <p:cNvPr id="63" name="Shape 60"/>
          <p:cNvSpPr/>
          <p:nvPr/>
        </p:nvSpPr>
        <p:spPr>
          <a:xfrm>
            <a:off x="3218688" y="4425696"/>
            <a:ext cx="201168" cy="0"/>
          </a:xfrm>
          <a:prstGeom prst="line">
            <a:avLst/>
          </a:prstGeom>
          <a:noFill/>
          <a:ln w="12700">
            <a:solidFill>
              <a:srgbClr val="545B69"/>
            </a:solidFill>
            <a:prstDash val="solid"/>
            <a:tailEnd type="triangle"/>
          </a:ln>
        </p:spPr>
        <p:txBody>
          <a:bodyPr/>
          <a:lstStyle/>
          <a:p>
            <a:endParaRPr lang="en-IN"/>
          </a:p>
        </p:txBody>
      </p:sp>
      <p:sp>
        <p:nvSpPr>
          <p:cNvPr id="64" name="Text 61"/>
          <p:cNvSpPr txBox="1"/>
          <p:nvPr/>
        </p:nvSpPr>
        <p:spPr>
          <a:xfrm>
            <a:off x="3419856" y="4133088"/>
            <a:ext cx="1463040" cy="585216"/>
          </a:xfrm>
          <a:prstGeom prst="roundRect">
            <a:avLst>
              <a:gd name="adj" fmla="val 12500"/>
            </a:avLst>
          </a:prstGeom>
          <a:solidFill>
            <a:srgbClr val="0F7A5A"/>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Polls + feedback</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“Would you use it? Pay?”</a:t>
            </a:r>
            <a:endParaRPr lang="en-US" sz="950" dirty="0"/>
          </a:p>
        </p:txBody>
      </p:sp>
      <p:sp>
        <p:nvSpPr>
          <p:cNvPr id="65" name="Shape 62"/>
          <p:cNvSpPr/>
          <p:nvPr/>
        </p:nvSpPr>
        <p:spPr>
          <a:xfrm>
            <a:off x="4882896" y="4425696"/>
            <a:ext cx="201168" cy="0"/>
          </a:xfrm>
          <a:prstGeom prst="line">
            <a:avLst/>
          </a:prstGeom>
          <a:noFill/>
          <a:ln w="12700">
            <a:solidFill>
              <a:srgbClr val="545B69"/>
            </a:solidFill>
            <a:prstDash val="solid"/>
            <a:tailEnd type="triangle"/>
          </a:ln>
        </p:spPr>
        <p:txBody>
          <a:bodyPr/>
          <a:lstStyle/>
          <a:p>
            <a:endParaRPr lang="en-IN"/>
          </a:p>
        </p:txBody>
      </p:sp>
      <p:sp>
        <p:nvSpPr>
          <p:cNvPr id="66" name="Text 63"/>
          <p:cNvSpPr txBox="1"/>
          <p:nvPr/>
        </p:nvSpPr>
        <p:spPr>
          <a:xfrm>
            <a:off x="5084064" y="4133088"/>
            <a:ext cx="1325880" cy="585216"/>
          </a:xfrm>
          <a:prstGeom prst="roundRect">
            <a:avLst>
              <a:gd name="adj" fmla="val 12500"/>
            </a:avLst>
          </a:prstGeom>
          <a:solidFill>
            <a:srgbClr val="0F7A5A"/>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AI critique</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Lean-canvas gaps, risks</a:t>
            </a:r>
            <a:endParaRPr lang="en-US" sz="950" dirty="0"/>
          </a:p>
        </p:txBody>
      </p:sp>
      <p:sp>
        <p:nvSpPr>
          <p:cNvPr id="67" name="Shape 64"/>
          <p:cNvSpPr/>
          <p:nvPr/>
        </p:nvSpPr>
        <p:spPr>
          <a:xfrm>
            <a:off x="6409944" y="4425696"/>
            <a:ext cx="201168" cy="0"/>
          </a:xfrm>
          <a:prstGeom prst="line">
            <a:avLst/>
          </a:prstGeom>
          <a:noFill/>
          <a:ln w="12700">
            <a:solidFill>
              <a:srgbClr val="545B69"/>
            </a:solidFill>
            <a:prstDash val="solid"/>
            <a:tailEnd type="triangle"/>
          </a:ln>
        </p:spPr>
        <p:txBody>
          <a:bodyPr/>
          <a:lstStyle/>
          <a:p>
            <a:endParaRPr lang="en-IN"/>
          </a:p>
        </p:txBody>
      </p:sp>
      <p:sp>
        <p:nvSpPr>
          <p:cNvPr id="68" name="Shape 65"/>
          <p:cNvSpPr/>
          <p:nvPr/>
        </p:nvSpPr>
        <p:spPr>
          <a:xfrm>
            <a:off x="6611112" y="4059936"/>
            <a:ext cx="1371600" cy="731520"/>
          </a:xfrm>
          <a:prstGeom prst="diamond">
            <a:avLst/>
          </a:prstGeom>
          <a:solidFill>
            <a:srgbClr val="FFFFFF"/>
          </a:solidFill>
          <a:ln w="12700">
            <a:solidFill>
              <a:srgbClr val="14161C"/>
            </a:solidFill>
            <a:prstDash val="solid"/>
          </a:ln>
        </p:spPr>
        <p:txBody>
          <a:bodyPr/>
          <a:lstStyle/>
          <a:p>
            <a:endParaRPr lang="en-IN"/>
          </a:p>
        </p:txBody>
      </p:sp>
      <p:sp>
        <p:nvSpPr>
          <p:cNvPr id="69" name="Text 66"/>
          <p:cNvSpPr txBox="1"/>
          <p:nvPr/>
        </p:nvSpPr>
        <p:spPr>
          <a:xfrm>
            <a:off x="6739128" y="4233672"/>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Idea Pulse</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 60?</a:t>
            </a:r>
            <a:endParaRPr lang="en-US" sz="850" dirty="0"/>
          </a:p>
        </p:txBody>
      </p:sp>
      <p:sp>
        <p:nvSpPr>
          <p:cNvPr id="70" name="Shape 67"/>
          <p:cNvSpPr/>
          <p:nvPr/>
        </p:nvSpPr>
        <p:spPr>
          <a:xfrm>
            <a:off x="7982712" y="4425696"/>
            <a:ext cx="347472" cy="0"/>
          </a:xfrm>
          <a:prstGeom prst="line">
            <a:avLst/>
          </a:prstGeom>
          <a:noFill/>
          <a:ln w="12700">
            <a:solidFill>
              <a:srgbClr val="545B69"/>
            </a:solidFill>
            <a:prstDash val="solid"/>
            <a:tailEnd type="triangle"/>
          </a:ln>
        </p:spPr>
        <p:txBody>
          <a:bodyPr/>
          <a:lstStyle/>
          <a:p>
            <a:endParaRPr lang="en-IN"/>
          </a:p>
        </p:txBody>
      </p:sp>
      <p:sp>
        <p:nvSpPr>
          <p:cNvPr id="71" name="Text 68"/>
          <p:cNvSpPr txBox="1"/>
          <p:nvPr/>
        </p:nvSpPr>
        <p:spPr>
          <a:xfrm>
            <a:off x="7982712" y="4224528"/>
            <a:ext cx="347472" cy="146304"/>
          </a:xfrm>
          <a:prstGeom prst="rect">
            <a:avLst/>
          </a:prstGeom>
          <a:no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Yes</a:t>
            </a:r>
            <a:endParaRPr lang="en-US" sz="750" dirty="0"/>
          </a:p>
        </p:txBody>
      </p:sp>
      <p:sp>
        <p:nvSpPr>
          <p:cNvPr id="72" name="Text 69"/>
          <p:cNvSpPr txBox="1"/>
          <p:nvPr/>
        </p:nvSpPr>
        <p:spPr>
          <a:xfrm>
            <a:off x="6108192" y="4828032"/>
            <a:ext cx="2377440" cy="182880"/>
          </a:xfrm>
          <a:prstGeom prst="rect">
            <a:avLst/>
          </a:prstGeom>
          <a:noFill/>
          <a:ln/>
        </p:spPr>
        <p:txBody>
          <a:bodyPr wrap="square" lIns="0" tIns="0" rIns="0" bIns="0" rtlCol="0" anchor="ctr"/>
          <a:lstStyle/>
          <a:p>
            <a:pPr marL="0" indent="0" algn="ctr">
              <a:buNone/>
            </a:pPr>
            <a:r>
              <a:rPr lang="en-US" sz="800" b="1" dirty="0">
                <a:solidFill>
                  <a:srgbClr val="E5482D"/>
                </a:solidFill>
                <a:latin typeface="Inter" pitchFamily="34" charset="0"/>
                <a:ea typeface="Inter" pitchFamily="34" charset="-122"/>
                <a:cs typeface="Inter" pitchFamily="34" charset="-120"/>
              </a:rPr>
              <a:t>No → </a:t>
            </a:r>
            <a:r>
              <a:rPr lang="en-US" sz="800" dirty="0">
                <a:solidFill>
                  <a:srgbClr val="545B69"/>
                </a:solidFill>
                <a:latin typeface="Inter" pitchFamily="34" charset="0"/>
                <a:ea typeface="Inter" pitchFamily="34" charset="-122"/>
                <a:cs typeface="Inter" pitchFamily="34" charset="-120"/>
              </a:rPr>
              <a:t>AI pivot hints, then re-poll</a:t>
            </a:r>
            <a:endParaRPr lang="en-US" sz="800" dirty="0"/>
          </a:p>
        </p:txBody>
      </p:sp>
      <p:sp>
        <p:nvSpPr>
          <p:cNvPr id="73" name="Text 70"/>
          <p:cNvSpPr txBox="1"/>
          <p:nvPr/>
        </p:nvSpPr>
        <p:spPr>
          <a:xfrm>
            <a:off x="8330184" y="4133088"/>
            <a:ext cx="1737360" cy="585216"/>
          </a:xfrm>
          <a:prstGeom prst="roundRect">
            <a:avLst>
              <a:gd name="adj" fmla="val 12500"/>
            </a:avLst>
          </a:prstGeom>
          <a:solidFill>
            <a:srgbClr val="0F7A5A"/>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Venture track</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Co-founder + mentor match, Startup India schemes</a:t>
            </a:r>
            <a:endParaRPr lang="en-US" sz="950" dirty="0"/>
          </a:p>
        </p:txBody>
      </p:sp>
      <p:sp>
        <p:nvSpPr>
          <p:cNvPr id="74" name="Shape 71"/>
          <p:cNvSpPr/>
          <p:nvPr/>
        </p:nvSpPr>
        <p:spPr>
          <a:xfrm>
            <a:off x="10067544" y="4425696"/>
            <a:ext cx="356616" cy="0"/>
          </a:xfrm>
          <a:prstGeom prst="line">
            <a:avLst/>
          </a:prstGeom>
          <a:noFill/>
          <a:ln w="12700">
            <a:solidFill>
              <a:srgbClr val="545B69"/>
            </a:solidFill>
            <a:prstDash val="solid"/>
            <a:tailEnd type="triangle"/>
          </a:ln>
        </p:spPr>
        <p:txBody>
          <a:bodyPr/>
          <a:lstStyle/>
          <a:p>
            <a:endParaRPr lang="en-IN"/>
          </a:p>
        </p:txBody>
      </p:sp>
      <p:sp>
        <p:nvSpPr>
          <p:cNvPr id="75" name="Text 72"/>
          <p:cNvSpPr txBox="1"/>
          <p:nvPr/>
        </p:nvSpPr>
        <p:spPr>
          <a:xfrm>
            <a:off x="731520" y="5248656"/>
            <a:ext cx="1115568" cy="585216"/>
          </a:xfrm>
          <a:prstGeom prst="roundRect">
            <a:avLst>
              <a:gd name="adj" fmla="val 12500"/>
            </a:avLst>
          </a:prstGeom>
          <a:solidFill>
            <a:srgbClr val="B87503"/>
          </a:solidFill>
          <a:ln/>
        </p:spPr>
        <p:txBody>
          <a:bodyPr wrap="square" lIns="50800" tIns="50800" rIns="50800" bIns="50800" rtlCol="0" anchor="ctr"/>
          <a:lstStyle/>
          <a:p>
            <a:pPr marL="0" indent="0" algn="ctr">
              <a:buNone/>
            </a:pPr>
            <a:r>
              <a:rPr lang="en-US" sz="850" b="1" kern="0" spc="50" dirty="0">
                <a:solidFill>
                  <a:srgbClr val="FFFFFF"/>
                </a:solidFill>
                <a:latin typeface="Inter" pitchFamily="34" charset="0"/>
                <a:ea typeface="Inter" pitchFamily="34" charset="-122"/>
                <a:cs typeface="Inter" pitchFamily="34" charset="-120"/>
              </a:rPr>
              <a:t>4 · RECRUITER</a:t>
            </a:r>
            <a:endParaRPr lang="en-US" sz="850" dirty="0"/>
          </a:p>
          <a:p>
            <a:pPr marL="0" indent="0" algn="ctr">
              <a:buNone/>
            </a:pPr>
            <a:r>
              <a:rPr lang="en-US" sz="750" dirty="0">
                <a:solidFill>
                  <a:srgbClr val="FFFFFF"/>
                </a:solidFill>
                <a:latin typeface="Inter" pitchFamily="34" charset="0"/>
                <a:ea typeface="Inter" pitchFamily="34" charset="-122"/>
                <a:cs typeface="Inter" pitchFamily="34" charset="-120"/>
              </a:rPr>
              <a:t>Reality Check</a:t>
            </a:r>
            <a:endParaRPr lang="en-US" sz="850" dirty="0"/>
          </a:p>
        </p:txBody>
      </p:sp>
      <p:sp>
        <p:nvSpPr>
          <p:cNvPr id="76" name="Text 73"/>
          <p:cNvSpPr txBox="1"/>
          <p:nvPr/>
        </p:nvSpPr>
        <p:spPr>
          <a:xfrm>
            <a:off x="1938528" y="5248656"/>
            <a:ext cx="1325880" cy="585216"/>
          </a:xfrm>
          <a:prstGeom prst="roundRect">
            <a:avLst>
              <a:gd name="adj" fmla="val 12500"/>
            </a:avLst>
          </a:prstGeom>
          <a:solidFill>
            <a:srgbClr val="B87503"/>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Post an opening</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Role, seats, stipend, deadline</a:t>
            </a:r>
            <a:endParaRPr lang="en-US" sz="950" dirty="0"/>
          </a:p>
        </p:txBody>
      </p:sp>
      <p:sp>
        <p:nvSpPr>
          <p:cNvPr id="77" name="Shape 74"/>
          <p:cNvSpPr/>
          <p:nvPr/>
        </p:nvSpPr>
        <p:spPr>
          <a:xfrm>
            <a:off x="3264408" y="5541264"/>
            <a:ext cx="201168" cy="0"/>
          </a:xfrm>
          <a:prstGeom prst="line">
            <a:avLst/>
          </a:prstGeom>
          <a:noFill/>
          <a:ln w="12700">
            <a:solidFill>
              <a:srgbClr val="545B69"/>
            </a:solidFill>
            <a:prstDash val="solid"/>
            <a:tailEnd type="triangle"/>
          </a:ln>
        </p:spPr>
        <p:txBody>
          <a:bodyPr/>
          <a:lstStyle/>
          <a:p>
            <a:endParaRPr lang="en-IN"/>
          </a:p>
        </p:txBody>
      </p:sp>
      <p:sp>
        <p:nvSpPr>
          <p:cNvPr id="78" name="Shape 75"/>
          <p:cNvSpPr/>
          <p:nvPr/>
        </p:nvSpPr>
        <p:spPr>
          <a:xfrm>
            <a:off x="3465576" y="5175504"/>
            <a:ext cx="1371600" cy="731520"/>
          </a:xfrm>
          <a:prstGeom prst="diamond">
            <a:avLst/>
          </a:prstGeom>
          <a:solidFill>
            <a:srgbClr val="FFFFFF"/>
          </a:solidFill>
          <a:ln w="12700">
            <a:solidFill>
              <a:srgbClr val="14161C"/>
            </a:solidFill>
            <a:prstDash val="solid"/>
          </a:ln>
        </p:spPr>
        <p:txBody>
          <a:bodyPr/>
          <a:lstStyle/>
          <a:p>
            <a:endParaRPr lang="en-IN"/>
          </a:p>
        </p:txBody>
      </p:sp>
      <p:sp>
        <p:nvSpPr>
          <p:cNvPr id="79" name="Text 76"/>
          <p:cNvSpPr txBox="1"/>
          <p:nvPr/>
        </p:nvSpPr>
        <p:spPr>
          <a:xfrm>
            <a:off x="3593592" y="5349240"/>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Fee ask or</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scam signs?</a:t>
            </a:r>
            <a:endParaRPr lang="en-US" sz="850" dirty="0"/>
          </a:p>
        </p:txBody>
      </p:sp>
      <p:sp>
        <p:nvSpPr>
          <p:cNvPr id="80" name="Shape 77"/>
          <p:cNvSpPr/>
          <p:nvPr/>
        </p:nvSpPr>
        <p:spPr>
          <a:xfrm>
            <a:off x="4837176" y="5541264"/>
            <a:ext cx="347472" cy="0"/>
          </a:xfrm>
          <a:prstGeom prst="line">
            <a:avLst/>
          </a:prstGeom>
          <a:noFill/>
          <a:ln w="12700">
            <a:solidFill>
              <a:srgbClr val="545B69"/>
            </a:solidFill>
            <a:prstDash val="solid"/>
            <a:tailEnd type="triangle"/>
          </a:ln>
        </p:spPr>
        <p:txBody>
          <a:bodyPr/>
          <a:lstStyle/>
          <a:p>
            <a:endParaRPr lang="en-IN"/>
          </a:p>
        </p:txBody>
      </p:sp>
      <p:sp>
        <p:nvSpPr>
          <p:cNvPr id="81" name="Text 78"/>
          <p:cNvSpPr txBox="1"/>
          <p:nvPr/>
        </p:nvSpPr>
        <p:spPr>
          <a:xfrm>
            <a:off x="4837176" y="5340096"/>
            <a:ext cx="347472" cy="146304"/>
          </a:xfrm>
          <a:prstGeom prst="rect">
            <a:avLst/>
          </a:prstGeom>
          <a:no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No</a:t>
            </a:r>
            <a:endParaRPr lang="en-US" sz="750" dirty="0"/>
          </a:p>
        </p:txBody>
      </p:sp>
      <p:sp>
        <p:nvSpPr>
          <p:cNvPr id="82" name="Text 79"/>
          <p:cNvSpPr txBox="1"/>
          <p:nvPr/>
        </p:nvSpPr>
        <p:spPr>
          <a:xfrm>
            <a:off x="3099816" y="5943600"/>
            <a:ext cx="2103120" cy="182880"/>
          </a:xfrm>
          <a:prstGeom prst="rect">
            <a:avLst/>
          </a:prstGeom>
          <a:noFill/>
          <a:ln/>
        </p:spPr>
        <p:txBody>
          <a:bodyPr wrap="square" lIns="0" tIns="0" rIns="0" bIns="0" rtlCol="0" anchor="ctr"/>
          <a:lstStyle/>
          <a:p>
            <a:pPr marL="0" indent="0" algn="ctr">
              <a:buNone/>
            </a:pPr>
            <a:r>
              <a:rPr lang="en-US" sz="800" b="1" dirty="0">
                <a:solidFill>
                  <a:srgbClr val="E5482D"/>
                </a:solidFill>
                <a:latin typeface="Inter" pitchFamily="34" charset="0"/>
                <a:ea typeface="Inter" pitchFamily="34" charset="-122"/>
                <a:cs typeface="Inter" pitchFamily="34" charset="-120"/>
              </a:rPr>
              <a:t>Yes → </a:t>
            </a:r>
            <a:r>
              <a:rPr lang="en-US" sz="800" dirty="0">
                <a:solidFill>
                  <a:srgbClr val="545B69"/>
                </a:solidFill>
                <a:latin typeface="Inter" pitchFamily="34" charset="0"/>
                <a:ea typeface="Inter" pitchFamily="34" charset="-122"/>
                <a:cs typeface="Inter" pitchFamily="34" charset="-120"/>
              </a:rPr>
              <a:t>listing blocked &amp; reported</a:t>
            </a:r>
            <a:endParaRPr lang="en-US" sz="800" dirty="0"/>
          </a:p>
        </p:txBody>
      </p:sp>
      <p:sp>
        <p:nvSpPr>
          <p:cNvPr id="83" name="Text 80"/>
          <p:cNvSpPr txBox="1"/>
          <p:nvPr/>
        </p:nvSpPr>
        <p:spPr>
          <a:xfrm>
            <a:off x="5184648" y="5248656"/>
            <a:ext cx="1371600" cy="585216"/>
          </a:xfrm>
          <a:prstGeom prst="roundRect">
            <a:avLst>
              <a:gd name="adj" fmla="val 12500"/>
            </a:avLst>
          </a:prstGeom>
          <a:solidFill>
            <a:srgbClr val="B87503"/>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Shortlist &amp; hire</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On-platform applicants</a:t>
            </a:r>
            <a:endParaRPr lang="en-US" sz="950" dirty="0"/>
          </a:p>
        </p:txBody>
      </p:sp>
      <p:sp>
        <p:nvSpPr>
          <p:cNvPr id="84" name="Shape 81"/>
          <p:cNvSpPr/>
          <p:nvPr/>
        </p:nvSpPr>
        <p:spPr>
          <a:xfrm>
            <a:off x="6556248" y="5541264"/>
            <a:ext cx="201168" cy="0"/>
          </a:xfrm>
          <a:prstGeom prst="line">
            <a:avLst/>
          </a:prstGeom>
          <a:noFill/>
          <a:ln w="12700">
            <a:solidFill>
              <a:srgbClr val="545B69"/>
            </a:solidFill>
            <a:prstDash val="solid"/>
            <a:tailEnd type="triangle"/>
          </a:ln>
        </p:spPr>
        <p:txBody>
          <a:bodyPr/>
          <a:lstStyle/>
          <a:p>
            <a:endParaRPr lang="en-IN"/>
          </a:p>
        </p:txBody>
      </p:sp>
      <p:sp>
        <p:nvSpPr>
          <p:cNvPr id="85" name="Shape 82"/>
          <p:cNvSpPr/>
          <p:nvPr/>
        </p:nvSpPr>
        <p:spPr>
          <a:xfrm>
            <a:off x="6757416" y="5175504"/>
            <a:ext cx="1371600" cy="731520"/>
          </a:xfrm>
          <a:prstGeom prst="diamond">
            <a:avLst/>
          </a:prstGeom>
          <a:solidFill>
            <a:srgbClr val="FFFFFF"/>
          </a:solidFill>
          <a:ln w="12700">
            <a:solidFill>
              <a:srgbClr val="14161C"/>
            </a:solidFill>
            <a:prstDash val="solid"/>
          </a:ln>
        </p:spPr>
        <p:txBody>
          <a:bodyPr/>
          <a:lstStyle/>
          <a:p>
            <a:endParaRPr lang="en-IN"/>
          </a:p>
        </p:txBody>
      </p:sp>
      <p:sp>
        <p:nvSpPr>
          <p:cNvPr id="86" name="Text 83"/>
          <p:cNvSpPr txBox="1"/>
          <p:nvPr/>
        </p:nvSpPr>
        <p:spPr>
          <a:xfrm>
            <a:off x="6885432" y="5349240"/>
            <a:ext cx="1115568" cy="384048"/>
          </a:xfrm>
          <a:prstGeom prst="rect">
            <a:avLst/>
          </a:prstGeom>
          <a:no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Candidate</a:t>
            </a:r>
            <a:endParaRPr lang="en-US" sz="850" dirty="0"/>
          </a:p>
          <a:p>
            <a:pPr marL="0" indent="0" algn="ctr">
              <a:buNone/>
            </a:pPr>
            <a:r>
              <a:rPr lang="en-US" sz="850" b="1" dirty="0">
                <a:solidFill>
                  <a:srgbClr val="14161C"/>
                </a:solidFill>
                <a:latin typeface="Inter" pitchFamily="34" charset="0"/>
                <a:ea typeface="Inter" pitchFamily="34" charset="-122"/>
                <a:cs typeface="Inter" pitchFamily="34" charset="-120"/>
              </a:rPr>
              <a:t>confirms hire?</a:t>
            </a:r>
            <a:endParaRPr lang="en-US" sz="850" dirty="0"/>
          </a:p>
        </p:txBody>
      </p:sp>
      <p:sp>
        <p:nvSpPr>
          <p:cNvPr id="87" name="Shape 84"/>
          <p:cNvSpPr/>
          <p:nvPr/>
        </p:nvSpPr>
        <p:spPr>
          <a:xfrm>
            <a:off x="8129016" y="5541264"/>
            <a:ext cx="347472" cy="0"/>
          </a:xfrm>
          <a:prstGeom prst="line">
            <a:avLst/>
          </a:prstGeom>
          <a:noFill/>
          <a:ln w="12700">
            <a:solidFill>
              <a:srgbClr val="545B69"/>
            </a:solidFill>
            <a:prstDash val="solid"/>
            <a:tailEnd type="triangle"/>
          </a:ln>
        </p:spPr>
        <p:txBody>
          <a:bodyPr/>
          <a:lstStyle/>
          <a:p>
            <a:endParaRPr lang="en-IN"/>
          </a:p>
        </p:txBody>
      </p:sp>
      <p:sp>
        <p:nvSpPr>
          <p:cNvPr id="88" name="Text 85"/>
          <p:cNvSpPr txBox="1"/>
          <p:nvPr/>
        </p:nvSpPr>
        <p:spPr>
          <a:xfrm>
            <a:off x="8129016" y="5340096"/>
            <a:ext cx="347472" cy="146304"/>
          </a:xfrm>
          <a:prstGeom prst="rect">
            <a:avLst/>
          </a:prstGeom>
          <a:no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Yes</a:t>
            </a:r>
            <a:endParaRPr lang="en-US" sz="750" dirty="0"/>
          </a:p>
        </p:txBody>
      </p:sp>
      <p:sp>
        <p:nvSpPr>
          <p:cNvPr id="89" name="Text 86"/>
          <p:cNvSpPr txBox="1"/>
          <p:nvPr/>
        </p:nvSpPr>
        <p:spPr>
          <a:xfrm>
            <a:off x="6003036" y="5943600"/>
            <a:ext cx="2880360" cy="182880"/>
          </a:xfrm>
          <a:prstGeom prst="rect">
            <a:avLst/>
          </a:prstGeom>
          <a:noFill/>
          <a:ln/>
        </p:spPr>
        <p:txBody>
          <a:bodyPr wrap="square" lIns="0" tIns="0" rIns="0" bIns="0" rtlCol="0" anchor="ctr"/>
          <a:lstStyle/>
          <a:p>
            <a:pPr marL="0" indent="0" algn="ctr">
              <a:buNone/>
            </a:pPr>
            <a:r>
              <a:rPr lang="en-US" sz="800" b="1" dirty="0">
                <a:solidFill>
                  <a:srgbClr val="E5482D"/>
                </a:solidFill>
                <a:latin typeface="Inter" pitchFamily="34" charset="0"/>
                <a:ea typeface="Inter" pitchFamily="34" charset="-122"/>
                <a:cs typeface="Inter" pitchFamily="34" charset="-120"/>
              </a:rPr>
              <a:t>No</a:t>
            </a:r>
            <a:r>
              <a:rPr lang="en-US" sz="800" dirty="0">
                <a:solidFill>
                  <a:srgbClr val="545B69"/>
                </a:solidFill>
                <a:latin typeface="Inter" pitchFamily="34" charset="0"/>
                <a:ea typeface="Inter" pitchFamily="34" charset="-122"/>
                <a:cs typeface="Inter" pitchFamily="34" charset="-120"/>
              </a:rPr>
              <a:t>, or no hire in 60 days → “Unproven”, score down</a:t>
            </a:r>
            <a:endParaRPr lang="en-US" sz="800" dirty="0"/>
          </a:p>
        </p:txBody>
      </p:sp>
      <p:sp>
        <p:nvSpPr>
          <p:cNvPr id="90" name="Text 87"/>
          <p:cNvSpPr txBox="1"/>
          <p:nvPr/>
        </p:nvSpPr>
        <p:spPr>
          <a:xfrm>
            <a:off x="8476488" y="5248656"/>
            <a:ext cx="1591056" cy="585216"/>
          </a:xfrm>
          <a:prstGeom prst="roundRect">
            <a:avLst>
              <a:gd name="adj" fmla="val 12500"/>
            </a:avLst>
          </a:prstGeom>
          <a:solidFill>
            <a:srgbClr val="B87503"/>
          </a:solidFill>
          <a:ln/>
        </p:spPr>
        <p:txBody>
          <a:bodyPr wrap="square" lIns="50800" tIns="50800" rIns="50800" bIns="50800" rtlCol="0" anchor="ctr"/>
          <a:lstStyle/>
          <a:p>
            <a:pPr marL="0" indent="0">
              <a:spcAft>
                <a:spcPts val="100"/>
              </a:spcAft>
              <a:buNone/>
            </a:pPr>
            <a:r>
              <a:rPr lang="en-US" sz="950" b="1" dirty="0">
                <a:solidFill>
                  <a:srgbClr val="FFFFFF"/>
                </a:solidFill>
                <a:latin typeface="Inter" pitchFamily="34" charset="0"/>
                <a:ea typeface="Inter" pitchFamily="34" charset="-122"/>
                <a:cs typeface="Inter" pitchFamily="34" charset="-120"/>
              </a:rPr>
              <a:t>Verified hire</a:t>
            </a:r>
            <a:endParaRPr lang="en-US" sz="950" dirty="0"/>
          </a:p>
          <a:p>
            <a:pPr marL="0" indent="0">
              <a:spcAft>
                <a:spcPts val="100"/>
              </a:spcAft>
              <a:buNone/>
            </a:pPr>
            <a:r>
              <a:rPr lang="en-US" sz="800" dirty="0">
                <a:solidFill>
                  <a:srgbClr val="FFFFFF"/>
                </a:solidFill>
                <a:latin typeface="Inter" pitchFamily="34" charset="0"/>
                <a:ea typeface="Inter" pitchFamily="34" charset="-122"/>
                <a:cs typeface="Inter" pitchFamily="34" charset="-120"/>
              </a:rPr>
              <a:t>Hire-Proof Score goes up</a:t>
            </a:r>
            <a:endParaRPr lang="en-US" sz="950" dirty="0"/>
          </a:p>
        </p:txBody>
      </p:sp>
      <p:sp>
        <p:nvSpPr>
          <p:cNvPr id="91" name="Shape 88"/>
          <p:cNvSpPr/>
          <p:nvPr/>
        </p:nvSpPr>
        <p:spPr>
          <a:xfrm>
            <a:off x="10067544" y="5541264"/>
            <a:ext cx="356616" cy="0"/>
          </a:xfrm>
          <a:prstGeom prst="line">
            <a:avLst/>
          </a:prstGeom>
          <a:noFill/>
          <a:ln w="12700">
            <a:solidFill>
              <a:srgbClr val="545B69"/>
            </a:solidFill>
            <a:prstDash val="solid"/>
            <a:tailEnd type="triangle"/>
          </a:ln>
        </p:spPr>
        <p:txBody>
          <a:bodyPr/>
          <a:lstStyle/>
          <a:p>
            <a:endParaRPr lang="en-IN"/>
          </a:p>
        </p:txBody>
      </p:sp>
      <p:sp>
        <p:nvSpPr>
          <p:cNvPr id="92" name="Shape 89"/>
          <p:cNvSpPr/>
          <p:nvPr/>
        </p:nvSpPr>
        <p:spPr>
          <a:xfrm>
            <a:off x="10424160" y="3017520"/>
            <a:ext cx="1307592" cy="2816352"/>
          </a:xfrm>
          <a:prstGeom prst="roundRect">
            <a:avLst>
              <a:gd name="adj" fmla="val 6993"/>
            </a:avLst>
          </a:prstGeom>
          <a:solidFill>
            <a:srgbClr val="14161C"/>
          </a:solidFill>
          <a:ln/>
        </p:spPr>
        <p:txBody>
          <a:bodyPr/>
          <a:lstStyle/>
          <a:p>
            <a:endParaRPr lang="en-IN"/>
          </a:p>
        </p:txBody>
      </p:sp>
      <p:pic>
        <p:nvPicPr>
          <p:cNvPr id="93" name="Image 0" descr="preencoded.png"/>
          <p:cNvPicPr>
            <a:picLocks noChangeAspect="1"/>
          </p:cNvPicPr>
          <p:nvPr/>
        </p:nvPicPr>
        <p:blipFill>
          <a:blip r:embed="rId3"/>
          <a:stretch>
            <a:fillRect/>
          </a:stretch>
        </p:blipFill>
        <p:spPr>
          <a:xfrm>
            <a:off x="10543032" y="3145536"/>
            <a:ext cx="256032" cy="256032"/>
          </a:xfrm>
          <a:prstGeom prst="rect">
            <a:avLst/>
          </a:prstGeom>
        </p:spPr>
      </p:pic>
      <p:sp>
        <p:nvSpPr>
          <p:cNvPr id="94" name="Text 90"/>
          <p:cNvSpPr txBox="1"/>
          <p:nvPr/>
        </p:nvSpPr>
        <p:spPr>
          <a:xfrm>
            <a:off x="10543032" y="3465576"/>
            <a:ext cx="1143000" cy="182880"/>
          </a:xfrm>
          <a:prstGeom prst="rect">
            <a:avLst/>
          </a:prstGeom>
          <a:noFill/>
          <a:ln/>
        </p:spPr>
        <p:txBody>
          <a:bodyPr wrap="square" lIns="0" tIns="0" rIns="0" bIns="0" rtlCol="0" anchor="ctr"/>
          <a:lstStyle/>
          <a:p>
            <a:pPr marL="0" indent="0">
              <a:buNone/>
            </a:pPr>
            <a:r>
              <a:rPr lang="en-US" sz="800" b="1" kern="0" spc="100" dirty="0">
                <a:solidFill>
                  <a:srgbClr val="E5482D"/>
                </a:solidFill>
                <a:latin typeface="Inter" pitchFamily="34" charset="0"/>
                <a:ea typeface="Inter" pitchFamily="34" charset="-122"/>
                <a:cs typeface="Inter" pitchFamily="34" charset="-120"/>
              </a:rPr>
              <a:t>SCORE ENGINE</a:t>
            </a:r>
            <a:endParaRPr lang="en-US" sz="800" dirty="0"/>
          </a:p>
        </p:txBody>
      </p:sp>
      <p:sp>
        <p:nvSpPr>
          <p:cNvPr id="95" name="Text 91"/>
          <p:cNvSpPr txBox="1"/>
          <p:nvPr/>
        </p:nvSpPr>
        <p:spPr>
          <a:xfrm>
            <a:off x="10543032" y="3694176"/>
            <a:ext cx="1097280" cy="685800"/>
          </a:xfrm>
          <a:prstGeom prst="rect">
            <a:avLst/>
          </a:prstGeom>
          <a:noFill/>
          <a:ln/>
        </p:spPr>
        <p:txBody>
          <a:bodyPr wrap="square" lIns="0" tIns="0" rIns="0" bIns="0" rtlCol="0" anchor="t"/>
          <a:lstStyle/>
          <a:p>
            <a:pPr marL="0" indent="0">
              <a:buNone/>
            </a:pPr>
            <a:r>
              <a:rPr lang="en-US" sz="900" dirty="0">
                <a:solidFill>
                  <a:srgbClr val="FFFFFF"/>
                </a:solidFill>
                <a:latin typeface="Inter" pitchFamily="34" charset="0"/>
                <a:ea typeface="Inter" pitchFamily="34" charset="-122"/>
                <a:cs typeface="Inter" pitchFamily="34" charset="-120"/>
              </a:rPr>
              <a:t>Hire-Proof Score, Idea Pulse and match ranks recalculated</a:t>
            </a:r>
            <a:endParaRPr lang="en-US" sz="900" dirty="0"/>
          </a:p>
        </p:txBody>
      </p:sp>
      <p:sp>
        <p:nvSpPr>
          <p:cNvPr id="96" name="Shape 92"/>
          <p:cNvSpPr/>
          <p:nvPr/>
        </p:nvSpPr>
        <p:spPr>
          <a:xfrm>
            <a:off x="10543032" y="4535424"/>
            <a:ext cx="1069848" cy="0"/>
          </a:xfrm>
          <a:prstGeom prst="line">
            <a:avLst/>
          </a:prstGeom>
          <a:noFill/>
          <a:ln w="9525">
            <a:solidFill>
              <a:srgbClr val="3A3F4B"/>
            </a:solidFill>
            <a:prstDash val="solid"/>
          </a:ln>
        </p:spPr>
        <p:txBody>
          <a:bodyPr/>
          <a:lstStyle/>
          <a:p>
            <a:endParaRPr lang="en-IN"/>
          </a:p>
        </p:txBody>
      </p:sp>
      <p:sp>
        <p:nvSpPr>
          <p:cNvPr id="97" name="Text 93"/>
          <p:cNvSpPr txBox="1"/>
          <p:nvPr/>
        </p:nvSpPr>
        <p:spPr>
          <a:xfrm>
            <a:off x="10543032" y="4626864"/>
            <a:ext cx="1097280" cy="566928"/>
          </a:xfrm>
          <a:prstGeom prst="rect">
            <a:avLst/>
          </a:prstGeom>
          <a:noFill/>
          <a:ln/>
        </p:spPr>
        <p:txBody>
          <a:bodyPr wrap="square" lIns="0" tIns="0" rIns="0" bIns="0" rtlCol="0" anchor="t"/>
          <a:lstStyle/>
          <a:p>
            <a:pPr marL="0" indent="0">
              <a:buNone/>
            </a:pPr>
            <a:r>
              <a:rPr lang="en-US" sz="800" dirty="0">
                <a:solidFill>
                  <a:srgbClr val="A2A5AC"/>
                </a:solidFill>
                <a:latin typeface="Inter" pitchFamily="34" charset="0"/>
                <a:ea typeface="Inter" pitchFamily="34" charset="-122"/>
                <a:cs typeface="Inter" pitchFamily="34" charset="-120"/>
              </a:rPr>
              <a:t>Badges, flags and feeds update live (Supabase Realtime)</a:t>
            </a:r>
            <a:endParaRPr lang="en-US" sz="800" dirty="0"/>
          </a:p>
        </p:txBody>
      </p:sp>
      <p:sp>
        <p:nvSpPr>
          <p:cNvPr id="98" name="Text 94"/>
          <p:cNvSpPr txBox="1"/>
          <p:nvPr/>
        </p:nvSpPr>
        <p:spPr>
          <a:xfrm>
            <a:off x="10543032" y="4974336"/>
            <a:ext cx="1097280" cy="731520"/>
          </a:xfrm>
          <a:prstGeom prst="rect">
            <a:avLst/>
          </a:prstGeom>
          <a:noFill/>
          <a:ln/>
        </p:spPr>
        <p:txBody>
          <a:bodyPr wrap="square" lIns="0" tIns="0" rIns="0" bIns="0" rtlCol="0" anchor="b"/>
          <a:lstStyle/>
          <a:p>
            <a:pPr marL="0" indent="0">
              <a:buNone/>
            </a:pPr>
            <a:r>
              <a:rPr lang="en-US" sz="900" b="1" dirty="0">
                <a:solidFill>
                  <a:srgbClr val="2EE6A6"/>
                </a:solidFill>
                <a:latin typeface="Inter" pitchFamily="34" charset="0"/>
                <a:ea typeface="Inter" pitchFamily="34" charset="-122"/>
                <a:cs typeface="Inter" pitchFamily="34" charset="-120"/>
              </a:rPr>
              <a:t>↺ Smarter feed for the next user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5 / 7  ·  TECHNOLOGY</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Technology / Tech Stack</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100% free and open-source: we build the MVP in the hackathon round and run the campus pilot at ₹0 a month.</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5</a:t>
            </a:r>
            <a:endParaRPr lang="en-US" sz="1400" dirty="0"/>
          </a:p>
        </p:txBody>
      </p:sp>
      <p:sp>
        <p:nvSpPr>
          <p:cNvPr id="12" name="Text 9"/>
          <p:cNvSpPr txBox="1"/>
          <p:nvPr/>
        </p:nvSpPr>
        <p:spPr>
          <a:xfrm>
            <a:off x="457200" y="1755648"/>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TECH STACK</a:t>
            </a:r>
            <a:endParaRPr lang="en-US" sz="900" dirty="0"/>
          </a:p>
        </p:txBody>
      </p:sp>
      <p:sp>
        <p:nvSpPr>
          <p:cNvPr id="13" name="Text 10"/>
          <p:cNvSpPr txBox="1"/>
          <p:nvPr/>
        </p:nvSpPr>
        <p:spPr>
          <a:xfrm>
            <a:off x="2697480" y="1755648"/>
            <a:ext cx="3200400" cy="182880"/>
          </a:xfrm>
          <a:prstGeom prst="rect">
            <a:avLst/>
          </a:prstGeom>
          <a:noFill/>
          <a:ln/>
        </p:spPr>
        <p:txBody>
          <a:bodyPr wrap="square" lIns="0" tIns="0" rIns="0" bIns="0" rtlCol="0" anchor="ctr"/>
          <a:lstStyle/>
          <a:p>
            <a:pPr marL="0" indent="0" algn="r">
              <a:buNone/>
            </a:pPr>
            <a:r>
              <a:rPr lang="en-US" sz="900" b="1" kern="0" spc="150" dirty="0">
                <a:solidFill>
                  <a:srgbClr val="0F7A5A"/>
                </a:solidFill>
                <a:latin typeface="Inter" pitchFamily="34" charset="0"/>
                <a:ea typeface="Inter" pitchFamily="34" charset="-122"/>
                <a:cs typeface="Inter" pitchFamily="34" charset="-120"/>
              </a:rPr>
              <a:t>EVERY LAYER IS FREE OR OPEN SOURCE</a:t>
            </a:r>
            <a:endParaRPr lang="en-US" sz="900" dirty="0"/>
          </a:p>
        </p:txBody>
      </p:sp>
      <p:sp>
        <p:nvSpPr>
          <p:cNvPr id="14" name="Shape 11"/>
          <p:cNvSpPr/>
          <p:nvPr/>
        </p:nvSpPr>
        <p:spPr>
          <a:xfrm>
            <a:off x="457200" y="2103120"/>
            <a:ext cx="402336" cy="402336"/>
          </a:xfrm>
          <a:prstGeom prst="ellipse">
            <a:avLst/>
          </a:prstGeom>
          <a:solidFill>
            <a:srgbClr val="FFFFFF"/>
          </a:solidFill>
          <a:ln w="9525">
            <a:solidFill>
              <a:srgbClr val="DCDFE4"/>
            </a:solidFill>
            <a:prstDash val="solid"/>
          </a:ln>
        </p:spPr>
        <p:txBody>
          <a:bodyPr/>
          <a:lstStyle/>
          <a:p>
            <a:endParaRPr lang="en-IN"/>
          </a:p>
        </p:txBody>
      </p:sp>
      <p:pic>
        <p:nvPicPr>
          <p:cNvPr id="15" name="Image 0" descr="preencoded.png"/>
          <p:cNvPicPr>
            <a:picLocks noChangeAspect="1"/>
          </p:cNvPicPr>
          <p:nvPr/>
        </p:nvPicPr>
        <p:blipFill>
          <a:blip r:embed="rId3"/>
          <a:stretch>
            <a:fillRect/>
          </a:stretch>
        </p:blipFill>
        <p:spPr>
          <a:xfrm>
            <a:off x="548640" y="2194560"/>
            <a:ext cx="219456" cy="219456"/>
          </a:xfrm>
          <a:prstGeom prst="rect">
            <a:avLst/>
          </a:prstGeom>
        </p:spPr>
      </p:pic>
      <p:sp>
        <p:nvSpPr>
          <p:cNvPr id="16" name="Text 12"/>
          <p:cNvSpPr txBox="1"/>
          <p:nvPr/>
        </p:nvSpPr>
        <p:spPr>
          <a:xfrm>
            <a:off x="987552" y="2066544"/>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Frontend</a:t>
            </a:r>
            <a:endParaRPr lang="en-US" sz="1150" dirty="0"/>
          </a:p>
        </p:txBody>
      </p:sp>
      <p:sp>
        <p:nvSpPr>
          <p:cNvPr id="17" name="Text 13"/>
          <p:cNvSpPr txBox="1"/>
          <p:nvPr/>
        </p:nvSpPr>
        <p:spPr>
          <a:xfrm>
            <a:off x="987552" y="2286000"/>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Mobile-first; installs like an app</a:t>
            </a:r>
            <a:endParaRPr lang="en-US" sz="850" dirty="0"/>
          </a:p>
        </p:txBody>
      </p:sp>
      <p:sp>
        <p:nvSpPr>
          <p:cNvPr id="18" name="Text 14"/>
          <p:cNvSpPr txBox="1"/>
          <p:nvPr/>
        </p:nvSpPr>
        <p:spPr>
          <a:xfrm>
            <a:off x="2542032" y="2048256"/>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Next.js (React), Tailwind CSS, shadcn/ui; installable PWA</a:t>
            </a:r>
            <a:endParaRPr lang="en-US" sz="950" dirty="0"/>
          </a:p>
        </p:txBody>
      </p:sp>
      <p:sp>
        <p:nvSpPr>
          <p:cNvPr id="19" name="Text 15"/>
          <p:cNvSpPr txBox="1"/>
          <p:nvPr/>
        </p:nvSpPr>
        <p:spPr>
          <a:xfrm>
            <a:off x="5257800" y="2194560"/>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20" name="Shape 16"/>
          <p:cNvSpPr/>
          <p:nvPr/>
        </p:nvSpPr>
        <p:spPr>
          <a:xfrm>
            <a:off x="457200" y="2624328"/>
            <a:ext cx="5440680" cy="0"/>
          </a:xfrm>
          <a:prstGeom prst="line">
            <a:avLst/>
          </a:prstGeom>
          <a:noFill/>
          <a:ln w="9525">
            <a:solidFill>
              <a:srgbClr val="DCDFE4"/>
            </a:solidFill>
            <a:prstDash val="solid"/>
          </a:ln>
        </p:spPr>
        <p:txBody>
          <a:bodyPr/>
          <a:lstStyle/>
          <a:p>
            <a:endParaRPr lang="en-IN"/>
          </a:p>
        </p:txBody>
      </p:sp>
      <p:sp>
        <p:nvSpPr>
          <p:cNvPr id="21" name="Shape 17"/>
          <p:cNvSpPr/>
          <p:nvPr/>
        </p:nvSpPr>
        <p:spPr>
          <a:xfrm>
            <a:off x="457200" y="2715768"/>
            <a:ext cx="402336" cy="402336"/>
          </a:xfrm>
          <a:prstGeom prst="ellipse">
            <a:avLst/>
          </a:prstGeom>
          <a:solidFill>
            <a:srgbClr val="FFFFFF"/>
          </a:solidFill>
          <a:ln w="9525">
            <a:solidFill>
              <a:srgbClr val="DCDFE4"/>
            </a:solidFill>
            <a:prstDash val="solid"/>
          </a:ln>
        </p:spPr>
        <p:txBody>
          <a:bodyPr/>
          <a:lstStyle/>
          <a:p>
            <a:endParaRPr lang="en-IN"/>
          </a:p>
        </p:txBody>
      </p:sp>
      <p:pic>
        <p:nvPicPr>
          <p:cNvPr id="22" name="Image 1" descr="preencoded.png"/>
          <p:cNvPicPr>
            <a:picLocks noChangeAspect="1"/>
          </p:cNvPicPr>
          <p:nvPr/>
        </p:nvPicPr>
        <p:blipFill>
          <a:blip r:embed="rId4"/>
          <a:stretch>
            <a:fillRect/>
          </a:stretch>
        </p:blipFill>
        <p:spPr>
          <a:xfrm>
            <a:off x="548640" y="2807208"/>
            <a:ext cx="219456" cy="219456"/>
          </a:xfrm>
          <a:prstGeom prst="rect">
            <a:avLst/>
          </a:prstGeom>
        </p:spPr>
      </p:pic>
      <p:sp>
        <p:nvSpPr>
          <p:cNvPr id="23" name="Text 18"/>
          <p:cNvSpPr txBox="1"/>
          <p:nvPr/>
        </p:nvSpPr>
        <p:spPr>
          <a:xfrm>
            <a:off x="987552" y="2679192"/>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Backend</a:t>
            </a:r>
            <a:endParaRPr lang="en-US" sz="1150" dirty="0"/>
          </a:p>
        </p:txBody>
      </p:sp>
      <p:sp>
        <p:nvSpPr>
          <p:cNvPr id="24" name="Text 19"/>
          <p:cNvSpPr txBox="1"/>
          <p:nvPr/>
        </p:nvSpPr>
        <p:spPr>
          <a:xfrm>
            <a:off x="987552" y="2898648"/>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Serverless, so no server bills</a:t>
            </a:r>
            <a:endParaRPr lang="en-US" sz="850" dirty="0"/>
          </a:p>
        </p:txBody>
      </p:sp>
      <p:sp>
        <p:nvSpPr>
          <p:cNvPr id="25" name="Text 20"/>
          <p:cNvSpPr txBox="1"/>
          <p:nvPr/>
        </p:nvSpPr>
        <p:spPr>
          <a:xfrm>
            <a:off x="2542032" y="2660904"/>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Next.js API routes + Supabase Edge Functions (Hire-Proof engine, 60-day hire checks via pg_cron)</a:t>
            </a:r>
            <a:endParaRPr lang="en-US" sz="950" dirty="0"/>
          </a:p>
        </p:txBody>
      </p:sp>
      <p:sp>
        <p:nvSpPr>
          <p:cNvPr id="26" name="Text 21"/>
          <p:cNvSpPr txBox="1"/>
          <p:nvPr/>
        </p:nvSpPr>
        <p:spPr>
          <a:xfrm>
            <a:off x="5257800" y="2807208"/>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27" name="Shape 22"/>
          <p:cNvSpPr/>
          <p:nvPr/>
        </p:nvSpPr>
        <p:spPr>
          <a:xfrm>
            <a:off x="457200" y="3236976"/>
            <a:ext cx="5440680" cy="0"/>
          </a:xfrm>
          <a:prstGeom prst="line">
            <a:avLst/>
          </a:prstGeom>
          <a:noFill/>
          <a:ln w="9525">
            <a:solidFill>
              <a:srgbClr val="DCDFE4"/>
            </a:solidFill>
            <a:prstDash val="solid"/>
          </a:ln>
        </p:spPr>
        <p:txBody>
          <a:bodyPr/>
          <a:lstStyle/>
          <a:p>
            <a:endParaRPr lang="en-IN"/>
          </a:p>
        </p:txBody>
      </p:sp>
      <p:sp>
        <p:nvSpPr>
          <p:cNvPr id="28" name="Shape 23"/>
          <p:cNvSpPr/>
          <p:nvPr/>
        </p:nvSpPr>
        <p:spPr>
          <a:xfrm>
            <a:off x="457200" y="3328416"/>
            <a:ext cx="402336" cy="402336"/>
          </a:xfrm>
          <a:prstGeom prst="ellipse">
            <a:avLst/>
          </a:prstGeom>
          <a:solidFill>
            <a:srgbClr val="FFFFFF"/>
          </a:solidFill>
          <a:ln w="9525">
            <a:solidFill>
              <a:srgbClr val="DCDFE4"/>
            </a:solidFill>
            <a:prstDash val="solid"/>
          </a:ln>
        </p:spPr>
        <p:txBody>
          <a:bodyPr/>
          <a:lstStyle/>
          <a:p>
            <a:endParaRPr lang="en-IN"/>
          </a:p>
        </p:txBody>
      </p:sp>
      <p:pic>
        <p:nvPicPr>
          <p:cNvPr id="29" name="Image 2" descr="preencoded.png"/>
          <p:cNvPicPr>
            <a:picLocks noChangeAspect="1"/>
          </p:cNvPicPr>
          <p:nvPr/>
        </p:nvPicPr>
        <p:blipFill>
          <a:blip r:embed="rId5"/>
          <a:stretch>
            <a:fillRect/>
          </a:stretch>
        </p:blipFill>
        <p:spPr>
          <a:xfrm>
            <a:off x="548640" y="3419856"/>
            <a:ext cx="219456" cy="219456"/>
          </a:xfrm>
          <a:prstGeom prst="rect">
            <a:avLst/>
          </a:prstGeom>
        </p:spPr>
      </p:pic>
      <p:sp>
        <p:nvSpPr>
          <p:cNvPr id="30" name="Text 24"/>
          <p:cNvSpPr txBox="1"/>
          <p:nvPr/>
        </p:nvSpPr>
        <p:spPr>
          <a:xfrm>
            <a:off x="987552" y="3291840"/>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Database</a:t>
            </a:r>
            <a:endParaRPr lang="en-US" sz="1150" dirty="0"/>
          </a:p>
        </p:txBody>
      </p:sp>
      <p:sp>
        <p:nvSpPr>
          <p:cNvPr id="31" name="Text 25"/>
          <p:cNvSpPr txBox="1"/>
          <p:nvPr/>
        </p:nvSpPr>
        <p:spPr>
          <a:xfrm>
            <a:off x="987552" y="3511296"/>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Relational data, AI search, live updates</a:t>
            </a:r>
            <a:endParaRPr lang="en-US" sz="850" dirty="0"/>
          </a:p>
        </p:txBody>
      </p:sp>
      <p:sp>
        <p:nvSpPr>
          <p:cNvPr id="32" name="Text 26"/>
          <p:cNvSpPr txBox="1"/>
          <p:nvPr/>
        </p:nvSpPr>
        <p:spPr>
          <a:xfrm>
            <a:off x="2542032" y="3273552"/>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Supabase PostgreSQL + pgvector, Realtime (live polls, Q&amp;A), Storage (resumes, offer proofs)</a:t>
            </a:r>
            <a:endParaRPr lang="en-US" sz="950" dirty="0"/>
          </a:p>
        </p:txBody>
      </p:sp>
      <p:sp>
        <p:nvSpPr>
          <p:cNvPr id="33" name="Text 27"/>
          <p:cNvSpPr txBox="1"/>
          <p:nvPr/>
        </p:nvSpPr>
        <p:spPr>
          <a:xfrm>
            <a:off x="5257800" y="3419856"/>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34" name="Shape 28"/>
          <p:cNvSpPr/>
          <p:nvPr/>
        </p:nvSpPr>
        <p:spPr>
          <a:xfrm>
            <a:off x="457200" y="3849624"/>
            <a:ext cx="5440680" cy="0"/>
          </a:xfrm>
          <a:prstGeom prst="line">
            <a:avLst/>
          </a:prstGeom>
          <a:noFill/>
          <a:ln w="9525">
            <a:solidFill>
              <a:srgbClr val="DCDFE4"/>
            </a:solidFill>
            <a:prstDash val="solid"/>
          </a:ln>
        </p:spPr>
        <p:txBody>
          <a:bodyPr/>
          <a:lstStyle/>
          <a:p>
            <a:endParaRPr lang="en-IN"/>
          </a:p>
        </p:txBody>
      </p:sp>
      <p:sp>
        <p:nvSpPr>
          <p:cNvPr id="35" name="Shape 29"/>
          <p:cNvSpPr/>
          <p:nvPr/>
        </p:nvSpPr>
        <p:spPr>
          <a:xfrm>
            <a:off x="457200" y="3941064"/>
            <a:ext cx="402336" cy="402336"/>
          </a:xfrm>
          <a:prstGeom prst="ellipse">
            <a:avLst/>
          </a:prstGeom>
          <a:solidFill>
            <a:srgbClr val="FFFFFF"/>
          </a:solidFill>
          <a:ln w="9525">
            <a:solidFill>
              <a:srgbClr val="DCDFE4"/>
            </a:solidFill>
            <a:prstDash val="solid"/>
          </a:ln>
        </p:spPr>
        <p:txBody>
          <a:bodyPr/>
          <a:lstStyle/>
          <a:p>
            <a:endParaRPr lang="en-IN"/>
          </a:p>
        </p:txBody>
      </p:sp>
      <p:pic>
        <p:nvPicPr>
          <p:cNvPr id="36" name="Image 3" descr="preencoded.png"/>
          <p:cNvPicPr>
            <a:picLocks noChangeAspect="1"/>
          </p:cNvPicPr>
          <p:nvPr/>
        </p:nvPicPr>
        <p:blipFill>
          <a:blip r:embed="rId6"/>
          <a:stretch>
            <a:fillRect/>
          </a:stretch>
        </p:blipFill>
        <p:spPr>
          <a:xfrm>
            <a:off x="548640" y="4032504"/>
            <a:ext cx="219456" cy="219456"/>
          </a:xfrm>
          <a:prstGeom prst="rect">
            <a:avLst/>
          </a:prstGeom>
        </p:spPr>
      </p:pic>
      <p:sp>
        <p:nvSpPr>
          <p:cNvPr id="37" name="Text 30"/>
          <p:cNvSpPr txBox="1"/>
          <p:nvPr/>
        </p:nvSpPr>
        <p:spPr>
          <a:xfrm>
            <a:off x="987552" y="3904488"/>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Auth &amp; security</a:t>
            </a:r>
            <a:endParaRPr lang="en-US" sz="1150" dirty="0"/>
          </a:p>
        </p:txBody>
      </p:sp>
      <p:sp>
        <p:nvSpPr>
          <p:cNvPr id="38" name="Text 31"/>
          <p:cNvSpPr txBox="1"/>
          <p:nvPr/>
        </p:nvSpPr>
        <p:spPr>
          <a:xfrm>
            <a:off x="987552" y="4123944"/>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Rules enforced inside the database</a:t>
            </a:r>
            <a:endParaRPr lang="en-US" sz="850" dirty="0"/>
          </a:p>
        </p:txBody>
      </p:sp>
      <p:sp>
        <p:nvSpPr>
          <p:cNvPr id="39" name="Text 32"/>
          <p:cNvSpPr txBox="1"/>
          <p:nvPr/>
        </p:nvSpPr>
        <p:spPr>
          <a:xfrm>
            <a:off x="2542032" y="3886200"/>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Supabase Auth (Google OAuth + college / company email OTP), Row-Level Security, JWT, Cloudflare Turnstile, DPDP consent</a:t>
            </a:r>
            <a:endParaRPr lang="en-US" sz="950" dirty="0"/>
          </a:p>
        </p:txBody>
      </p:sp>
      <p:sp>
        <p:nvSpPr>
          <p:cNvPr id="40" name="Text 33"/>
          <p:cNvSpPr txBox="1"/>
          <p:nvPr/>
        </p:nvSpPr>
        <p:spPr>
          <a:xfrm>
            <a:off x="5257800" y="4032504"/>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41" name="Shape 34"/>
          <p:cNvSpPr/>
          <p:nvPr/>
        </p:nvSpPr>
        <p:spPr>
          <a:xfrm>
            <a:off x="457200" y="4462272"/>
            <a:ext cx="5440680" cy="0"/>
          </a:xfrm>
          <a:prstGeom prst="line">
            <a:avLst/>
          </a:prstGeom>
          <a:noFill/>
          <a:ln w="9525">
            <a:solidFill>
              <a:srgbClr val="DCDFE4"/>
            </a:solidFill>
            <a:prstDash val="solid"/>
          </a:ln>
        </p:spPr>
        <p:txBody>
          <a:bodyPr/>
          <a:lstStyle/>
          <a:p>
            <a:endParaRPr lang="en-IN"/>
          </a:p>
        </p:txBody>
      </p:sp>
      <p:sp>
        <p:nvSpPr>
          <p:cNvPr id="42" name="Shape 35"/>
          <p:cNvSpPr/>
          <p:nvPr/>
        </p:nvSpPr>
        <p:spPr>
          <a:xfrm>
            <a:off x="457200" y="4553712"/>
            <a:ext cx="402336" cy="402336"/>
          </a:xfrm>
          <a:prstGeom prst="ellipse">
            <a:avLst/>
          </a:prstGeom>
          <a:solidFill>
            <a:srgbClr val="FFFFFF"/>
          </a:solidFill>
          <a:ln w="9525">
            <a:solidFill>
              <a:srgbClr val="DCDFE4"/>
            </a:solidFill>
            <a:prstDash val="solid"/>
          </a:ln>
        </p:spPr>
        <p:txBody>
          <a:bodyPr/>
          <a:lstStyle/>
          <a:p>
            <a:endParaRPr lang="en-IN"/>
          </a:p>
        </p:txBody>
      </p:sp>
      <p:pic>
        <p:nvPicPr>
          <p:cNvPr id="43" name="Image 4" descr="preencoded.png"/>
          <p:cNvPicPr>
            <a:picLocks noChangeAspect="1"/>
          </p:cNvPicPr>
          <p:nvPr/>
        </p:nvPicPr>
        <p:blipFill>
          <a:blip r:embed="rId7"/>
          <a:stretch>
            <a:fillRect/>
          </a:stretch>
        </p:blipFill>
        <p:spPr>
          <a:xfrm>
            <a:off x="548640" y="4645152"/>
            <a:ext cx="219456" cy="219456"/>
          </a:xfrm>
          <a:prstGeom prst="rect">
            <a:avLst/>
          </a:prstGeom>
        </p:spPr>
      </p:pic>
      <p:sp>
        <p:nvSpPr>
          <p:cNvPr id="44" name="Text 36"/>
          <p:cNvSpPr txBox="1"/>
          <p:nvPr/>
        </p:nvSpPr>
        <p:spPr>
          <a:xfrm>
            <a:off x="987552" y="4517136"/>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AI layer</a:t>
            </a:r>
            <a:endParaRPr lang="en-US" sz="1150" dirty="0"/>
          </a:p>
        </p:txBody>
      </p:sp>
      <p:sp>
        <p:nvSpPr>
          <p:cNvPr id="45" name="Text 37"/>
          <p:cNvSpPr txBox="1"/>
          <p:nvPr/>
        </p:nvSpPr>
        <p:spPr>
          <a:xfrm>
            <a:off x="987552" y="4736592"/>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Matching, coaching, moderation</a:t>
            </a:r>
            <a:endParaRPr lang="en-US" sz="850" dirty="0"/>
          </a:p>
        </p:txBody>
      </p:sp>
      <p:sp>
        <p:nvSpPr>
          <p:cNvPr id="46" name="Text 38"/>
          <p:cNvSpPr txBox="1"/>
          <p:nvPr/>
        </p:nvSpPr>
        <p:spPr>
          <a:xfrm>
            <a:off x="2542032" y="4498848"/>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Gemini API free tier (Flash-Lite) + open-source MiniLM embeddings via Transformers.js, pgvector search</a:t>
            </a:r>
            <a:endParaRPr lang="en-US" sz="950" dirty="0"/>
          </a:p>
        </p:txBody>
      </p:sp>
      <p:sp>
        <p:nvSpPr>
          <p:cNvPr id="47" name="Text 39"/>
          <p:cNvSpPr txBox="1"/>
          <p:nvPr/>
        </p:nvSpPr>
        <p:spPr>
          <a:xfrm>
            <a:off x="5257800" y="4645152"/>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48" name="Shape 40"/>
          <p:cNvSpPr/>
          <p:nvPr/>
        </p:nvSpPr>
        <p:spPr>
          <a:xfrm>
            <a:off x="457200" y="5074920"/>
            <a:ext cx="5440680" cy="0"/>
          </a:xfrm>
          <a:prstGeom prst="line">
            <a:avLst/>
          </a:prstGeom>
          <a:noFill/>
          <a:ln w="9525">
            <a:solidFill>
              <a:srgbClr val="DCDFE4"/>
            </a:solidFill>
            <a:prstDash val="solid"/>
          </a:ln>
        </p:spPr>
        <p:txBody>
          <a:bodyPr/>
          <a:lstStyle/>
          <a:p>
            <a:endParaRPr lang="en-IN"/>
          </a:p>
        </p:txBody>
      </p:sp>
      <p:sp>
        <p:nvSpPr>
          <p:cNvPr id="49" name="Shape 41"/>
          <p:cNvSpPr/>
          <p:nvPr/>
        </p:nvSpPr>
        <p:spPr>
          <a:xfrm>
            <a:off x="457200" y="5166360"/>
            <a:ext cx="402336" cy="402336"/>
          </a:xfrm>
          <a:prstGeom prst="ellipse">
            <a:avLst/>
          </a:prstGeom>
          <a:solidFill>
            <a:srgbClr val="FFFFFF"/>
          </a:solidFill>
          <a:ln w="9525">
            <a:solidFill>
              <a:srgbClr val="DCDFE4"/>
            </a:solidFill>
            <a:prstDash val="solid"/>
          </a:ln>
        </p:spPr>
        <p:txBody>
          <a:bodyPr/>
          <a:lstStyle/>
          <a:p>
            <a:endParaRPr lang="en-IN"/>
          </a:p>
        </p:txBody>
      </p:sp>
      <p:pic>
        <p:nvPicPr>
          <p:cNvPr id="50" name="Image 5" descr="preencoded.png"/>
          <p:cNvPicPr>
            <a:picLocks noChangeAspect="1"/>
          </p:cNvPicPr>
          <p:nvPr/>
        </p:nvPicPr>
        <p:blipFill>
          <a:blip r:embed="rId8"/>
          <a:stretch>
            <a:fillRect/>
          </a:stretch>
        </p:blipFill>
        <p:spPr>
          <a:xfrm>
            <a:off x="548640" y="5257800"/>
            <a:ext cx="219456" cy="219456"/>
          </a:xfrm>
          <a:prstGeom prst="rect">
            <a:avLst/>
          </a:prstGeom>
        </p:spPr>
      </p:pic>
      <p:sp>
        <p:nvSpPr>
          <p:cNvPr id="51" name="Text 42"/>
          <p:cNvSpPr txBox="1"/>
          <p:nvPr/>
        </p:nvSpPr>
        <p:spPr>
          <a:xfrm>
            <a:off x="987552" y="5129784"/>
            <a:ext cx="1463040" cy="219456"/>
          </a:xfrm>
          <a:prstGeom prst="rect">
            <a:avLst/>
          </a:prstGeom>
          <a:noFill/>
          <a:ln/>
        </p:spPr>
        <p:txBody>
          <a:bodyPr wrap="square" lIns="0" tIns="0" rIns="0" bIns="0" rtlCol="0" anchor="ctr"/>
          <a:lstStyle/>
          <a:p>
            <a:pPr marL="0" indent="0">
              <a:buNone/>
            </a:pPr>
            <a:r>
              <a:rPr lang="en-US" sz="1150" b="1" dirty="0">
                <a:solidFill>
                  <a:srgbClr val="14161C"/>
                </a:solidFill>
                <a:latin typeface="Inter" pitchFamily="34" charset="0"/>
                <a:ea typeface="Inter" pitchFamily="34" charset="-122"/>
                <a:cs typeface="Inter" pitchFamily="34" charset="-120"/>
              </a:rPr>
              <a:t>Deployment</a:t>
            </a:r>
            <a:endParaRPr lang="en-US" sz="1150" dirty="0"/>
          </a:p>
        </p:txBody>
      </p:sp>
      <p:sp>
        <p:nvSpPr>
          <p:cNvPr id="52" name="Text 43"/>
          <p:cNvSpPr txBox="1"/>
          <p:nvPr/>
        </p:nvSpPr>
        <p:spPr>
          <a:xfrm>
            <a:off x="987552" y="5349240"/>
            <a:ext cx="1463040" cy="310896"/>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One-command deploys from the CLI</a:t>
            </a:r>
            <a:endParaRPr lang="en-US" sz="850" dirty="0"/>
          </a:p>
        </p:txBody>
      </p:sp>
      <p:sp>
        <p:nvSpPr>
          <p:cNvPr id="53" name="Text 44"/>
          <p:cNvSpPr txBox="1"/>
          <p:nvPr/>
        </p:nvSpPr>
        <p:spPr>
          <a:xfrm>
            <a:off x="2542032" y="5111496"/>
            <a:ext cx="2606040" cy="548640"/>
          </a:xfrm>
          <a:prstGeom prst="rect">
            <a:avLst/>
          </a:prstGeom>
          <a:noFill/>
          <a:ln/>
        </p:spPr>
        <p:txBody>
          <a:bodyPr wrap="square" lIns="0" tIns="0" rIns="0" bIns="0" rtlCol="0" anchor="ctr"/>
          <a:lstStyle/>
          <a:p>
            <a:pPr marL="0" indent="0">
              <a:buNone/>
            </a:pPr>
            <a:r>
              <a:rPr lang="en-US" sz="950" dirty="0">
                <a:solidFill>
                  <a:srgbClr val="14161C"/>
                </a:solidFill>
                <a:latin typeface="Inter" pitchFamily="34" charset="0"/>
                <a:ea typeface="Inter" pitchFamily="34" charset="-122"/>
                <a:cs typeface="Inter" pitchFamily="34" charset="-120"/>
              </a:rPr>
              <a:t>GitHub → Vercel Hobby (vercel --prod), Supabase CLI migrations, GitHub Actions CI, Cloudflare SSL</a:t>
            </a:r>
            <a:endParaRPr lang="en-US" sz="950" dirty="0"/>
          </a:p>
        </p:txBody>
      </p:sp>
      <p:sp>
        <p:nvSpPr>
          <p:cNvPr id="54" name="Text 45"/>
          <p:cNvSpPr txBox="1"/>
          <p:nvPr/>
        </p:nvSpPr>
        <p:spPr>
          <a:xfrm>
            <a:off x="5257800" y="5257800"/>
            <a:ext cx="640080" cy="237744"/>
          </a:xfrm>
          <a:prstGeom prst="roundRect">
            <a:avLst>
              <a:gd name="adj" fmla="val 50000"/>
            </a:avLst>
          </a:prstGeom>
          <a:solidFill>
            <a:srgbClr val="0F7A5A"/>
          </a:solidFill>
          <a:ln/>
        </p:spPr>
        <p:txBody>
          <a:bodyPr wrap="square" lIns="0" tIns="0" rIns="0" bIns="0" rtlCol="0" anchor="ctr"/>
          <a:lstStyle/>
          <a:p>
            <a:pPr marL="0" indent="0" algn="ctr">
              <a:buNone/>
            </a:pPr>
            <a:r>
              <a:rPr lang="en-US" sz="850" b="1" kern="0" spc="100" dirty="0">
                <a:solidFill>
                  <a:srgbClr val="FFFFFF"/>
                </a:solidFill>
                <a:latin typeface="Inter" pitchFamily="34" charset="0"/>
                <a:ea typeface="Inter" pitchFamily="34" charset="-122"/>
                <a:cs typeface="Inter" pitchFamily="34" charset="-120"/>
              </a:rPr>
              <a:t>FREE</a:t>
            </a:r>
            <a:endParaRPr lang="en-US" sz="850" dirty="0"/>
          </a:p>
        </p:txBody>
      </p:sp>
      <p:sp>
        <p:nvSpPr>
          <p:cNvPr id="55" name="Shape 46"/>
          <p:cNvSpPr/>
          <p:nvPr/>
        </p:nvSpPr>
        <p:spPr>
          <a:xfrm>
            <a:off x="457200" y="5742432"/>
            <a:ext cx="5440680" cy="566928"/>
          </a:xfrm>
          <a:prstGeom prst="roundRect">
            <a:avLst>
              <a:gd name="adj" fmla="val 16129"/>
            </a:avLst>
          </a:prstGeom>
          <a:solidFill>
            <a:srgbClr val="14161C"/>
          </a:solidFill>
          <a:ln/>
        </p:spPr>
        <p:txBody>
          <a:bodyPr/>
          <a:lstStyle/>
          <a:p>
            <a:endParaRPr lang="en-IN"/>
          </a:p>
        </p:txBody>
      </p:sp>
      <p:sp>
        <p:nvSpPr>
          <p:cNvPr id="56" name="Text 47"/>
          <p:cNvSpPr txBox="1"/>
          <p:nvPr/>
        </p:nvSpPr>
        <p:spPr>
          <a:xfrm>
            <a:off x="640080" y="5760720"/>
            <a:ext cx="5120640" cy="530352"/>
          </a:xfrm>
          <a:prstGeom prst="rect">
            <a:avLst/>
          </a:prstGeom>
          <a:noFill/>
          <a:ln/>
        </p:spPr>
        <p:txBody>
          <a:bodyPr wrap="square" lIns="0" tIns="0" rIns="0" bIns="0" rtlCol="0" anchor="ctr"/>
          <a:lstStyle/>
          <a:p>
            <a:pPr marL="0" indent="0">
              <a:buNone/>
            </a:pPr>
            <a:r>
              <a:rPr lang="en-US" sz="950" b="1" dirty="0">
                <a:solidFill>
                  <a:srgbClr val="FFFFFF"/>
                </a:solidFill>
                <a:latin typeface="Inter" pitchFamily="34" charset="0"/>
                <a:ea typeface="Inter" pitchFamily="34" charset="-122"/>
                <a:cs typeface="Inter" pitchFamily="34" charset="-120"/>
              </a:rPr>
              <a:t>₹0 / month for the campus pilot. </a:t>
            </a:r>
            <a:r>
              <a:rPr lang="en-US" sz="950" dirty="0">
                <a:solidFill>
                  <a:srgbClr val="D9DCE1"/>
                </a:solidFill>
                <a:latin typeface="Inter" pitchFamily="34" charset="0"/>
                <a:ea typeface="Inter" pitchFamily="34" charset="-122"/>
                <a:cs typeface="Inter" pitchFamily="34" charset="-120"/>
              </a:rPr>
              <a:t>Vercel Hobby, Supabase Free (500 MB database, 50,000 monthly users) and the Gemini free tier cover a one-campus pilot.</a:t>
            </a:r>
            <a:endParaRPr lang="en-US" sz="950" dirty="0"/>
          </a:p>
        </p:txBody>
      </p:sp>
      <p:sp>
        <p:nvSpPr>
          <p:cNvPr id="57" name="Text 48"/>
          <p:cNvSpPr txBox="1"/>
          <p:nvPr/>
        </p:nvSpPr>
        <p:spPr>
          <a:xfrm>
            <a:off x="6217920" y="1755648"/>
            <a:ext cx="36576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ARCHITECTURE / WORKFLOW</a:t>
            </a:r>
            <a:endParaRPr lang="en-US" sz="900" dirty="0"/>
          </a:p>
        </p:txBody>
      </p:sp>
      <p:sp>
        <p:nvSpPr>
          <p:cNvPr id="58" name="Text 49"/>
          <p:cNvSpPr txBox="1"/>
          <p:nvPr/>
        </p:nvSpPr>
        <p:spPr>
          <a:xfrm>
            <a:off x="6217920" y="2011680"/>
            <a:ext cx="1029614" cy="29260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Job seeker</a:t>
            </a:r>
            <a:endParaRPr lang="en-US" sz="850" dirty="0"/>
          </a:p>
        </p:txBody>
      </p:sp>
      <p:sp>
        <p:nvSpPr>
          <p:cNvPr id="59" name="Text 50"/>
          <p:cNvSpPr txBox="1"/>
          <p:nvPr/>
        </p:nvSpPr>
        <p:spPr>
          <a:xfrm>
            <a:off x="7338974" y="2011680"/>
            <a:ext cx="1029614" cy="29260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Founder</a:t>
            </a:r>
            <a:endParaRPr lang="en-US" sz="850" dirty="0"/>
          </a:p>
        </p:txBody>
      </p:sp>
      <p:sp>
        <p:nvSpPr>
          <p:cNvPr id="60" name="Text 51"/>
          <p:cNvSpPr txBox="1"/>
          <p:nvPr/>
        </p:nvSpPr>
        <p:spPr>
          <a:xfrm>
            <a:off x="8460029" y="2011680"/>
            <a:ext cx="1029614" cy="29260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Recruiter</a:t>
            </a:r>
            <a:endParaRPr lang="en-US" sz="850" dirty="0"/>
          </a:p>
        </p:txBody>
      </p:sp>
      <p:sp>
        <p:nvSpPr>
          <p:cNvPr id="61" name="Text 52"/>
          <p:cNvSpPr txBox="1"/>
          <p:nvPr/>
        </p:nvSpPr>
        <p:spPr>
          <a:xfrm>
            <a:off x="9581083" y="2011680"/>
            <a:ext cx="1029614" cy="29260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Mentor</a:t>
            </a:r>
            <a:endParaRPr lang="en-US" sz="850" dirty="0"/>
          </a:p>
        </p:txBody>
      </p:sp>
      <p:sp>
        <p:nvSpPr>
          <p:cNvPr id="62" name="Text 53"/>
          <p:cNvSpPr txBox="1"/>
          <p:nvPr/>
        </p:nvSpPr>
        <p:spPr>
          <a:xfrm>
            <a:off x="10702138" y="2011680"/>
            <a:ext cx="1029614" cy="29260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Admin / T&amp;P</a:t>
            </a:r>
            <a:endParaRPr lang="en-US" sz="850" dirty="0"/>
          </a:p>
        </p:txBody>
      </p:sp>
      <p:sp>
        <p:nvSpPr>
          <p:cNvPr id="63" name="Shape 54"/>
          <p:cNvSpPr/>
          <p:nvPr/>
        </p:nvSpPr>
        <p:spPr>
          <a:xfrm>
            <a:off x="8974836" y="2304288"/>
            <a:ext cx="0" cy="237744"/>
          </a:xfrm>
          <a:prstGeom prst="line">
            <a:avLst/>
          </a:prstGeom>
          <a:noFill/>
          <a:ln w="12700">
            <a:solidFill>
              <a:srgbClr val="14161C"/>
            </a:solidFill>
            <a:prstDash val="solid"/>
            <a:tailEnd type="triangle"/>
          </a:ln>
        </p:spPr>
        <p:txBody>
          <a:bodyPr/>
          <a:lstStyle/>
          <a:p>
            <a:endParaRPr lang="en-IN"/>
          </a:p>
        </p:txBody>
      </p:sp>
      <p:sp>
        <p:nvSpPr>
          <p:cNvPr id="64" name="Text 55"/>
          <p:cNvSpPr txBox="1"/>
          <p:nvPr/>
        </p:nvSpPr>
        <p:spPr>
          <a:xfrm>
            <a:off x="9052560" y="2322576"/>
            <a:ext cx="1097280" cy="182880"/>
          </a:xfrm>
          <a:prstGeom prst="rect">
            <a:avLst/>
          </a:prstGeom>
          <a:noFill/>
          <a:ln/>
        </p:spPr>
        <p:txBody>
          <a:bodyPr wrap="square" lIns="0" tIns="0" rIns="0" bIns="0" rtlCol="0" anchor="ctr"/>
          <a:lstStyle/>
          <a:p>
            <a:pPr marL="0" indent="0">
              <a:buNone/>
            </a:pPr>
            <a:r>
              <a:rPr lang="en-US" sz="750" dirty="0">
                <a:solidFill>
                  <a:srgbClr val="545B69"/>
                </a:solidFill>
                <a:latin typeface="Inter" pitchFamily="34" charset="0"/>
                <a:ea typeface="Inter" pitchFamily="34" charset="-122"/>
                <a:cs typeface="Inter" pitchFamily="34" charset="-120"/>
              </a:rPr>
              <a:t>HTTPS + JWT</a:t>
            </a:r>
            <a:endParaRPr lang="en-US" sz="750" dirty="0"/>
          </a:p>
        </p:txBody>
      </p:sp>
      <p:sp>
        <p:nvSpPr>
          <p:cNvPr id="65" name="Text 56"/>
          <p:cNvSpPr txBox="1"/>
          <p:nvPr/>
        </p:nvSpPr>
        <p:spPr>
          <a:xfrm>
            <a:off x="6217920" y="2560320"/>
            <a:ext cx="5513832" cy="365760"/>
          </a:xfrm>
          <a:prstGeom prst="roundRect">
            <a:avLst>
              <a:gd name="adj" fmla="val 20000"/>
            </a:avLst>
          </a:prstGeom>
          <a:solidFill>
            <a:srgbClr val="14161C"/>
          </a:solidFill>
          <a:ln/>
        </p:spPr>
        <p:txBody>
          <a:bodyPr wrap="square" lIns="0" tIns="0" rIns="0" bIns="0" rtlCol="0" anchor="ctr"/>
          <a:lstStyle/>
          <a:p>
            <a:pPr marL="0" indent="0" algn="ctr">
              <a:buNone/>
            </a:pPr>
            <a:r>
              <a:rPr lang="en-US" sz="1000" b="1" dirty="0">
                <a:solidFill>
                  <a:srgbClr val="FFFFFF"/>
                </a:solidFill>
                <a:latin typeface="Inter" pitchFamily="34" charset="0"/>
                <a:ea typeface="Inter" pitchFamily="34" charset="-122"/>
                <a:cs typeface="Inter" pitchFamily="34" charset="-120"/>
              </a:rPr>
              <a:t>Next.js on Vercel</a:t>
            </a:r>
            <a:r>
              <a:rPr lang="en-US" sz="1000" dirty="0">
                <a:solidFill>
                  <a:srgbClr val="A2A5AC"/>
                </a:solidFill>
                <a:latin typeface="Inter" pitchFamily="34" charset="0"/>
                <a:ea typeface="Inter" pitchFamily="34" charset="-122"/>
                <a:cs typeface="Inter" pitchFamily="34" charset="-120"/>
              </a:rPr>
              <a:t>    UI  ·  API routes  ·  auth middleware</a:t>
            </a:r>
            <a:endParaRPr lang="en-US" sz="1000" dirty="0"/>
          </a:p>
        </p:txBody>
      </p:sp>
      <p:sp>
        <p:nvSpPr>
          <p:cNvPr id="66" name="Shape 57"/>
          <p:cNvSpPr/>
          <p:nvPr/>
        </p:nvSpPr>
        <p:spPr>
          <a:xfrm>
            <a:off x="8028432" y="2926080"/>
            <a:ext cx="0" cy="201168"/>
          </a:xfrm>
          <a:prstGeom prst="line">
            <a:avLst/>
          </a:prstGeom>
          <a:noFill/>
          <a:ln w="12700">
            <a:solidFill>
              <a:srgbClr val="14161C"/>
            </a:solidFill>
            <a:prstDash val="solid"/>
            <a:tailEnd type="triangle"/>
          </a:ln>
        </p:spPr>
        <p:txBody>
          <a:bodyPr/>
          <a:lstStyle/>
          <a:p>
            <a:endParaRPr lang="en-IN"/>
          </a:p>
        </p:txBody>
      </p:sp>
      <p:sp>
        <p:nvSpPr>
          <p:cNvPr id="67" name="Shape 58"/>
          <p:cNvSpPr/>
          <p:nvPr/>
        </p:nvSpPr>
        <p:spPr>
          <a:xfrm>
            <a:off x="10872216" y="2926080"/>
            <a:ext cx="0" cy="201168"/>
          </a:xfrm>
          <a:prstGeom prst="line">
            <a:avLst/>
          </a:prstGeom>
          <a:noFill/>
          <a:ln w="12700">
            <a:solidFill>
              <a:srgbClr val="14161C"/>
            </a:solidFill>
            <a:prstDash val="solid"/>
            <a:tailEnd type="triangle"/>
          </a:ln>
        </p:spPr>
        <p:txBody>
          <a:bodyPr/>
          <a:lstStyle/>
          <a:p>
            <a:endParaRPr lang="en-IN"/>
          </a:p>
        </p:txBody>
      </p:sp>
      <p:sp>
        <p:nvSpPr>
          <p:cNvPr id="68" name="Shape 59"/>
          <p:cNvSpPr/>
          <p:nvPr/>
        </p:nvSpPr>
        <p:spPr>
          <a:xfrm>
            <a:off x="6217920" y="3127248"/>
            <a:ext cx="3611880" cy="1115568"/>
          </a:xfrm>
          <a:prstGeom prst="roundRect">
            <a:avLst>
              <a:gd name="adj" fmla="val 8197"/>
            </a:avLst>
          </a:prstGeom>
          <a:solidFill>
            <a:srgbClr val="0F7A5A"/>
          </a:solidFill>
          <a:ln/>
        </p:spPr>
        <p:txBody>
          <a:bodyPr/>
          <a:lstStyle/>
          <a:p>
            <a:endParaRPr lang="en-IN"/>
          </a:p>
        </p:txBody>
      </p:sp>
      <p:sp>
        <p:nvSpPr>
          <p:cNvPr id="69" name="Text 60"/>
          <p:cNvSpPr txBox="1"/>
          <p:nvPr/>
        </p:nvSpPr>
        <p:spPr>
          <a:xfrm>
            <a:off x="6355080" y="3200400"/>
            <a:ext cx="2743200" cy="182880"/>
          </a:xfrm>
          <a:prstGeom prst="rect">
            <a:avLst/>
          </a:prstGeom>
          <a:noFill/>
          <a:ln/>
        </p:spPr>
        <p:txBody>
          <a:bodyPr wrap="square" lIns="0" tIns="0" rIns="0" bIns="0" rtlCol="0" anchor="ctr"/>
          <a:lstStyle/>
          <a:p>
            <a:pPr marL="0" indent="0">
              <a:buNone/>
            </a:pPr>
            <a:r>
              <a:rPr lang="en-US" sz="800" b="1" kern="0" spc="150" dirty="0">
                <a:solidFill>
                  <a:srgbClr val="FFFFFF"/>
                </a:solidFill>
                <a:latin typeface="Inter" pitchFamily="34" charset="0"/>
                <a:ea typeface="Inter" pitchFamily="34" charset="-122"/>
                <a:cs typeface="Inter" pitchFamily="34" charset="-120"/>
              </a:rPr>
              <a:t>SUPABASE  ·  FREE</a:t>
            </a:r>
            <a:endParaRPr lang="en-US" sz="800" dirty="0"/>
          </a:p>
        </p:txBody>
      </p:sp>
      <p:sp>
        <p:nvSpPr>
          <p:cNvPr id="70" name="Text 61"/>
          <p:cNvSpPr txBox="1"/>
          <p:nvPr/>
        </p:nvSpPr>
        <p:spPr>
          <a:xfrm>
            <a:off x="6355080" y="3456432"/>
            <a:ext cx="566928"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Auth</a:t>
            </a:r>
            <a:endParaRPr lang="en-US" sz="800" dirty="0"/>
          </a:p>
        </p:txBody>
      </p:sp>
      <p:sp>
        <p:nvSpPr>
          <p:cNvPr id="71" name="Text 62"/>
          <p:cNvSpPr txBox="1"/>
          <p:nvPr/>
        </p:nvSpPr>
        <p:spPr>
          <a:xfrm>
            <a:off x="7013448" y="3456432"/>
            <a:ext cx="1024128"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Postgres + RLS</a:t>
            </a:r>
            <a:endParaRPr lang="en-US" sz="800" dirty="0"/>
          </a:p>
        </p:txBody>
      </p:sp>
      <p:sp>
        <p:nvSpPr>
          <p:cNvPr id="72" name="Text 63"/>
          <p:cNvSpPr txBox="1"/>
          <p:nvPr/>
        </p:nvSpPr>
        <p:spPr>
          <a:xfrm>
            <a:off x="8129016" y="3456432"/>
            <a:ext cx="731520"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pgvector</a:t>
            </a:r>
            <a:endParaRPr lang="en-US" sz="800" dirty="0"/>
          </a:p>
        </p:txBody>
      </p:sp>
      <p:sp>
        <p:nvSpPr>
          <p:cNvPr id="73" name="Text 64"/>
          <p:cNvSpPr txBox="1"/>
          <p:nvPr/>
        </p:nvSpPr>
        <p:spPr>
          <a:xfrm>
            <a:off x="8951976" y="3456432"/>
            <a:ext cx="731520"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Realtime</a:t>
            </a:r>
            <a:endParaRPr lang="en-US" sz="800" dirty="0"/>
          </a:p>
        </p:txBody>
      </p:sp>
      <p:sp>
        <p:nvSpPr>
          <p:cNvPr id="74" name="Text 65"/>
          <p:cNvSpPr txBox="1"/>
          <p:nvPr/>
        </p:nvSpPr>
        <p:spPr>
          <a:xfrm>
            <a:off x="6355080" y="3803904"/>
            <a:ext cx="658368"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Storage</a:t>
            </a:r>
            <a:endParaRPr lang="en-US" sz="800" dirty="0"/>
          </a:p>
        </p:txBody>
      </p:sp>
      <p:sp>
        <p:nvSpPr>
          <p:cNvPr id="75" name="Text 66"/>
          <p:cNvSpPr txBox="1"/>
          <p:nvPr/>
        </p:nvSpPr>
        <p:spPr>
          <a:xfrm>
            <a:off x="7104888" y="3803904"/>
            <a:ext cx="2578608" cy="274320"/>
          </a:xfrm>
          <a:prstGeom prst="roundRect">
            <a:avLst>
              <a:gd name="adj" fmla="val 20000"/>
            </a:avLst>
          </a:prstGeom>
          <a:solidFill>
            <a:srgbClr val="FFFFFF"/>
          </a:solidFill>
          <a:ln/>
        </p:spPr>
        <p:txBody>
          <a:bodyPr wrap="square" lIns="0" tIns="0" rIns="0" bIns="0" rtlCol="0" anchor="ctr"/>
          <a:lstStyle/>
          <a:p>
            <a:pPr marL="0" indent="0" algn="ctr">
              <a:buNone/>
            </a:pPr>
            <a:r>
              <a:rPr lang="en-US" sz="800" b="1" dirty="0">
                <a:solidFill>
                  <a:srgbClr val="0F7A5A"/>
                </a:solidFill>
                <a:latin typeface="Inter" pitchFamily="34" charset="0"/>
                <a:ea typeface="Inter" pitchFamily="34" charset="-122"/>
                <a:cs typeface="Inter" pitchFamily="34" charset="-120"/>
              </a:rPr>
              <a:t>Edge Functions: Hire-Proof engine · Idea Pulse</a:t>
            </a:r>
            <a:endParaRPr lang="en-US" sz="800" dirty="0"/>
          </a:p>
        </p:txBody>
      </p:sp>
      <p:sp>
        <p:nvSpPr>
          <p:cNvPr id="76" name="Shape 67"/>
          <p:cNvSpPr/>
          <p:nvPr/>
        </p:nvSpPr>
        <p:spPr>
          <a:xfrm>
            <a:off x="10012680" y="3127248"/>
            <a:ext cx="1719072" cy="1115568"/>
          </a:xfrm>
          <a:prstGeom prst="roundRect">
            <a:avLst>
              <a:gd name="adj" fmla="val 8197"/>
            </a:avLst>
          </a:prstGeom>
          <a:solidFill>
            <a:srgbClr val="3446C9"/>
          </a:solidFill>
          <a:ln/>
        </p:spPr>
        <p:txBody>
          <a:bodyPr/>
          <a:lstStyle/>
          <a:p>
            <a:endParaRPr lang="en-IN"/>
          </a:p>
        </p:txBody>
      </p:sp>
      <p:sp>
        <p:nvSpPr>
          <p:cNvPr id="77" name="Text 68"/>
          <p:cNvSpPr txBox="1"/>
          <p:nvPr/>
        </p:nvSpPr>
        <p:spPr>
          <a:xfrm>
            <a:off x="10131552" y="3200400"/>
            <a:ext cx="1554480" cy="182880"/>
          </a:xfrm>
          <a:prstGeom prst="rect">
            <a:avLst/>
          </a:prstGeom>
          <a:noFill/>
          <a:ln/>
        </p:spPr>
        <p:txBody>
          <a:bodyPr wrap="square" lIns="0" tIns="0" rIns="0" bIns="0" rtlCol="0" anchor="ctr"/>
          <a:lstStyle/>
          <a:p>
            <a:pPr marL="0" indent="0">
              <a:buNone/>
            </a:pPr>
            <a:r>
              <a:rPr lang="en-US" sz="800" b="1" kern="0" spc="150" dirty="0">
                <a:solidFill>
                  <a:srgbClr val="FFFFFF"/>
                </a:solidFill>
                <a:latin typeface="Inter" pitchFamily="34" charset="0"/>
                <a:ea typeface="Inter" pitchFamily="34" charset="-122"/>
                <a:cs typeface="Inter" pitchFamily="34" charset="-120"/>
              </a:rPr>
              <a:t>AI LAYER  ·  FREE</a:t>
            </a:r>
            <a:endParaRPr lang="en-US" sz="800" dirty="0"/>
          </a:p>
        </p:txBody>
      </p:sp>
      <p:sp>
        <p:nvSpPr>
          <p:cNvPr id="78" name="Text 69"/>
          <p:cNvSpPr txBox="1"/>
          <p:nvPr/>
        </p:nvSpPr>
        <p:spPr>
          <a:xfrm>
            <a:off x="10131552" y="3438144"/>
            <a:ext cx="1554480"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Inter" pitchFamily="34" charset="0"/>
                <a:ea typeface="Inter" pitchFamily="34" charset="-122"/>
                <a:cs typeface="Inter" pitchFamily="34" charset="-120"/>
              </a:rPr>
              <a:t>Gemini Flash-Lite</a:t>
            </a:r>
            <a:endParaRPr lang="en-US" sz="900" dirty="0"/>
          </a:p>
          <a:p>
            <a:pPr marL="0" indent="0">
              <a:lnSpc>
                <a:spcPct val="115000"/>
              </a:lnSpc>
              <a:buNone/>
            </a:pPr>
            <a:r>
              <a:rPr lang="en-US" sz="900" dirty="0">
                <a:solidFill>
                  <a:srgbClr val="FFFFFF"/>
                </a:solidFill>
                <a:latin typeface="Inter" pitchFamily="34" charset="0"/>
                <a:ea typeface="Inter" pitchFamily="34" charset="-122"/>
                <a:cs typeface="Inter" pitchFamily="34" charset="-120"/>
              </a:rPr>
              <a:t>MiniLM embeddings</a:t>
            </a:r>
            <a:endParaRPr lang="en-US" sz="900" dirty="0"/>
          </a:p>
          <a:p>
            <a:pPr marL="0" indent="0">
              <a:lnSpc>
                <a:spcPct val="115000"/>
              </a:lnSpc>
              <a:buNone/>
            </a:pPr>
            <a:r>
              <a:rPr lang="en-US" sz="900" dirty="0">
                <a:solidFill>
                  <a:srgbClr val="FFFFFF"/>
                </a:solidFill>
                <a:latin typeface="Inter" pitchFamily="34" charset="0"/>
                <a:ea typeface="Inter" pitchFamily="34" charset="-122"/>
                <a:cs typeface="Inter" pitchFamily="34" charset="-120"/>
              </a:rPr>
              <a:t>pgvector similarity</a:t>
            </a:r>
            <a:endParaRPr lang="en-US" sz="900" dirty="0"/>
          </a:p>
        </p:txBody>
      </p:sp>
      <p:sp>
        <p:nvSpPr>
          <p:cNvPr id="79" name="Shape 70"/>
          <p:cNvSpPr/>
          <p:nvPr/>
        </p:nvSpPr>
        <p:spPr>
          <a:xfrm>
            <a:off x="9829800" y="3685032"/>
            <a:ext cx="182880" cy="0"/>
          </a:xfrm>
          <a:prstGeom prst="line">
            <a:avLst/>
          </a:prstGeom>
          <a:noFill/>
          <a:ln w="12700">
            <a:solidFill>
              <a:srgbClr val="14161C"/>
            </a:solidFill>
            <a:prstDash val="solid"/>
            <a:headEnd type="triangle"/>
            <a:tailEnd type="triangle"/>
          </a:ln>
        </p:spPr>
        <p:txBody>
          <a:bodyPr/>
          <a:lstStyle/>
          <a:p>
            <a:endParaRPr lang="en-IN"/>
          </a:p>
        </p:txBody>
      </p:sp>
      <p:sp>
        <p:nvSpPr>
          <p:cNvPr id="80" name="Shape 71"/>
          <p:cNvSpPr/>
          <p:nvPr/>
        </p:nvSpPr>
        <p:spPr>
          <a:xfrm>
            <a:off x="8028432" y="4242816"/>
            <a:ext cx="0" cy="146304"/>
          </a:xfrm>
          <a:prstGeom prst="line">
            <a:avLst/>
          </a:prstGeom>
          <a:noFill/>
          <a:ln w="12700">
            <a:solidFill>
              <a:srgbClr val="14161C"/>
            </a:solidFill>
            <a:prstDash val="solid"/>
            <a:tailEnd type="triangle"/>
          </a:ln>
        </p:spPr>
        <p:txBody>
          <a:bodyPr/>
          <a:lstStyle/>
          <a:p>
            <a:endParaRPr lang="en-IN"/>
          </a:p>
        </p:txBody>
      </p:sp>
      <p:sp>
        <p:nvSpPr>
          <p:cNvPr id="81" name="Text 72"/>
          <p:cNvSpPr txBox="1"/>
          <p:nvPr/>
        </p:nvSpPr>
        <p:spPr>
          <a:xfrm>
            <a:off x="6217920" y="4389120"/>
            <a:ext cx="5513832" cy="310896"/>
          </a:xfrm>
          <a:prstGeom prst="roundRect">
            <a:avLst>
              <a:gd name="adj" fmla="val 23529"/>
            </a:avLst>
          </a:prstGeom>
          <a:solidFill>
            <a:srgbClr val="FFFFFF"/>
          </a:solidFill>
          <a:ln w="9525">
            <a:solidFill>
              <a:srgbClr val="DCDFE4"/>
            </a:solidFill>
          </a:ln>
        </p:spPr>
        <p:txBody>
          <a:bodyPr wrap="square" lIns="0" tIns="0" rIns="0" bIns="0" rtlCol="0" anchor="ctr"/>
          <a:lstStyle/>
          <a:p>
            <a:pPr marL="0" indent="0" algn="ctr">
              <a:buNone/>
            </a:pPr>
            <a:r>
              <a:rPr lang="en-US" sz="850" b="1" dirty="0">
                <a:solidFill>
                  <a:srgbClr val="14161C"/>
                </a:solidFill>
                <a:latin typeface="Inter" pitchFamily="34" charset="0"/>
                <a:ea typeface="Inter" pitchFamily="34" charset="-122"/>
                <a:cs typeface="Inter" pitchFamily="34" charset="-120"/>
              </a:rPr>
              <a:t>External APIs   </a:t>
            </a:r>
            <a:r>
              <a:rPr lang="en-US" sz="850" dirty="0">
                <a:solidFill>
                  <a:srgbClr val="545B69"/>
                </a:solidFill>
                <a:latin typeface="Inter" pitchFamily="34" charset="0"/>
                <a:ea typeface="Inter" pitchFamily="34" charset="-122"/>
                <a:cs typeface="Inter" pitchFamily="34" charset="-120"/>
              </a:rPr>
              <a:t>Resend email  ·  Google Calendar  ·  Jitsi Meet (mentor calls)  ·  Cloudflare Turnstile</a:t>
            </a:r>
            <a:endParaRPr lang="en-US" sz="850" dirty="0"/>
          </a:p>
        </p:txBody>
      </p:sp>
      <p:sp>
        <p:nvSpPr>
          <p:cNvPr id="82" name="Text 73"/>
          <p:cNvSpPr txBox="1"/>
          <p:nvPr/>
        </p:nvSpPr>
        <p:spPr>
          <a:xfrm>
            <a:off x="6217920" y="4773168"/>
            <a:ext cx="5513832" cy="329184"/>
          </a:xfrm>
          <a:prstGeom prst="rect">
            <a:avLst/>
          </a:prstGeom>
          <a:noFill/>
          <a:ln/>
        </p:spPr>
        <p:txBody>
          <a:bodyPr wrap="square" lIns="0" tIns="0" rIns="0" bIns="0" rtlCol="0" anchor="t"/>
          <a:lstStyle/>
          <a:p>
            <a:pPr marL="0" indent="0">
              <a:buNone/>
            </a:pPr>
            <a:r>
              <a:rPr lang="en-US" sz="900" b="1" dirty="0">
                <a:solidFill>
                  <a:srgbClr val="14161C"/>
                </a:solidFill>
                <a:latin typeface="Inter" pitchFamily="34" charset="0"/>
                <a:ea typeface="Inter" pitchFamily="34" charset="-122"/>
                <a:cs typeface="Inter" pitchFamily="34" charset="-120"/>
              </a:rPr>
              <a:t>Hire check flow: </a:t>
            </a:r>
            <a:r>
              <a:rPr lang="en-US" sz="900" dirty="0">
                <a:solidFill>
                  <a:srgbClr val="545B69"/>
                </a:solidFill>
                <a:latin typeface="Inter" pitchFamily="34" charset="0"/>
                <a:ea typeface="Inter" pitchFamily="34" charset="-122"/>
                <a:cs typeface="Inter" pitchFamily="34" charset="-120"/>
              </a:rPr>
              <a:t>recruiter marks a hire → candidate confirms → Edge Function recalculates the Hire-Proof Score → feeds update live.</a:t>
            </a:r>
            <a:endParaRPr lang="en-US" sz="900" dirty="0"/>
          </a:p>
        </p:txBody>
      </p:sp>
      <p:sp>
        <p:nvSpPr>
          <p:cNvPr id="83" name="Text 74"/>
          <p:cNvSpPr txBox="1"/>
          <p:nvPr/>
        </p:nvSpPr>
        <p:spPr>
          <a:xfrm>
            <a:off x="6217920" y="5175504"/>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AI / ML / APIS</a:t>
            </a:r>
            <a:endParaRPr lang="en-US" sz="900" dirty="0"/>
          </a:p>
        </p:txBody>
      </p:sp>
      <p:sp>
        <p:nvSpPr>
          <p:cNvPr id="84" name="Text 75"/>
          <p:cNvSpPr txBox="1"/>
          <p:nvPr/>
        </p:nvSpPr>
        <p:spPr>
          <a:xfrm>
            <a:off x="6217920" y="5394960"/>
            <a:ext cx="2788920" cy="914400"/>
          </a:xfrm>
          <a:prstGeom prst="rect">
            <a:avLst/>
          </a:prstGeom>
          <a:noFill/>
          <a:ln/>
        </p:spPr>
        <p:txBody>
          <a:bodyPr wrap="square" lIns="0" tIns="0" rIns="0" bIns="0" rtlCol="0" anchor="t"/>
          <a:lstStyle/>
          <a:p>
            <a:pPr marL="0" indent="0">
              <a:spcAft>
                <a:spcPts val="150"/>
              </a:spcAft>
              <a:buNone/>
            </a:pPr>
            <a:r>
              <a:rPr lang="en-US" sz="850" b="1" dirty="0">
                <a:solidFill>
                  <a:srgbClr val="14161C"/>
                </a:solidFill>
                <a:latin typeface="Inter" pitchFamily="34" charset="0"/>
                <a:ea typeface="Inter" pitchFamily="34" charset="-122"/>
                <a:cs typeface="Inter" pitchFamily="34" charset="-120"/>
              </a:rPr>
              <a:t>Smart match: </a:t>
            </a:r>
            <a:r>
              <a:rPr lang="en-US" sz="850" dirty="0">
                <a:solidFill>
                  <a:srgbClr val="545B69"/>
                </a:solidFill>
                <a:latin typeface="Inter" pitchFamily="34" charset="0"/>
                <a:ea typeface="Inter" pitchFamily="34" charset="-122"/>
                <a:cs typeface="Inter" pitchFamily="34" charset="-120"/>
              </a:rPr>
              <a:t>profile ↔ job embeddings + reasons</a:t>
            </a:r>
            <a:endParaRPr lang="en-US" sz="850" dirty="0"/>
          </a:p>
          <a:p>
            <a:pPr marL="0" indent="0">
              <a:spcAft>
                <a:spcPts val="150"/>
              </a:spcAft>
              <a:buNone/>
            </a:pPr>
            <a:r>
              <a:rPr lang="en-US" sz="850" b="1" dirty="0">
                <a:solidFill>
                  <a:srgbClr val="14161C"/>
                </a:solidFill>
                <a:latin typeface="Inter" pitchFamily="34" charset="0"/>
                <a:ea typeface="Inter" pitchFamily="34" charset="-122"/>
                <a:cs typeface="Inter" pitchFamily="34" charset="-120"/>
              </a:rPr>
              <a:t>Skill-Gap Coach: </a:t>
            </a:r>
            <a:r>
              <a:rPr lang="en-US" sz="850" dirty="0">
                <a:solidFill>
                  <a:srgbClr val="545B69"/>
                </a:solidFill>
                <a:latin typeface="Inter" pitchFamily="34" charset="0"/>
                <a:ea typeface="Inter" pitchFamily="34" charset="-122"/>
                <a:cs typeface="Inter" pitchFamily="34" charset="-120"/>
              </a:rPr>
              <a:t>missing skills → free 2-week path</a:t>
            </a:r>
            <a:endParaRPr lang="en-US" sz="850" dirty="0"/>
          </a:p>
          <a:p>
            <a:pPr marL="0" indent="0">
              <a:spcAft>
                <a:spcPts val="150"/>
              </a:spcAft>
              <a:buNone/>
            </a:pPr>
            <a:r>
              <a:rPr lang="en-US" sz="850" b="1" dirty="0">
                <a:solidFill>
                  <a:srgbClr val="14161C"/>
                </a:solidFill>
                <a:latin typeface="Inter" pitchFamily="34" charset="0"/>
                <a:ea typeface="Inter" pitchFamily="34" charset="-122"/>
                <a:cs typeface="Inter" pitchFamily="34" charset="-120"/>
              </a:rPr>
              <a:t>Idea critique: </a:t>
            </a:r>
            <a:r>
              <a:rPr lang="en-US" sz="850" dirty="0">
                <a:solidFill>
                  <a:srgbClr val="545B69"/>
                </a:solidFill>
                <a:latin typeface="Inter" pitchFamily="34" charset="0"/>
                <a:ea typeface="Inter" pitchFamily="34" charset="-122"/>
                <a:cs typeface="Inter" pitchFamily="34" charset="-120"/>
              </a:rPr>
              <a:t>lean-canvas gaps, poll questions</a:t>
            </a:r>
            <a:endParaRPr lang="en-US" sz="850" dirty="0"/>
          </a:p>
          <a:p>
            <a:pPr marL="0" indent="0">
              <a:spcAft>
                <a:spcPts val="150"/>
              </a:spcAft>
              <a:buNone/>
            </a:pPr>
            <a:r>
              <a:rPr lang="en-US" sz="850" b="1" dirty="0">
                <a:solidFill>
                  <a:srgbClr val="14161C"/>
                </a:solidFill>
                <a:latin typeface="Inter" pitchFamily="34" charset="0"/>
                <a:ea typeface="Inter" pitchFamily="34" charset="-122"/>
                <a:cs typeface="Inter" pitchFamily="34" charset="-120"/>
              </a:rPr>
              <a:t>Scam filter: </a:t>
            </a:r>
            <a:r>
              <a:rPr lang="en-US" sz="850" dirty="0">
                <a:solidFill>
                  <a:srgbClr val="545B69"/>
                </a:solidFill>
                <a:latin typeface="Inter" pitchFamily="34" charset="0"/>
                <a:ea typeface="Inter" pitchFamily="34" charset="-122"/>
                <a:cs typeface="Inter" pitchFamily="34" charset="-120"/>
              </a:rPr>
              <a:t>fee asks, personal UPI, reposts</a:t>
            </a:r>
            <a:endParaRPr lang="en-US" sz="850" dirty="0"/>
          </a:p>
          <a:p>
            <a:pPr marL="0" indent="0">
              <a:spcAft>
                <a:spcPts val="150"/>
              </a:spcAft>
              <a:buNone/>
            </a:pPr>
            <a:r>
              <a:rPr lang="en-US" sz="850" b="1" dirty="0">
                <a:solidFill>
                  <a:srgbClr val="14161C"/>
                </a:solidFill>
                <a:latin typeface="Inter" pitchFamily="34" charset="0"/>
                <a:ea typeface="Inter" pitchFamily="34" charset="-122"/>
                <a:cs typeface="Inter" pitchFamily="34" charset="-120"/>
              </a:rPr>
              <a:t>Review guard: </a:t>
            </a:r>
            <a:r>
              <a:rPr lang="en-US" sz="850" dirty="0">
                <a:solidFill>
                  <a:srgbClr val="545B69"/>
                </a:solidFill>
                <a:latin typeface="Inter" pitchFamily="34" charset="0"/>
                <a:ea typeface="Inter" pitchFamily="34" charset="-122"/>
                <a:cs typeface="Inter" pitchFamily="34" charset="-120"/>
              </a:rPr>
              <a:t>fake / abusive reviews, summaries</a:t>
            </a:r>
            <a:endParaRPr lang="en-US" sz="850" dirty="0"/>
          </a:p>
        </p:txBody>
      </p:sp>
      <p:sp>
        <p:nvSpPr>
          <p:cNvPr id="85" name="Shape 76"/>
          <p:cNvSpPr/>
          <p:nvPr/>
        </p:nvSpPr>
        <p:spPr>
          <a:xfrm>
            <a:off x="9125712" y="5175504"/>
            <a:ext cx="2606040" cy="1133856"/>
          </a:xfrm>
          <a:prstGeom prst="roundRect">
            <a:avLst>
              <a:gd name="adj" fmla="val 8065"/>
            </a:avLst>
          </a:prstGeom>
          <a:solidFill>
            <a:srgbClr val="14161C"/>
          </a:solidFill>
          <a:ln/>
        </p:spPr>
        <p:txBody>
          <a:bodyPr/>
          <a:lstStyle/>
          <a:p>
            <a:endParaRPr lang="en-IN"/>
          </a:p>
        </p:txBody>
      </p:sp>
      <p:sp>
        <p:nvSpPr>
          <p:cNvPr id="86" name="Text 77"/>
          <p:cNvSpPr txBox="1"/>
          <p:nvPr/>
        </p:nvSpPr>
        <p:spPr>
          <a:xfrm>
            <a:off x="9262872" y="5248656"/>
            <a:ext cx="2377440" cy="182880"/>
          </a:xfrm>
          <a:prstGeom prst="rect">
            <a:avLst/>
          </a:prstGeom>
          <a:noFill/>
          <a:ln/>
        </p:spPr>
        <p:txBody>
          <a:bodyPr wrap="square" lIns="0" tIns="0" rIns="0" bIns="0" rtlCol="0" anchor="ctr"/>
          <a:lstStyle/>
          <a:p>
            <a:pPr marL="0" indent="0">
              <a:buNone/>
            </a:pPr>
            <a:r>
              <a:rPr lang="en-US" sz="850" b="1" kern="0" spc="100" dirty="0">
                <a:solidFill>
                  <a:srgbClr val="E5482D"/>
                </a:solidFill>
                <a:latin typeface="Inter" pitchFamily="34" charset="0"/>
                <a:ea typeface="Inter" pitchFamily="34" charset="-122"/>
                <a:cs typeface="Inter" pitchFamily="34" charset="-120"/>
              </a:rPr>
              <a:t>HIRE-PROOF SCORE (0–100)</a:t>
            </a:r>
            <a:endParaRPr lang="en-US" sz="850" dirty="0"/>
          </a:p>
        </p:txBody>
      </p:sp>
      <p:sp>
        <p:nvSpPr>
          <p:cNvPr id="87" name="Text 78"/>
          <p:cNvSpPr txBox="1"/>
          <p:nvPr/>
        </p:nvSpPr>
        <p:spPr>
          <a:xfrm>
            <a:off x="9262872" y="5458968"/>
            <a:ext cx="2395728" cy="822960"/>
          </a:xfrm>
          <a:prstGeom prst="rect">
            <a:avLst/>
          </a:prstGeom>
          <a:noFill/>
          <a:ln/>
        </p:spPr>
        <p:txBody>
          <a:bodyPr wrap="square" lIns="0" tIns="0" rIns="0" bIns="0" rtlCol="0" anchor="t"/>
          <a:lstStyle/>
          <a:p>
            <a:pPr marL="0" indent="0">
              <a:lnSpc>
                <a:spcPct val="100000"/>
              </a:lnSpc>
              <a:buNone/>
            </a:pPr>
            <a:r>
              <a:rPr lang="en-US" sz="850" b="1" dirty="0">
                <a:solidFill>
                  <a:srgbClr val="2EE6A6"/>
                </a:solidFill>
                <a:latin typeface="Inter" pitchFamily="34" charset="0"/>
                <a:ea typeface="Inter" pitchFamily="34" charset="-122"/>
                <a:cs typeface="Inter" pitchFamily="34" charset="-120"/>
              </a:rPr>
              <a:t>35%  </a:t>
            </a:r>
            <a:r>
              <a:rPr lang="en-US" sz="850" dirty="0">
                <a:solidFill>
                  <a:srgbClr val="FFFFFF"/>
                </a:solidFill>
                <a:latin typeface="Inter" pitchFamily="34" charset="0"/>
                <a:ea typeface="Inter" pitchFamily="34" charset="-122"/>
                <a:cs typeface="Inter" pitchFamily="34" charset="-120"/>
              </a:rPr>
              <a:t>Hires confirmed by candidates</a:t>
            </a:r>
            <a:endParaRPr lang="en-US" sz="850" dirty="0"/>
          </a:p>
          <a:p>
            <a:pPr marL="0" indent="0">
              <a:lnSpc>
                <a:spcPct val="100000"/>
              </a:lnSpc>
              <a:buNone/>
            </a:pPr>
            <a:r>
              <a:rPr lang="en-US" sz="850" b="1" dirty="0">
                <a:solidFill>
                  <a:srgbClr val="2EE6A6"/>
                </a:solidFill>
                <a:latin typeface="Inter" pitchFamily="34" charset="0"/>
                <a:ea typeface="Inter" pitchFamily="34" charset="-122"/>
                <a:cs typeface="Inter" pitchFamily="34" charset="-120"/>
              </a:rPr>
              <a:t>20%  </a:t>
            </a:r>
            <a:r>
              <a:rPr lang="en-US" sz="850" dirty="0">
                <a:solidFill>
                  <a:srgbClr val="FFFFFF"/>
                </a:solidFill>
                <a:latin typeface="Inter" pitchFamily="34" charset="0"/>
                <a:ea typeface="Inter" pitchFamily="34" charset="-122"/>
                <a:cs typeface="Inter" pitchFamily="34" charset="-120"/>
              </a:rPr>
              <a:t>Applicants who got a reply</a:t>
            </a:r>
            <a:endParaRPr lang="en-US" sz="850" dirty="0"/>
          </a:p>
          <a:p>
            <a:pPr marL="0" indent="0">
              <a:lnSpc>
                <a:spcPct val="100000"/>
              </a:lnSpc>
              <a:buNone/>
            </a:pPr>
            <a:r>
              <a:rPr lang="en-US" sz="850" b="1" dirty="0">
                <a:solidFill>
                  <a:srgbClr val="2EE6A6"/>
                </a:solidFill>
                <a:latin typeface="Inter" pitchFamily="34" charset="0"/>
                <a:ea typeface="Inter" pitchFamily="34" charset="-122"/>
                <a:cs typeface="Inter" pitchFamily="34" charset="-120"/>
              </a:rPr>
              <a:t>15%  </a:t>
            </a:r>
            <a:r>
              <a:rPr lang="en-US" sz="850" dirty="0">
                <a:solidFill>
                  <a:srgbClr val="FFFFFF"/>
                </a:solidFill>
                <a:latin typeface="Inter" pitchFamily="34" charset="0"/>
                <a:ea typeface="Inter" pitchFamily="34" charset="-122"/>
                <a:cs typeface="Inter" pitchFamily="34" charset="-120"/>
              </a:rPr>
              <a:t>Stipend paid as promised</a:t>
            </a:r>
            <a:endParaRPr lang="en-US" sz="850" dirty="0"/>
          </a:p>
          <a:p>
            <a:pPr marL="0" indent="0">
              <a:lnSpc>
                <a:spcPct val="100000"/>
              </a:lnSpc>
              <a:buNone/>
            </a:pPr>
            <a:r>
              <a:rPr lang="en-US" sz="850" b="1" dirty="0">
                <a:solidFill>
                  <a:srgbClr val="2EE6A6"/>
                </a:solidFill>
                <a:latin typeface="Inter" pitchFamily="34" charset="0"/>
                <a:ea typeface="Inter" pitchFamily="34" charset="-122"/>
                <a:cs typeface="Inter" pitchFamily="34" charset="-120"/>
              </a:rPr>
              <a:t>15%  </a:t>
            </a:r>
            <a:r>
              <a:rPr lang="en-US" sz="850" dirty="0">
                <a:solidFill>
                  <a:srgbClr val="FFFFFF"/>
                </a:solidFill>
                <a:latin typeface="Inter" pitchFamily="34" charset="0"/>
                <a:ea typeface="Inter" pitchFamily="34" charset="-122"/>
                <a:cs typeface="Inter" pitchFamily="34" charset="-120"/>
              </a:rPr>
              <a:t>Verified reviews (Bayesian)</a:t>
            </a:r>
            <a:endParaRPr lang="en-US" sz="850" dirty="0"/>
          </a:p>
          <a:p>
            <a:pPr marL="0" indent="0">
              <a:lnSpc>
                <a:spcPct val="100000"/>
              </a:lnSpc>
              <a:buNone/>
            </a:pPr>
            <a:r>
              <a:rPr lang="en-US" sz="850" b="1" dirty="0">
                <a:solidFill>
                  <a:srgbClr val="2EE6A6"/>
                </a:solidFill>
                <a:latin typeface="Inter" pitchFamily="34" charset="0"/>
                <a:ea typeface="Inter" pitchFamily="34" charset="-122"/>
                <a:cs typeface="Inter" pitchFamily="34" charset="-120"/>
              </a:rPr>
              <a:t>10%  </a:t>
            </a:r>
            <a:r>
              <a:rPr lang="en-US" sz="850" dirty="0">
                <a:solidFill>
                  <a:srgbClr val="FFFFFF"/>
                </a:solidFill>
                <a:latin typeface="Inter" pitchFamily="34" charset="0"/>
                <a:ea typeface="Inter" pitchFamily="34" charset="-122"/>
                <a:cs typeface="Inter" pitchFamily="34" charset="-120"/>
              </a:rPr>
              <a:t>Identity: domain, CIN / GSTIN</a:t>
            </a:r>
            <a:endParaRPr lang="en-US" sz="850" dirty="0"/>
          </a:p>
          <a:p>
            <a:pPr marL="0" indent="0">
              <a:lnSpc>
                <a:spcPct val="100000"/>
              </a:lnSpc>
              <a:buNone/>
            </a:pPr>
            <a:r>
              <a:rPr lang="en-US" sz="850" b="1" dirty="0">
                <a:solidFill>
                  <a:srgbClr val="2EE6A6"/>
                </a:solidFill>
                <a:latin typeface="Inter" pitchFamily="34" charset="0"/>
                <a:ea typeface="Inter" pitchFamily="34" charset="-122"/>
                <a:cs typeface="Inter" pitchFamily="34" charset="-120"/>
              </a:rPr>
              <a:t>5%  </a:t>
            </a:r>
            <a:r>
              <a:rPr lang="en-US" sz="850" dirty="0">
                <a:solidFill>
                  <a:srgbClr val="FFFFFF"/>
                </a:solidFill>
                <a:latin typeface="Inter" pitchFamily="34" charset="0"/>
                <a:ea typeface="Inter" pitchFamily="34" charset="-122"/>
                <a:cs typeface="Inter" pitchFamily="34" charset="-120"/>
              </a:rPr>
              <a:t>Recent activity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6 / 7  ·  INNOVATION &amp; IMPACT</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Innovation &amp; Impact</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Not another job board: Sangam is a trust layer that proves which recruiters, openings and ideas are real.</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6</a:t>
            </a:r>
            <a:endParaRPr lang="en-US" sz="1400" dirty="0"/>
          </a:p>
        </p:txBody>
      </p:sp>
      <p:sp>
        <p:nvSpPr>
          <p:cNvPr id="12" name="Text 9"/>
          <p:cNvSpPr txBox="1"/>
          <p:nvPr/>
        </p:nvSpPr>
        <p:spPr>
          <a:xfrm>
            <a:off x="457200" y="1755648"/>
            <a:ext cx="18288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USP</a:t>
            </a:r>
            <a:endParaRPr lang="en-US" sz="900" dirty="0"/>
          </a:p>
        </p:txBody>
      </p:sp>
      <p:sp>
        <p:nvSpPr>
          <p:cNvPr id="13" name="Shape 10"/>
          <p:cNvSpPr/>
          <p:nvPr/>
        </p:nvSpPr>
        <p:spPr>
          <a:xfrm>
            <a:off x="457200" y="1993392"/>
            <a:ext cx="2720340" cy="1024128"/>
          </a:xfrm>
          <a:prstGeom prst="roundRect">
            <a:avLst>
              <a:gd name="adj" fmla="val 8929"/>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14" name="Text 11"/>
          <p:cNvSpPr txBox="1"/>
          <p:nvPr/>
        </p:nvSpPr>
        <p:spPr>
          <a:xfrm>
            <a:off x="621792" y="2084832"/>
            <a:ext cx="548640" cy="310896"/>
          </a:xfrm>
          <a:prstGeom prst="rect">
            <a:avLst/>
          </a:prstGeom>
          <a:noFill/>
          <a:ln/>
        </p:spPr>
        <p:txBody>
          <a:bodyPr wrap="square" lIns="0" tIns="0" rIns="0" bIns="0" rtlCol="0" anchor="ctr"/>
          <a:lstStyle/>
          <a:p>
            <a:pPr marL="0" indent="0">
              <a:buNone/>
            </a:pPr>
            <a:r>
              <a:rPr lang="en-US" sz="1800" dirty="0">
                <a:solidFill>
                  <a:srgbClr val="E5482D"/>
                </a:solidFill>
                <a:latin typeface="Inter" pitchFamily="34" charset="0"/>
                <a:ea typeface="Inter" pitchFamily="34" charset="-122"/>
                <a:cs typeface="Inter" pitchFamily="34" charset="-120"/>
              </a:rPr>
              <a:t>01</a:t>
            </a:r>
            <a:endParaRPr lang="en-US" sz="1800" dirty="0"/>
          </a:p>
        </p:txBody>
      </p:sp>
      <p:sp>
        <p:nvSpPr>
          <p:cNvPr id="15" name="Text 12"/>
          <p:cNvSpPr txBox="1"/>
          <p:nvPr/>
        </p:nvSpPr>
        <p:spPr>
          <a:xfrm>
            <a:off x="621792" y="2395728"/>
            <a:ext cx="2423160" cy="201168"/>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Hire-Proof Score</a:t>
            </a:r>
            <a:endParaRPr lang="en-US" sz="1050" dirty="0"/>
          </a:p>
        </p:txBody>
      </p:sp>
      <p:sp>
        <p:nvSpPr>
          <p:cNvPr id="16" name="Text 13"/>
          <p:cNvSpPr txBox="1"/>
          <p:nvPr/>
        </p:nvSpPr>
        <p:spPr>
          <a:xfrm>
            <a:off x="621792" y="2596896"/>
            <a:ext cx="2423160" cy="384048"/>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Recruiters are rated on hires that candidates confirm, not on claims.</a:t>
            </a:r>
            <a:endParaRPr lang="en-US" sz="850" dirty="0"/>
          </a:p>
        </p:txBody>
      </p:sp>
      <p:sp>
        <p:nvSpPr>
          <p:cNvPr id="17" name="Shape 14"/>
          <p:cNvSpPr/>
          <p:nvPr/>
        </p:nvSpPr>
        <p:spPr>
          <a:xfrm>
            <a:off x="3268980" y="1993392"/>
            <a:ext cx="2720340" cy="1024128"/>
          </a:xfrm>
          <a:prstGeom prst="roundRect">
            <a:avLst>
              <a:gd name="adj" fmla="val 8929"/>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18" name="Text 15"/>
          <p:cNvSpPr txBox="1"/>
          <p:nvPr/>
        </p:nvSpPr>
        <p:spPr>
          <a:xfrm>
            <a:off x="3433572" y="2084832"/>
            <a:ext cx="548640" cy="310896"/>
          </a:xfrm>
          <a:prstGeom prst="rect">
            <a:avLst/>
          </a:prstGeom>
          <a:noFill/>
          <a:ln/>
        </p:spPr>
        <p:txBody>
          <a:bodyPr wrap="square" lIns="0" tIns="0" rIns="0" bIns="0" rtlCol="0" anchor="ctr"/>
          <a:lstStyle/>
          <a:p>
            <a:pPr marL="0" indent="0">
              <a:buNone/>
            </a:pPr>
            <a:r>
              <a:rPr lang="en-US" sz="1800" dirty="0">
                <a:solidFill>
                  <a:srgbClr val="E5482D"/>
                </a:solidFill>
                <a:latin typeface="Inter" pitchFamily="34" charset="0"/>
                <a:ea typeface="Inter" pitchFamily="34" charset="-122"/>
                <a:cs typeface="Inter" pitchFamily="34" charset="-120"/>
              </a:rPr>
              <a:t>02</a:t>
            </a:r>
            <a:endParaRPr lang="en-US" sz="1800" dirty="0"/>
          </a:p>
        </p:txBody>
      </p:sp>
      <p:sp>
        <p:nvSpPr>
          <p:cNvPr id="19" name="Text 16"/>
          <p:cNvSpPr txBox="1"/>
          <p:nvPr/>
        </p:nvSpPr>
        <p:spPr>
          <a:xfrm>
            <a:off x="3433572" y="2395728"/>
            <a:ext cx="2423160" cy="201168"/>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Ideas tested before they’re built</a:t>
            </a:r>
            <a:endParaRPr lang="en-US" sz="1050" dirty="0"/>
          </a:p>
        </p:txBody>
      </p:sp>
      <p:sp>
        <p:nvSpPr>
          <p:cNvPr id="20" name="Text 17"/>
          <p:cNvSpPr txBox="1"/>
          <p:nvPr/>
        </p:nvSpPr>
        <p:spPr>
          <a:xfrm>
            <a:off x="3433572" y="2596896"/>
            <a:ext cx="2423160" cy="384048"/>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Polls and feedback score each idea; ideas that pass unlock co-founder matching.</a:t>
            </a:r>
            <a:endParaRPr lang="en-US" sz="850" dirty="0"/>
          </a:p>
        </p:txBody>
      </p:sp>
      <p:sp>
        <p:nvSpPr>
          <p:cNvPr id="21" name="Shape 18"/>
          <p:cNvSpPr/>
          <p:nvPr/>
        </p:nvSpPr>
        <p:spPr>
          <a:xfrm>
            <a:off x="457200" y="3090672"/>
            <a:ext cx="2720340" cy="1024128"/>
          </a:xfrm>
          <a:prstGeom prst="roundRect">
            <a:avLst>
              <a:gd name="adj" fmla="val 8929"/>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22" name="Text 19"/>
          <p:cNvSpPr txBox="1"/>
          <p:nvPr/>
        </p:nvSpPr>
        <p:spPr>
          <a:xfrm>
            <a:off x="621792" y="3182112"/>
            <a:ext cx="548640" cy="310896"/>
          </a:xfrm>
          <a:prstGeom prst="rect">
            <a:avLst/>
          </a:prstGeom>
          <a:noFill/>
          <a:ln/>
        </p:spPr>
        <p:txBody>
          <a:bodyPr wrap="square" lIns="0" tIns="0" rIns="0" bIns="0" rtlCol="0" anchor="ctr"/>
          <a:lstStyle/>
          <a:p>
            <a:pPr marL="0" indent="0">
              <a:buNone/>
            </a:pPr>
            <a:r>
              <a:rPr lang="en-US" sz="1800" dirty="0">
                <a:solidFill>
                  <a:srgbClr val="E5482D"/>
                </a:solidFill>
                <a:latin typeface="Inter" pitchFamily="34" charset="0"/>
                <a:ea typeface="Inter" pitchFamily="34" charset="-122"/>
                <a:cs typeface="Inter" pitchFamily="34" charset="-120"/>
              </a:rPr>
              <a:t>03</a:t>
            </a:r>
            <a:endParaRPr lang="en-US" sz="1800" dirty="0"/>
          </a:p>
        </p:txBody>
      </p:sp>
      <p:sp>
        <p:nvSpPr>
          <p:cNvPr id="23" name="Text 20"/>
          <p:cNvSpPr txBox="1"/>
          <p:nvPr/>
        </p:nvSpPr>
        <p:spPr>
          <a:xfrm>
            <a:off x="621792" y="3493008"/>
            <a:ext cx="2423160" cy="201168"/>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Skill gap → proof of skill</a:t>
            </a:r>
            <a:endParaRPr lang="en-US" sz="1050" dirty="0"/>
          </a:p>
        </p:txBody>
      </p:sp>
      <p:sp>
        <p:nvSpPr>
          <p:cNvPr id="24" name="Text 21"/>
          <p:cNvSpPr txBox="1"/>
          <p:nvPr/>
        </p:nvSpPr>
        <p:spPr>
          <a:xfrm>
            <a:off x="621792" y="3694176"/>
            <a:ext cx="2423160" cy="384048"/>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Every “not ready” becomes a free 2-week path and a startup-set task that beats a CV.</a:t>
            </a:r>
            <a:endParaRPr lang="en-US" sz="850" dirty="0"/>
          </a:p>
        </p:txBody>
      </p:sp>
      <p:sp>
        <p:nvSpPr>
          <p:cNvPr id="25" name="Shape 22"/>
          <p:cNvSpPr/>
          <p:nvPr/>
        </p:nvSpPr>
        <p:spPr>
          <a:xfrm>
            <a:off x="3268980" y="3090672"/>
            <a:ext cx="2720340" cy="1024128"/>
          </a:xfrm>
          <a:prstGeom prst="roundRect">
            <a:avLst>
              <a:gd name="adj" fmla="val 8929"/>
            </a:avLst>
          </a:prstGeom>
          <a:solidFill>
            <a:srgbClr val="FFFFFF"/>
          </a:solidFill>
          <a:ln/>
          <a:effectLst>
            <a:outerShdw blurRad="127000" dist="25400" dir="5400000" algn="bl" rotWithShape="0">
              <a:srgbClr val="000000">
                <a:alpha val="7000"/>
              </a:srgbClr>
            </a:outerShdw>
          </a:effectLst>
        </p:spPr>
        <p:txBody>
          <a:bodyPr/>
          <a:lstStyle/>
          <a:p>
            <a:endParaRPr lang="en-IN"/>
          </a:p>
        </p:txBody>
      </p:sp>
      <p:sp>
        <p:nvSpPr>
          <p:cNvPr id="26" name="Text 23"/>
          <p:cNvSpPr txBox="1"/>
          <p:nvPr/>
        </p:nvSpPr>
        <p:spPr>
          <a:xfrm>
            <a:off x="3433572" y="3182112"/>
            <a:ext cx="548640" cy="310896"/>
          </a:xfrm>
          <a:prstGeom prst="rect">
            <a:avLst/>
          </a:prstGeom>
          <a:noFill/>
          <a:ln/>
        </p:spPr>
        <p:txBody>
          <a:bodyPr wrap="square" lIns="0" tIns="0" rIns="0" bIns="0" rtlCol="0" anchor="ctr"/>
          <a:lstStyle/>
          <a:p>
            <a:pPr marL="0" indent="0">
              <a:buNone/>
            </a:pPr>
            <a:r>
              <a:rPr lang="en-US" sz="1800" dirty="0">
                <a:solidFill>
                  <a:srgbClr val="E5482D"/>
                </a:solidFill>
                <a:latin typeface="Inter" pitchFamily="34" charset="0"/>
                <a:ea typeface="Inter" pitchFamily="34" charset="-122"/>
                <a:cs typeface="Inter" pitchFamily="34" charset="-120"/>
              </a:rPr>
              <a:t>04</a:t>
            </a:r>
            <a:endParaRPr lang="en-US" sz="1800" dirty="0"/>
          </a:p>
        </p:txBody>
      </p:sp>
      <p:sp>
        <p:nvSpPr>
          <p:cNvPr id="27" name="Text 24"/>
          <p:cNvSpPr txBox="1"/>
          <p:nvPr/>
        </p:nvSpPr>
        <p:spPr>
          <a:xfrm>
            <a:off x="3433572" y="3493008"/>
            <a:ext cx="2423160" cy="201168"/>
          </a:xfrm>
          <a:prstGeom prst="rect">
            <a:avLst/>
          </a:prstGeom>
          <a:noFill/>
          <a:ln/>
        </p:spPr>
        <p:txBody>
          <a:bodyPr wrap="square" lIns="0" tIns="0" rIns="0" bIns="0" rtlCol="0" anchor="ctr"/>
          <a:lstStyle/>
          <a:p>
            <a:pPr marL="0" indent="0">
              <a:buNone/>
            </a:pPr>
            <a:r>
              <a:rPr lang="en-US" sz="1050" b="1" dirty="0">
                <a:solidFill>
                  <a:srgbClr val="14161C"/>
                </a:solidFill>
                <a:latin typeface="Inter" pitchFamily="34" charset="0"/>
                <a:ea typeface="Inter" pitchFamily="34" charset="-122"/>
                <a:cs typeface="Inter" pitchFamily="34" charset="-120"/>
              </a:rPr>
              <a:t>One network, all five players</a:t>
            </a:r>
            <a:endParaRPr lang="en-US" sz="1050" dirty="0"/>
          </a:p>
        </p:txBody>
      </p:sp>
      <p:sp>
        <p:nvSpPr>
          <p:cNvPr id="28" name="Text 25"/>
          <p:cNvSpPr txBox="1"/>
          <p:nvPr/>
        </p:nvSpPr>
        <p:spPr>
          <a:xfrm>
            <a:off x="3433572" y="3694176"/>
            <a:ext cx="2423160" cy="384048"/>
          </a:xfrm>
          <a:prstGeom prst="rect">
            <a:avLst/>
          </a:prstGeom>
          <a:noFill/>
          <a:ln/>
        </p:spPr>
        <p:txBody>
          <a:bodyPr wrap="square" lIns="0" tIns="0" rIns="0" bIns="0" rtlCol="0" anchor="t"/>
          <a:lstStyle/>
          <a:p>
            <a:pPr marL="0" indent="0">
              <a:buNone/>
            </a:pPr>
            <a:r>
              <a:rPr lang="en-US" sz="850" dirty="0">
                <a:solidFill>
                  <a:srgbClr val="545B69"/>
                </a:solidFill>
                <a:latin typeface="Inter" pitchFamily="34" charset="0"/>
                <a:ea typeface="Inter" pitchFamily="34" charset="-122"/>
                <a:cs typeface="Inter" pitchFamily="34" charset="-120"/>
              </a:rPr>
              <a:t>Job seekers, founders, startups, mentors, recruiters: one profile, one trust system.</a:t>
            </a:r>
            <a:endParaRPr lang="en-US" sz="850" dirty="0"/>
          </a:p>
        </p:txBody>
      </p:sp>
      <p:sp>
        <p:nvSpPr>
          <p:cNvPr id="29" name="Text 26"/>
          <p:cNvSpPr txBox="1"/>
          <p:nvPr/>
        </p:nvSpPr>
        <p:spPr>
          <a:xfrm>
            <a:off x="457200" y="4242816"/>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HOW WE DIFFER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4480560"/>
          <a:ext cx="5532120" cy="1810512"/>
        </p:xfrm>
        <a:graphic>
          <a:graphicData uri="http://schemas.openxmlformats.org/drawingml/2006/table">
            <a:tbl>
              <a:tblPr/>
              <a:tblGrid>
                <a:gridCol w="21031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01752">
                <a:tc>
                  <a:txBody>
                    <a:bodyPr/>
                    <a:lstStyle/>
                    <a:p>
                      <a:pPr marL="0" indent="0" algn="ctr">
                        <a:buNone/>
                      </a:pPr>
                      <a:endParaRPr lang="en-US" sz="80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3F5F8"/>
                    </a:solidFill>
                  </a:tcPr>
                </a:tc>
                <a:tc>
                  <a:txBody>
                    <a:bodyPr/>
                    <a:lstStyle/>
                    <a:p>
                      <a:pPr marL="0" indent="0" algn="ctr">
                        <a:buNone/>
                      </a:pPr>
                      <a:r>
                        <a:rPr lang="en-US" sz="800" b="1" dirty="0">
                          <a:solidFill>
                            <a:srgbClr val="14161C"/>
                          </a:solidFill>
                          <a:latin typeface="Inter" pitchFamily="34" charset="0"/>
                          <a:ea typeface="Inter" pitchFamily="34" charset="-122"/>
                          <a:cs typeface="Inter" pitchFamily="34" charset="-120"/>
                        </a:rPr>
                        <a:t>LinkedIn / Naukri</a:t>
                      </a:r>
                      <a:endParaRPr lang="en-US" sz="80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3F5F8"/>
                    </a:solidFill>
                  </a:tcPr>
                </a:tc>
                <a:tc>
                  <a:txBody>
                    <a:bodyPr/>
                    <a:lstStyle/>
                    <a:p>
                      <a:pPr marL="0" indent="0" algn="ctr">
                        <a:buNone/>
                      </a:pPr>
                      <a:r>
                        <a:rPr lang="en-US" sz="800" b="1" dirty="0">
                          <a:solidFill>
                            <a:srgbClr val="14161C"/>
                          </a:solidFill>
                          <a:latin typeface="Inter" pitchFamily="34" charset="0"/>
                          <a:ea typeface="Inter" pitchFamily="34" charset="-122"/>
                          <a:cs typeface="Inter" pitchFamily="34" charset="-120"/>
                        </a:rPr>
                        <a:t>Internshala / Unstop</a:t>
                      </a:r>
                      <a:endParaRPr lang="en-US" sz="80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3F5F8"/>
                    </a:solidFill>
                  </a:tcPr>
                </a:tc>
                <a:tc>
                  <a:txBody>
                    <a:bodyPr/>
                    <a:lstStyle/>
                    <a:p>
                      <a:pPr marL="0" indent="0" algn="ctr">
                        <a:buNone/>
                      </a:pPr>
                      <a:r>
                        <a:rPr lang="en-US" sz="800" b="1" dirty="0">
                          <a:solidFill>
                            <a:srgbClr val="14161C"/>
                          </a:solidFill>
                          <a:latin typeface="Inter" pitchFamily="34" charset="0"/>
                          <a:ea typeface="Inter" pitchFamily="34" charset="-122"/>
                          <a:cs typeface="Inter" pitchFamily="34" charset="-120"/>
                        </a:rPr>
                        <a:t>WhatsApp groups</a:t>
                      </a:r>
                      <a:endParaRPr lang="en-US" sz="80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3F5F8"/>
                    </a:solidFill>
                  </a:tcPr>
                </a:tc>
                <a:tc>
                  <a:txBody>
                    <a:bodyPr/>
                    <a:lstStyle/>
                    <a:p>
                      <a:pPr marL="0" indent="0" algn="ctr">
                        <a:buNone/>
                      </a:pPr>
                      <a:r>
                        <a:rPr lang="en-US" sz="800" b="1" dirty="0">
                          <a:solidFill>
                            <a:srgbClr val="FFFFFF"/>
                          </a:solidFill>
                          <a:latin typeface="Inter" pitchFamily="34" charset="0"/>
                          <a:ea typeface="Inter" pitchFamily="34" charset="-122"/>
                          <a:cs typeface="Inter" pitchFamily="34" charset="-120"/>
                        </a:rPr>
                        <a:t>Sangam</a:t>
                      </a:r>
                      <a:endParaRPr lang="en-US" sz="80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0"/>
                  </a:ext>
                </a:extLst>
              </a:tr>
              <a:tr h="301752">
                <a:tc>
                  <a:txBody>
                    <a:bodyPr/>
                    <a:lstStyle/>
                    <a:p>
                      <a:pPr marL="0" indent="0" algn="l">
                        <a:buNone/>
                      </a:pPr>
                      <a:r>
                        <a:rPr lang="en-US" sz="850" dirty="0">
                          <a:solidFill>
                            <a:srgbClr val="14161C"/>
                          </a:solidFill>
                          <a:latin typeface="Inter" pitchFamily="34" charset="0"/>
                          <a:ea typeface="Inter" pitchFamily="34" charset="-122"/>
                          <a:cs typeface="Inter" pitchFamily="34" charset="-120"/>
                        </a:rPr>
                        <a:t>All five PS 2 players in one network</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FFFFFF"/>
                          </a:solidFill>
                          <a:latin typeface="Inter" pitchFamily="34" charset="0"/>
                          <a:ea typeface="Inter" pitchFamily="34" charset="-122"/>
                          <a:cs typeface="Inter" pitchFamily="34" charset="-120"/>
                        </a:rPr>
                        <a:t>Yes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1"/>
                  </a:ext>
                </a:extLst>
              </a:tr>
              <a:tr h="301752">
                <a:tc>
                  <a:txBody>
                    <a:bodyPr/>
                    <a:lstStyle/>
                    <a:p>
                      <a:pPr marL="0" indent="0" algn="l">
                        <a:buNone/>
                      </a:pPr>
                      <a:r>
                        <a:rPr lang="en-US" sz="850" dirty="0">
                          <a:solidFill>
                            <a:srgbClr val="14161C"/>
                          </a:solidFill>
                          <a:latin typeface="Inter" pitchFamily="34" charset="0"/>
                          <a:ea typeface="Inter" pitchFamily="34" charset="-122"/>
                          <a:cs typeface="Inter" pitchFamily="34" charset="-120"/>
                        </a:rPr>
                        <a:t>Hires confirmed by the hired candidate</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b="1" dirty="0">
                          <a:solidFill>
                            <a:srgbClr val="FFFFFF"/>
                          </a:solidFill>
                          <a:latin typeface="Inter" pitchFamily="34" charset="0"/>
                          <a:ea typeface="Inter" pitchFamily="34" charset="-122"/>
                          <a:cs typeface="Inter" pitchFamily="34" charset="-120"/>
                        </a:rPr>
                        <a:t>Yes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2"/>
                  </a:ext>
                </a:extLst>
              </a:tr>
              <a:tr h="301752">
                <a:tc>
                  <a:txBody>
                    <a:bodyPr/>
                    <a:lstStyle/>
                    <a:p>
                      <a:pPr marL="0" indent="0" algn="l">
                        <a:buNone/>
                      </a:pPr>
                      <a:r>
                        <a:rPr lang="en-US" sz="850" dirty="0">
                          <a:solidFill>
                            <a:srgbClr val="14161C"/>
                          </a:solidFill>
                          <a:latin typeface="Inter" pitchFamily="34" charset="0"/>
                          <a:ea typeface="Inter" pitchFamily="34" charset="-122"/>
                          <a:cs typeface="Inter" pitchFamily="34" charset="-120"/>
                        </a:rPr>
                        <a:t>Recruiter score from real outcomes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FFFFFF"/>
                          </a:solidFill>
                          <a:latin typeface="Inter" pitchFamily="34" charset="0"/>
                          <a:ea typeface="Inter" pitchFamily="34" charset="-122"/>
                          <a:cs typeface="Inter" pitchFamily="34" charset="-120"/>
                        </a:rPr>
                        <a:t>Yes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3"/>
                  </a:ext>
                </a:extLst>
              </a:tr>
              <a:tr h="301752">
                <a:tc>
                  <a:txBody>
                    <a:bodyPr/>
                    <a:lstStyle/>
                    <a:p>
                      <a:pPr marL="0" indent="0" algn="l">
                        <a:buNone/>
                      </a:pPr>
                      <a:r>
                        <a:rPr lang="en-US" sz="850" dirty="0">
                          <a:solidFill>
                            <a:srgbClr val="14161C"/>
                          </a:solidFill>
                          <a:latin typeface="Inter" pitchFamily="34" charset="0"/>
                          <a:ea typeface="Inter" pitchFamily="34" charset="-122"/>
                          <a:cs typeface="Inter" pitchFamily="34" charset="-120"/>
                        </a:rPr>
                        <a:t>Fee / scam listings auto-flagged</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7F8FA"/>
                    </a:solidFill>
                  </a:tcPr>
                </a:tc>
                <a:tc>
                  <a:txBody>
                    <a:bodyPr/>
                    <a:lstStyle/>
                    <a:p>
                      <a:pPr marL="0" indent="0" algn="ctr">
                        <a:buNone/>
                      </a:pPr>
                      <a:r>
                        <a:rPr lang="en-US" sz="850" b="1" dirty="0">
                          <a:solidFill>
                            <a:srgbClr val="FFFFFF"/>
                          </a:solidFill>
                          <a:latin typeface="Inter" pitchFamily="34" charset="0"/>
                          <a:ea typeface="Inter" pitchFamily="34" charset="-122"/>
                          <a:cs typeface="Inter" pitchFamily="34" charset="-120"/>
                        </a:rPr>
                        <a:t>Yes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4"/>
                  </a:ext>
                </a:extLst>
              </a:tr>
              <a:tr h="301752">
                <a:tc>
                  <a:txBody>
                    <a:bodyPr/>
                    <a:lstStyle/>
                    <a:p>
                      <a:pPr marL="0" indent="0" algn="l">
                        <a:buNone/>
                      </a:pPr>
                      <a:r>
                        <a:rPr lang="en-US" sz="850" dirty="0">
                          <a:solidFill>
                            <a:srgbClr val="14161C"/>
                          </a:solidFill>
                          <a:latin typeface="Inter" pitchFamily="34" charset="0"/>
                          <a:ea typeface="Inter" pitchFamily="34" charset="-122"/>
                          <a:cs typeface="Inter" pitchFamily="34" charset="-120"/>
                        </a:rPr>
                        <a:t>Idea polls → co-founder + mentor match</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8B919D"/>
                          </a:solidFill>
                          <a:latin typeface="Inter" pitchFamily="34" charset="0"/>
                          <a:ea typeface="Inter" pitchFamily="34" charset="-122"/>
                          <a:cs typeface="Inter" pitchFamily="34" charset="-120"/>
                        </a:rPr>
                        <a:t>No</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4161C"/>
                          </a:solidFill>
                          <a:latin typeface="Inter" pitchFamily="34" charset="0"/>
                          <a:ea typeface="Inter" pitchFamily="34" charset="-122"/>
                          <a:cs typeface="Inter" pitchFamily="34" charset="-120"/>
                        </a:rPr>
                        <a:t>Partly</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FFFFFF"/>
                          </a:solidFill>
                          <a:latin typeface="Inter" pitchFamily="34" charset="0"/>
                          <a:ea typeface="Inter" pitchFamily="34" charset="-122"/>
                          <a:cs typeface="Inter" pitchFamily="34" charset="-120"/>
                        </a:rPr>
                        <a:t>Yes</a:t>
                      </a:r>
                      <a:endParaRPr lang="en-US" sz="850" dirty="0">
                        <a:latin typeface="Inter" charset="0"/>
                        <a:ea typeface="Inter" charset="0"/>
                        <a:cs typeface="Inter" charset="0"/>
                      </a:endParaRPr>
                    </a:p>
                  </a:txBody>
                  <a:tcPr marL="73152" marR="54864" marT="18288" marB="18288" anchor="ctr">
                    <a:lnL w="6350" cap="flat" cmpd="sng" algn="ctr">
                      <a:solidFill>
                        <a:srgbClr val="DCDFE4"/>
                      </a:solidFill>
                      <a:prstDash val="solid"/>
                      <a:round/>
                      <a:headEnd type="none" w="med" len="med"/>
                      <a:tailEnd type="none" w="med" len="med"/>
                    </a:lnL>
                    <a:lnR w="6350" cap="flat" cmpd="sng" algn="ctr">
                      <a:solidFill>
                        <a:srgbClr val="DCDFE4"/>
                      </a:solidFill>
                      <a:prstDash val="solid"/>
                      <a:round/>
                      <a:headEnd type="none" w="med" len="med"/>
                      <a:tailEnd type="none" w="med" len="med"/>
                    </a:lnR>
                    <a:lnT w="6350" cap="flat" cmpd="sng" algn="ctr">
                      <a:solidFill>
                        <a:srgbClr val="DCDFE4"/>
                      </a:solidFill>
                      <a:prstDash val="solid"/>
                      <a:round/>
                      <a:headEnd type="none" w="med" len="med"/>
                      <a:tailEnd type="none" w="med" len="med"/>
                    </a:lnT>
                    <a:lnB w="6350" cap="flat" cmpd="sng" algn="ctr">
                      <a:solidFill>
                        <a:srgbClr val="DCDFE4"/>
                      </a:solidFill>
                      <a:prstDash val="solid"/>
                      <a:round/>
                      <a:headEnd type="none" w="med" len="med"/>
                      <a:tailEnd type="none" w="med" len="med"/>
                    </a:lnB>
                    <a:solidFill>
                      <a:srgbClr val="E5482D"/>
                    </a:solidFill>
                  </a:tcPr>
                </a:tc>
                <a:extLst>
                  <a:ext uri="{0D108BD9-81ED-4DB2-BD59-A6C34878D82A}">
                    <a16:rowId xmlns:a16="http://schemas.microsoft.com/office/drawing/2014/main" val="10005"/>
                  </a:ext>
                </a:extLst>
              </a:tr>
            </a:tbl>
          </a:graphicData>
        </a:graphic>
      </p:graphicFrame>
      <p:sp>
        <p:nvSpPr>
          <p:cNvPr id="31" name="Text 27"/>
          <p:cNvSpPr txBox="1"/>
          <p:nvPr/>
        </p:nvSpPr>
        <p:spPr>
          <a:xfrm>
            <a:off x="6263640" y="1755648"/>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EXPECTED IMPACT</a:t>
            </a:r>
            <a:endParaRPr lang="en-US" sz="900" dirty="0"/>
          </a:p>
        </p:txBody>
      </p:sp>
      <p:sp>
        <p:nvSpPr>
          <p:cNvPr id="32" name="Shape 28"/>
          <p:cNvSpPr/>
          <p:nvPr/>
        </p:nvSpPr>
        <p:spPr>
          <a:xfrm>
            <a:off x="6263640" y="1993392"/>
            <a:ext cx="2688336" cy="868680"/>
          </a:xfrm>
          <a:prstGeom prst="roundRect">
            <a:avLst>
              <a:gd name="adj" fmla="val 10526"/>
            </a:avLst>
          </a:prstGeom>
          <a:solidFill>
            <a:srgbClr val="E5482D"/>
          </a:solidFill>
          <a:ln/>
        </p:spPr>
        <p:txBody>
          <a:bodyPr/>
          <a:lstStyle/>
          <a:p>
            <a:endParaRPr lang="en-IN"/>
          </a:p>
        </p:txBody>
      </p:sp>
      <p:sp>
        <p:nvSpPr>
          <p:cNvPr id="33" name="Text 29"/>
          <p:cNvSpPr txBox="1"/>
          <p:nvPr/>
        </p:nvSpPr>
        <p:spPr>
          <a:xfrm>
            <a:off x="6409944" y="2084832"/>
            <a:ext cx="2423160" cy="201168"/>
          </a:xfrm>
          <a:prstGeom prst="rect">
            <a:avLst/>
          </a:prstGeom>
          <a:noFill/>
          <a:ln/>
        </p:spPr>
        <p:txBody>
          <a:bodyPr wrap="square" lIns="0" tIns="0" rIns="0" bIns="0" rtlCol="0" anchor="ctr"/>
          <a:lstStyle/>
          <a:p>
            <a:pPr marL="0" indent="0">
              <a:buNone/>
            </a:pPr>
            <a:r>
              <a:rPr lang="en-US" sz="1000" b="1" dirty="0">
                <a:solidFill>
                  <a:srgbClr val="FFFFFF"/>
                </a:solidFill>
                <a:latin typeface="Inter" pitchFamily="34" charset="0"/>
                <a:ea typeface="Inter" pitchFamily="34" charset="-122"/>
                <a:cs typeface="Inter" pitchFamily="34" charset="-120"/>
              </a:rPr>
              <a:t>Job seekers</a:t>
            </a:r>
            <a:endParaRPr lang="en-US" sz="1000" dirty="0"/>
          </a:p>
        </p:txBody>
      </p:sp>
      <p:sp>
        <p:nvSpPr>
          <p:cNvPr id="34" name="Text 30"/>
          <p:cNvSpPr txBox="1"/>
          <p:nvPr/>
        </p:nvSpPr>
        <p:spPr>
          <a:xfrm>
            <a:off x="6409944" y="2304288"/>
            <a:ext cx="2423160" cy="512064"/>
          </a:xfrm>
          <a:prstGeom prst="rect">
            <a:avLst/>
          </a:prstGeom>
          <a:noFill/>
          <a:ln/>
        </p:spPr>
        <p:txBody>
          <a:bodyPr wrap="square" lIns="0" tIns="0" rIns="0" bIns="0" rtlCol="0" anchor="t"/>
          <a:lstStyle/>
          <a:p>
            <a:pPr marL="0" indent="0">
              <a:buNone/>
            </a:pPr>
            <a:r>
              <a:rPr lang="en-US" sz="900" dirty="0">
                <a:solidFill>
                  <a:srgbClr val="FFFFFF"/>
                </a:solidFill>
                <a:latin typeface="Inter" pitchFamily="34" charset="0"/>
                <a:ea typeface="Inter" pitchFamily="34" charset="-122"/>
                <a:cs typeface="Inter" pitchFamily="34" charset="-120"/>
              </a:rPr>
              <a:t>Fewer wasted applications, no fee scams, and a clear path from “not ready” to “hired”.</a:t>
            </a:r>
            <a:endParaRPr lang="en-US" sz="900" dirty="0"/>
          </a:p>
        </p:txBody>
      </p:sp>
      <p:sp>
        <p:nvSpPr>
          <p:cNvPr id="35" name="Shape 31"/>
          <p:cNvSpPr/>
          <p:nvPr/>
        </p:nvSpPr>
        <p:spPr>
          <a:xfrm>
            <a:off x="9043416" y="1993392"/>
            <a:ext cx="2688336" cy="868680"/>
          </a:xfrm>
          <a:prstGeom prst="roundRect">
            <a:avLst>
              <a:gd name="adj" fmla="val 10526"/>
            </a:avLst>
          </a:prstGeom>
          <a:solidFill>
            <a:srgbClr val="0F7A5A"/>
          </a:solidFill>
          <a:ln/>
        </p:spPr>
        <p:txBody>
          <a:bodyPr/>
          <a:lstStyle/>
          <a:p>
            <a:endParaRPr lang="en-IN"/>
          </a:p>
        </p:txBody>
      </p:sp>
      <p:sp>
        <p:nvSpPr>
          <p:cNvPr id="36" name="Text 32"/>
          <p:cNvSpPr txBox="1"/>
          <p:nvPr/>
        </p:nvSpPr>
        <p:spPr>
          <a:xfrm>
            <a:off x="9189720" y="2084832"/>
            <a:ext cx="2423160" cy="201168"/>
          </a:xfrm>
          <a:prstGeom prst="rect">
            <a:avLst/>
          </a:prstGeom>
          <a:noFill/>
          <a:ln/>
        </p:spPr>
        <p:txBody>
          <a:bodyPr wrap="square" lIns="0" tIns="0" rIns="0" bIns="0" rtlCol="0" anchor="ctr"/>
          <a:lstStyle/>
          <a:p>
            <a:pPr marL="0" indent="0">
              <a:buNone/>
            </a:pPr>
            <a:r>
              <a:rPr lang="en-US" sz="1000" b="1" dirty="0">
                <a:solidFill>
                  <a:srgbClr val="FFFFFF"/>
                </a:solidFill>
                <a:latin typeface="Inter" pitchFamily="34" charset="0"/>
                <a:ea typeface="Inter" pitchFamily="34" charset="-122"/>
                <a:cs typeface="Inter" pitchFamily="34" charset="-120"/>
              </a:rPr>
              <a:t>Founders</a:t>
            </a:r>
            <a:endParaRPr lang="en-US" sz="1000" dirty="0"/>
          </a:p>
        </p:txBody>
      </p:sp>
      <p:sp>
        <p:nvSpPr>
          <p:cNvPr id="37" name="Text 33"/>
          <p:cNvSpPr txBox="1"/>
          <p:nvPr/>
        </p:nvSpPr>
        <p:spPr>
          <a:xfrm>
            <a:off x="9189720" y="2304288"/>
            <a:ext cx="2423160" cy="512064"/>
          </a:xfrm>
          <a:prstGeom prst="rect">
            <a:avLst/>
          </a:prstGeom>
          <a:noFill/>
          <a:ln/>
        </p:spPr>
        <p:txBody>
          <a:bodyPr wrap="square" lIns="0" tIns="0" rIns="0" bIns="0" rtlCol="0" anchor="t"/>
          <a:lstStyle/>
          <a:p>
            <a:pPr marL="0" indent="0">
              <a:buNone/>
            </a:pPr>
            <a:r>
              <a:rPr lang="en-US" sz="900" dirty="0">
                <a:solidFill>
                  <a:srgbClr val="FFFFFF"/>
                </a:solidFill>
                <a:latin typeface="Inter" pitchFamily="34" charset="0"/>
                <a:ea typeface="Inter" pitchFamily="34" charset="-122"/>
                <a:cs typeface="Inter" pitchFamily="34" charset="-120"/>
              </a:rPr>
              <a:t>Validate an idea in days, then find a co-founder and a mentor in one place.</a:t>
            </a:r>
            <a:endParaRPr lang="en-US" sz="900" dirty="0"/>
          </a:p>
        </p:txBody>
      </p:sp>
      <p:sp>
        <p:nvSpPr>
          <p:cNvPr id="38" name="Shape 34"/>
          <p:cNvSpPr/>
          <p:nvPr/>
        </p:nvSpPr>
        <p:spPr>
          <a:xfrm>
            <a:off x="6263640" y="2953512"/>
            <a:ext cx="2688336" cy="868680"/>
          </a:xfrm>
          <a:prstGeom prst="roundRect">
            <a:avLst>
              <a:gd name="adj" fmla="val 10526"/>
            </a:avLst>
          </a:prstGeom>
          <a:solidFill>
            <a:srgbClr val="3446C9"/>
          </a:solidFill>
          <a:ln/>
        </p:spPr>
        <p:txBody>
          <a:bodyPr/>
          <a:lstStyle/>
          <a:p>
            <a:endParaRPr lang="en-IN"/>
          </a:p>
        </p:txBody>
      </p:sp>
      <p:sp>
        <p:nvSpPr>
          <p:cNvPr id="39" name="Text 35"/>
          <p:cNvSpPr txBox="1"/>
          <p:nvPr/>
        </p:nvSpPr>
        <p:spPr>
          <a:xfrm>
            <a:off x="6409944" y="3044952"/>
            <a:ext cx="2423160" cy="201168"/>
          </a:xfrm>
          <a:prstGeom prst="rect">
            <a:avLst/>
          </a:prstGeom>
          <a:noFill/>
          <a:ln/>
        </p:spPr>
        <p:txBody>
          <a:bodyPr wrap="square" lIns="0" tIns="0" rIns="0" bIns="0" rtlCol="0" anchor="ctr"/>
          <a:lstStyle/>
          <a:p>
            <a:pPr marL="0" indent="0">
              <a:buNone/>
            </a:pPr>
            <a:r>
              <a:rPr lang="en-US" sz="1000" b="1" dirty="0">
                <a:solidFill>
                  <a:srgbClr val="FFFFFF"/>
                </a:solidFill>
                <a:latin typeface="Inter" pitchFamily="34" charset="0"/>
                <a:ea typeface="Inter" pitchFamily="34" charset="-122"/>
                <a:cs typeface="Inter" pitchFamily="34" charset="-120"/>
              </a:rPr>
              <a:t>Startups &amp; recruiters</a:t>
            </a:r>
            <a:endParaRPr lang="en-US" sz="1000" dirty="0"/>
          </a:p>
        </p:txBody>
      </p:sp>
      <p:sp>
        <p:nvSpPr>
          <p:cNvPr id="40" name="Text 36"/>
          <p:cNvSpPr txBox="1"/>
          <p:nvPr/>
        </p:nvSpPr>
        <p:spPr>
          <a:xfrm>
            <a:off x="6409944" y="3264408"/>
            <a:ext cx="2423160" cy="512064"/>
          </a:xfrm>
          <a:prstGeom prst="rect">
            <a:avLst/>
          </a:prstGeom>
          <a:noFill/>
          <a:ln/>
        </p:spPr>
        <p:txBody>
          <a:bodyPr wrap="square" lIns="0" tIns="0" rIns="0" bIns="0" rtlCol="0" anchor="t"/>
          <a:lstStyle/>
          <a:p>
            <a:pPr marL="0" indent="0">
              <a:buNone/>
            </a:pPr>
            <a:r>
              <a:rPr lang="en-US" sz="900" dirty="0">
                <a:solidFill>
                  <a:srgbClr val="FFFFFF"/>
                </a:solidFill>
                <a:latin typeface="Inter" pitchFamily="34" charset="0"/>
                <a:ea typeface="Inter" pitchFamily="34" charset="-122"/>
                <a:cs typeface="Inter" pitchFamily="34" charset="-120"/>
              </a:rPr>
              <a:t>Proven talent instead of CV piles, and a Verified Hiring badge that draws serious applicants.</a:t>
            </a:r>
            <a:endParaRPr lang="en-US" sz="900" dirty="0"/>
          </a:p>
        </p:txBody>
      </p:sp>
      <p:sp>
        <p:nvSpPr>
          <p:cNvPr id="41" name="Shape 37"/>
          <p:cNvSpPr/>
          <p:nvPr/>
        </p:nvSpPr>
        <p:spPr>
          <a:xfrm>
            <a:off x="9043416" y="2953512"/>
            <a:ext cx="2688336" cy="868680"/>
          </a:xfrm>
          <a:prstGeom prst="roundRect">
            <a:avLst>
              <a:gd name="adj" fmla="val 10526"/>
            </a:avLst>
          </a:prstGeom>
          <a:solidFill>
            <a:srgbClr val="B87503"/>
          </a:solidFill>
          <a:ln/>
        </p:spPr>
        <p:txBody>
          <a:bodyPr/>
          <a:lstStyle/>
          <a:p>
            <a:endParaRPr lang="en-IN"/>
          </a:p>
        </p:txBody>
      </p:sp>
      <p:sp>
        <p:nvSpPr>
          <p:cNvPr id="42" name="Text 38"/>
          <p:cNvSpPr txBox="1"/>
          <p:nvPr/>
        </p:nvSpPr>
        <p:spPr>
          <a:xfrm>
            <a:off x="9189720" y="3044952"/>
            <a:ext cx="2423160" cy="201168"/>
          </a:xfrm>
          <a:prstGeom prst="rect">
            <a:avLst/>
          </a:prstGeom>
          <a:noFill/>
          <a:ln/>
        </p:spPr>
        <p:txBody>
          <a:bodyPr wrap="square" lIns="0" tIns="0" rIns="0" bIns="0" rtlCol="0" anchor="ctr"/>
          <a:lstStyle/>
          <a:p>
            <a:pPr marL="0" indent="0">
              <a:buNone/>
            </a:pPr>
            <a:r>
              <a:rPr lang="en-US" sz="1000" b="1" dirty="0">
                <a:solidFill>
                  <a:srgbClr val="FFFFFF"/>
                </a:solidFill>
                <a:latin typeface="Inter" pitchFamily="34" charset="0"/>
                <a:ea typeface="Inter" pitchFamily="34" charset="-122"/>
                <a:cs typeface="Inter" pitchFamily="34" charset="-120"/>
              </a:rPr>
              <a:t>Colleges · T&amp;P · incubators</a:t>
            </a:r>
            <a:endParaRPr lang="en-US" sz="1000" dirty="0"/>
          </a:p>
        </p:txBody>
      </p:sp>
      <p:sp>
        <p:nvSpPr>
          <p:cNvPr id="43" name="Text 39"/>
          <p:cNvSpPr txBox="1"/>
          <p:nvPr/>
        </p:nvSpPr>
        <p:spPr>
          <a:xfrm>
            <a:off x="9189720" y="3264408"/>
            <a:ext cx="2423160" cy="512064"/>
          </a:xfrm>
          <a:prstGeom prst="rect">
            <a:avLst/>
          </a:prstGeom>
          <a:noFill/>
          <a:ln/>
        </p:spPr>
        <p:txBody>
          <a:bodyPr wrap="square" lIns="0" tIns="0" rIns="0" bIns="0" rtlCol="0" anchor="t"/>
          <a:lstStyle/>
          <a:p>
            <a:pPr marL="0" indent="0">
              <a:buNone/>
            </a:pPr>
            <a:r>
              <a:rPr lang="en-US" sz="900" dirty="0">
                <a:solidFill>
                  <a:srgbClr val="FFFFFF"/>
                </a:solidFill>
                <a:latin typeface="Inter" pitchFamily="34" charset="0"/>
                <a:ea typeface="Inter" pitchFamily="34" charset="-122"/>
                <a:cs typeface="Inter" pitchFamily="34" charset="-120"/>
              </a:rPr>
              <a:t>Placement and venture outcomes, ready for NAAC and NIRF reporting.</a:t>
            </a:r>
            <a:endParaRPr lang="en-US" sz="900" dirty="0"/>
          </a:p>
        </p:txBody>
      </p:sp>
      <p:sp>
        <p:nvSpPr>
          <p:cNvPr id="44" name="Text 40"/>
          <p:cNvSpPr txBox="1"/>
          <p:nvPr/>
        </p:nvSpPr>
        <p:spPr>
          <a:xfrm>
            <a:off x="6263640" y="3968496"/>
            <a:ext cx="2743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SCALABILITY</a:t>
            </a:r>
            <a:endParaRPr lang="en-US" sz="900" dirty="0"/>
          </a:p>
        </p:txBody>
      </p:sp>
      <p:sp>
        <p:nvSpPr>
          <p:cNvPr id="45" name="Text 41"/>
          <p:cNvSpPr txBox="1"/>
          <p:nvPr/>
        </p:nvSpPr>
        <p:spPr>
          <a:xfrm>
            <a:off x="6263640" y="4187952"/>
            <a:ext cx="5468112" cy="731520"/>
          </a:xfrm>
          <a:prstGeom prst="rect">
            <a:avLst/>
          </a:prstGeom>
          <a:noFill/>
          <a:ln/>
        </p:spPr>
        <p:txBody>
          <a:bodyPr wrap="square" lIns="0" tIns="0" rIns="0" bIns="0" rtlCol="0" anchor="t"/>
          <a:lstStyle/>
          <a:p>
            <a:pPr marL="0" indent="0">
              <a:spcAft>
                <a:spcPts val="200"/>
              </a:spcAft>
              <a:buNone/>
            </a:pPr>
            <a:r>
              <a:rPr lang="en-US" sz="900" b="1" dirty="0">
                <a:solidFill>
                  <a:srgbClr val="14161C"/>
                </a:solidFill>
                <a:latin typeface="Inter" pitchFamily="34" charset="0"/>
                <a:ea typeface="Inter" pitchFamily="34" charset="-122"/>
                <a:cs typeface="Inter" pitchFamily="34" charset="-120"/>
              </a:rPr>
              <a:t>Serverless (Vercel + Supabase): </a:t>
            </a:r>
            <a:r>
              <a:rPr lang="en-US" sz="900" dirty="0">
                <a:solidFill>
                  <a:srgbClr val="545B69"/>
                </a:solidFill>
                <a:latin typeface="Inter" pitchFamily="34" charset="0"/>
                <a:ea typeface="Inter" pitchFamily="34" charset="-122"/>
                <a:cs typeface="Inter" pitchFamily="34" charset="-120"/>
              </a:rPr>
              <a:t>one campus to hundreds, with no new servers</a:t>
            </a:r>
            <a:endParaRPr lang="en-US" sz="900" dirty="0"/>
          </a:p>
          <a:p>
            <a:pPr marL="0" indent="0">
              <a:spcAft>
                <a:spcPts val="200"/>
              </a:spcAft>
              <a:buNone/>
            </a:pPr>
            <a:r>
              <a:rPr lang="en-US" sz="900" b="1" dirty="0">
                <a:solidFill>
                  <a:srgbClr val="14161C"/>
                </a:solidFill>
                <a:latin typeface="Inter" pitchFamily="34" charset="0"/>
                <a:ea typeface="Inter" pitchFamily="34" charset="-122"/>
                <a:cs typeface="Inter" pitchFamily="34" charset="-120"/>
              </a:rPr>
              <a:t>Multi-campus: </a:t>
            </a:r>
            <a:r>
              <a:rPr lang="en-US" sz="900" dirty="0">
                <a:solidFill>
                  <a:srgbClr val="545B69"/>
                </a:solidFill>
                <a:latin typeface="Inter" pitchFamily="34" charset="0"/>
                <a:ea typeface="Inter" pitchFamily="34" charset="-122"/>
                <a:cs typeface="Inter" pitchFamily="34" charset="-120"/>
              </a:rPr>
              <a:t>each college gets its own space; openings are shared across campuses</a:t>
            </a:r>
            <a:endParaRPr lang="en-US" sz="900" dirty="0"/>
          </a:p>
          <a:p>
            <a:pPr marL="0" indent="0">
              <a:spcAft>
                <a:spcPts val="200"/>
              </a:spcAft>
              <a:buNone/>
            </a:pPr>
            <a:r>
              <a:rPr lang="en-US" sz="900" b="1" dirty="0">
                <a:solidFill>
                  <a:srgbClr val="14161C"/>
                </a:solidFill>
                <a:latin typeface="Inter" pitchFamily="34" charset="0"/>
                <a:ea typeface="Inter" pitchFamily="34" charset="-122"/>
                <a:cs typeface="Inter" pitchFamily="34" charset="-120"/>
              </a:rPr>
              <a:t>Fast at scale: </a:t>
            </a:r>
            <a:r>
              <a:rPr lang="en-US" sz="900" dirty="0">
                <a:solidFill>
                  <a:srgbClr val="545B69"/>
                </a:solidFill>
                <a:latin typeface="Inter" pitchFamily="34" charset="0"/>
                <a:ea typeface="Inter" pitchFamily="34" charset="-122"/>
                <a:cs typeface="Inter" pitchFamily="34" charset="-120"/>
              </a:rPr>
              <a:t>indexed Postgres + pgvector keep matching quick</a:t>
            </a:r>
            <a:endParaRPr lang="en-US" sz="900" dirty="0"/>
          </a:p>
          <a:p>
            <a:pPr marL="0" indent="0">
              <a:spcAft>
                <a:spcPts val="200"/>
              </a:spcAft>
              <a:buNone/>
            </a:pPr>
            <a:r>
              <a:rPr lang="en-US" sz="900" b="1" dirty="0">
                <a:solidFill>
                  <a:srgbClr val="14161C"/>
                </a:solidFill>
                <a:latin typeface="Inter" pitchFamily="34" charset="0"/>
                <a:ea typeface="Inter" pitchFamily="34" charset="-122"/>
                <a:cs typeface="Inter" pitchFamily="34" charset="-120"/>
              </a:rPr>
              <a:t>Multilingual: </a:t>
            </a:r>
            <a:r>
              <a:rPr lang="en-US" sz="900" dirty="0">
                <a:solidFill>
                  <a:srgbClr val="545B69"/>
                </a:solidFill>
                <a:latin typeface="Inter" pitchFamily="34" charset="0"/>
                <a:ea typeface="Inter" pitchFamily="34" charset="-122"/>
                <a:cs typeface="Inter" pitchFamily="34" charset="-120"/>
              </a:rPr>
              <a:t>English, Hindi and regional languages through AI translation</a:t>
            </a:r>
            <a:endParaRPr lang="en-US" sz="900" dirty="0"/>
          </a:p>
        </p:txBody>
      </p:sp>
      <p:sp>
        <p:nvSpPr>
          <p:cNvPr id="46" name="Text 42"/>
          <p:cNvSpPr txBox="1"/>
          <p:nvPr/>
        </p:nvSpPr>
        <p:spPr>
          <a:xfrm>
            <a:off x="6263640" y="4974336"/>
            <a:ext cx="45720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BUSINESS / IMPLEMENTATION POTENTIAL</a:t>
            </a:r>
            <a:endParaRPr lang="en-US" sz="900" dirty="0"/>
          </a:p>
        </p:txBody>
      </p:sp>
      <p:sp>
        <p:nvSpPr>
          <p:cNvPr id="47" name="Text 43"/>
          <p:cNvSpPr txBox="1"/>
          <p:nvPr/>
        </p:nvSpPr>
        <p:spPr>
          <a:xfrm>
            <a:off x="6263640" y="5212080"/>
            <a:ext cx="2743200" cy="1097280"/>
          </a:xfrm>
          <a:prstGeom prst="rect">
            <a:avLst/>
          </a:prstGeom>
          <a:noFill/>
          <a:ln/>
        </p:spPr>
        <p:txBody>
          <a:bodyPr wrap="square" lIns="0" tIns="0" rIns="0" bIns="0" rtlCol="0" anchor="t"/>
          <a:lstStyle/>
          <a:p>
            <a:pPr marL="114300" indent="-114300">
              <a:spcAft>
                <a:spcPts val="200"/>
              </a:spcAft>
              <a:buSzPct val="100000"/>
              <a:buChar char="•"/>
            </a:pPr>
            <a:r>
              <a:rPr lang="en-US" sz="850" dirty="0">
                <a:solidFill>
                  <a:srgbClr val="545B69"/>
                </a:solidFill>
                <a:latin typeface="Inter" pitchFamily="34" charset="0"/>
                <a:ea typeface="Inter" pitchFamily="34" charset="-122"/>
                <a:cs typeface="Inter" pitchFamily="34" charset="-120"/>
              </a:rPr>
              <a:t>Free forever for students and founders</a:t>
            </a:r>
            <a:endParaRPr lang="en-US" sz="850" dirty="0"/>
          </a:p>
          <a:p>
            <a:pPr marL="114300" indent="-114300">
              <a:spcAft>
                <a:spcPts val="200"/>
              </a:spcAft>
              <a:buSzPct val="100000"/>
              <a:buChar char="•"/>
            </a:pPr>
            <a:r>
              <a:rPr lang="en-US" sz="850" dirty="0">
                <a:solidFill>
                  <a:srgbClr val="545B69"/>
                </a:solidFill>
                <a:latin typeface="Inter" pitchFamily="34" charset="0"/>
                <a:ea typeface="Inter" pitchFamily="34" charset="-122"/>
                <a:cs typeface="Inter" pitchFamily="34" charset="-120"/>
              </a:rPr>
              <a:t>Recruiter Pro: verified badge, talent search, analytics</a:t>
            </a:r>
            <a:endParaRPr lang="en-US" sz="850" dirty="0"/>
          </a:p>
          <a:p>
            <a:pPr marL="114300" indent="-114300">
              <a:spcAft>
                <a:spcPts val="200"/>
              </a:spcAft>
              <a:buSzPct val="100000"/>
              <a:buChar char="•"/>
            </a:pPr>
            <a:r>
              <a:rPr lang="en-US" sz="850" dirty="0">
                <a:solidFill>
                  <a:srgbClr val="545B69"/>
                </a:solidFill>
                <a:latin typeface="Inter" pitchFamily="34" charset="0"/>
                <a:ea typeface="Inter" pitchFamily="34" charset="-122"/>
                <a:cs typeface="Inter" pitchFamily="34" charset="-120"/>
              </a:rPr>
              <a:t>Campus dashboard for T&amp;P cells, E-cells, incubators</a:t>
            </a:r>
            <a:endParaRPr lang="en-US" sz="850" dirty="0"/>
          </a:p>
          <a:p>
            <a:pPr marL="114300" indent="-114300">
              <a:spcAft>
                <a:spcPts val="200"/>
              </a:spcAft>
              <a:buSzPct val="100000"/>
              <a:buChar char="•"/>
            </a:pPr>
            <a:r>
              <a:rPr lang="en-US" sz="850" dirty="0">
                <a:solidFill>
                  <a:srgbClr val="545B69"/>
                </a:solidFill>
                <a:latin typeface="Inter" pitchFamily="34" charset="0"/>
                <a:ea typeface="Inter" pitchFamily="34" charset="-122"/>
                <a:cs typeface="Inter" pitchFamily="34" charset="-120"/>
              </a:rPr>
              <a:t>Sponsored listings: labelled, never change scores</a:t>
            </a:r>
            <a:endParaRPr lang="en-US" sz="850" dirty="0"/>
          </a:p>
        </p:txBody>
      </p:sp>
      <p:sp>
        <p:nvSpPr>
          <p:cNvPr id="48" name="Shape 44"/>
          <p:cNvSpPr/>
          <p:nvPr/>
        </p:nvSpPr>
        <p:spPr>
          <a:xfrm>
            <a:off x="9144000" y="5193792"/>
            <a:ext cx="2587752" cy="1133856"/>
          </a:xfrm>
          <a:prstGeom prst="roundRect">
            <a:avLst>
              <a:gd name="adj" fmla="val 8065"/>
            </a:avLst>
          </a:prstGeom>
          <a:solidFill>
            <a:srgbClr val="14161C"/>
          </a:solidFill>
          <a:ln/>
        </p:spPr>
        <p:txBody>
          <a:bodyPr/>
          <a:lstStyle/>
          <a:p>
            <a:endParaRPr lang="en-IN"/>
          </a:p>
        </p:txBody>
      </p:sp>
      <p:sp>
        <p:nvSpPr>
          <p:cNvPr id="49" name="Text 45"/>
          <p:cNvSpPr txBox="1"/>
          <p:nvPr/>
        </p:nvSpPr>
        <p:spPr>
          <a:xfrm>
            <a:off x="9281160" y="5266944"/>
            <a:ext cx="2286000" cy="182880"/>
          </a:xfrm>
          <a:prstGeom prst="rect">
            <a:avLst/>
          </a:prstGeom>
          <a:noFill/>
          <a:ln/>
        </p:spPr>
        <p:txBody>
          <a:bodyPr wrap="square" lIns="0" tIns="0" rIns="0" bIns="0" rtlCol="0" anchor="ctr"/>
          <a:lstStyle/>
          <a:p>
            <a:pPr marL="0" indent="0">
              <a:buNone/>
            </a:pPr>
            <a:r>
              <a:rPr lang="en-US" sz="850" b="1" kern="0" spc="150" dirty="0">
                <a:solidFill>
                  <a:srgbClr val="E5482D"/>
                </a:solidFill>
                <a:latin typeface="Inter" pitchFamily="34" charset="0"/>
                <a:ea typeface="Inter" pitchFamily="34" charset="-122"/>
                <a:cs typeface="Inter" pitchFamily="34" charset="-120"/>
              </a:rPr>
              <a:t>ROLLOUT</a:t>
            </a:r>
            <a:endParaRPr lang="en-US" sz="850" dirty="0"/>
          </a:p>
        </p:txBody>
      </p:sp>
      <p:sp>
        <p:nvSpPr>
          <p:cNvPr id="50" name="Text 46"/>
          <p:cNvSpPr txBox="1"/>
          <p:nvPr/>
        </p:nvSpPr>
        <p:spPr>
          <a:xfrm>
            <a:off x="9281160" y="5458968"/>
            <a:ext cx="2377440" cy="457200"/>
          </a:xfrm>
          <a:prstGeom prst="rect">
            <a:avLst/>
          </a:prstGeom>
          <a:noFill/>
          <a:ln/>
        </p:spPr>
        <p:txBody>
          <a:bodyPr wrap="square" lIns="0" tIns="0" rIns="0" bIns="0" rtlCol="0" anchor="t"/>
          <a:lstStyle/>
          <a:p>
            <a:pPr marL="0" indent="0">
              <a:buNone/>
            </a:pPr>
            <a:r>
              <a:rPr lang="en-US" sz="900" b="1" dirty="0">
                <a:solidFill>
                  <a:srgbClr val="E5482D"/>
                </a:solidFill>
                <a:latin typeface="Inter" pitchFamily="34" charset="0"/>
                <a:ea typeface="Inter" pitchFamily="34" charset="-122"/>
                <a:cs typeface="Inter" pitchFamily="34" charset="-120"/>
              </a:rPr>
              <a:t>1  </a:t>
            </a:r>
            <a:r>
              <a:rPr lang="en-US" sz="900" dirty="0">
                <a:solidFill>
                  <a:srgbClr val="FFFFFF"/>
                </a:solidFill>
                <a:latin typeface="Inter" pitchFamily="34" charset="0"/>
                <a:ea typeface="Inter" pitchFamily="34" charset="-122"/>
                <a:cs typeface="Inter" pitchFamily="34" charset="-120"/>
              </a:rPr>
              <a:t>Pilot on our campus</a:t>
            </a:r>
            <a:endParaRPr lang="en-US" sz="900" dirty="0"/>
          </a:p>
          <a:p>
            <a:pPr marL="0" indent="0">
              <a:buNone/>
            </a:pPr>
            <a:r>
              <a:rPr lang="en-US" sz="900" b="1" dirty="0">
                <a:solidFill>
                  <a:srgbClr val="E5482D"/>
                </a:solidFill>
                <a:latin typeface="Inter" pitchFamily="34" charset="0"/>
                <a:ea typeface="Inter" pitchFamily="34" charset="-122"/>
                <a:cs typeface="Inter" pitchFamily="34" charset="-120"/>
              </a:rPr>
              <a:t>2  </a:t>
            </a:r>
            <a:r>
              <a:rPr lang="en-US" sz="900" dirty="0">
                <a:solidFill>
                  <a:srgbClr val="FFFFFF"/>
                </a:solidFill>
                <a:latin typeface="Inter" pitchFamily="34" charset="0"/>
                <a:ea typeface="Inter" pitchFamily="34" charset="-122"/>
                <a:cs typeface="Inter" pitchFamily="34" charset="-120"/>
              </a:rPr>
              <a:t>Colleges in our university</a:t>
            </a:r>
            <a:endParaRPr lang="en-US" sz="900" dirty="0"/>
          </a:p>
          <a:p>
            <a:pPr marL="0" indent="0">
              <a:buNone/>
            </a:pPr>
            <a:r>
              <a:rPr lang="en-US" sz="900" b="1" dirty="0">
                <a:solidFill>
                  <a:srgbClr val="E5482D"/>
                </a:solidFill>
                <a:latin typeface="Inter" pitchFamily="34" charset="0"/>
                <a:ea typeface="Inter" pitchFamily="34" charset="-122"/>
                <a:cs typeface="Inter" pitchFamily="34" charset="-120"/>
              </a:rPr>
              <a:t>3  </a:t>
            </a:r>
            <a:r>
              <a:rPr lang="en-US" sz="900" dirty="0">
                <a:solidFill>
                  <a:srgbClr val="FFFFFF"/>
                </a:solidFill>
                <a:latin typeface="Inter" pitchFamily="34" charset="0"/>
                <a:ea typeface="Inter" pitchFamily="34" charset="-122"/>
                <a:cs typeface="Inter" pitchFamily="34" charset="-120"/>
              </a:rPr>
              <a:t>National network</a:t>
            </a:r>
            <a:endParaRPr lang="en-US" sz="900" dirty="0"/>
          </a:p>
        </p:txBody>
      </p:sp>
      <p:sp>
        <p:nvSpPr>
          <p:cNvPr id="51" name="Text 47"/>
          <p:cNvSpPr txBox="1"/>
          <p:nvPr/>
        </p:nvSpPr>
        <p:spPr>
          <a:xfrm>
            <a:off x="9281160" y="5925312"/>
            <a:ext cx="2377440" cy="182880"/>
          </a:xfrm>
          <a:prstGeom prst="rect">
            <a:avLst/>
          </a:prstGeom>
          <a:noFill/>
          <a:ln/>
        </p:spPr>
        <p:txBody>
          <a:bodyPr wrap="square" lIns="0" tIns="0" rIns="0" bIns="0" rtlCol="0" anchor="ctr"/>
          <a:lstStyle/>
          <a:p>
            <a:pPr marL="0" indent="0">
              <a:buNone/>
            </a:pPr>
            <a:r>
              <a:rPr lang="en-US" sz="750" b="1" kern="0" spc="100" dirty="0">
                <a:solidFill>
                  <a:srgbClr val="E5482D"/>
                </a:solidFill>
                <a:latin typeface="Inter" pitchFamily="34" charset="0"/>
                <a:ea typeface="Inter" pitchFamily="34" charset="-122"/>
                <a:cs typeface="Inter" pitchFamily="34" charset="-120"/>
              </a:rPr>
              <a:t>SEMESTER-1 PILOT TARGETS</a:t>
            </a:r>
            <a:endParaRPr lang="en-US" sz="750" dirty="0"/>
          </a:p>
        </p:txBody>
      </p:sp>
      <p:sp>
        <p:nvSpPr>
          <p:cNvPr id="52" name="Text 48"/>
          <p:cNvSpPr txBox="1"/>
          <p:nvPr/>
        </p:nvSpPr>
        <p:spPr>
          <a:xfrm>
            <a:off x="9281160" y="6089904"/>
            <a:ext cx="2377440" cy="18288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1,000 students · 50 recruiters · 100 ideas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a:effectLst/>
      </p:bgPr>
    </p:bg>
    <p:spTree>
      <p:nvGrpSpPr>
        <p:cNvPr id="1" name=""/>
        <p:cNvGrpSpPr/>
        <p:nvPr/>
      </p:nvGrpSpPr>
      <p:grpSpPr>
        <a:xfrm>
          <a:off x="0" y="0"/>
          <a:ext cx="0" cy="0"/>
          <a:chOff x="0" y="0"/>
          <a:chExt cx="0" cy="0"/>
        </a:xfrm>
      </p:grpSpPr>
      <p:sp>
        <p:nvSpPr>
          <p:cNvPr id="2" name="Text 0"/>
          <p:cNvSpPr txBox="1"/>
          <p:nvPr/>
        </p:nvSpPr>
        <p:spPr>
          <a:xfrm>
            <a:off x="457200" y="310896"/>
            <a:ext cx="73152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HACKSHIFT 2026  ·  OFFLINE ROUND  ·  PS 2  ·  SANGAM</a:t>
            </a:r>
            <a:endParaRPr lang="en-US" sz="900" dirty="0"/>
          </a:p>
        </p:txBody>
      </p:sp>
      <p:sp>
        <p:nvSpPr>
          <p:cNvPr id="3" name="Text 1"/>
          <p:cNvSpPr txBox="1"/>
          <p:nvPr/>
        </p:nvSpPr>
        <p:spPr>
          <a:xfrm>
            <a:off x="7159752" y="310896"/>
            <a:ext cx="4572000" cy="182880"/>
          </a:xfrm>
          <a:prstGeom prst="rect">
            <a:avLst/>
          </a:prstGeom>
          <a:noFill/>
          <a:ln/>
        </p:spPr>
        <p:txBody>
          <a:bodyPr wrap="square" lIns="0" tIns="0" rIns="0" bIns="0" rtlCol="0" anchor="ctr"/>
          <a:lstStyle/>
          <a:p>
            <a:pPr marL="0" indent="0" algn="r">
              <a:buNone/>
            </a:pPr>
            <a:r>
              <a:rPr lang="en-US" sz="900" b="1" kern="0" spc="150" dirty="0">
                <a:solidFill>
                  <a:srgbClr val="8B919D"/>
                </a:solidFill>
                <a:latin typeface="Inter" pitchFamily="34" charset="0"/>
                <a:ea typeface="Inter" pitchFamily="34" charset="-122"/>
                <a:cs typeface="Inter" pitchFamily="34" charset="-120"/>
              </a:rPr>
              <a:t>SLIDE 7 / 7  ·  PROTOTYPE &amp; EXECUTION</a:t>
            </a:r>
            <a:endParaRPr lang="en-US" sz="900" dirty="0"/>
          </a:p>
        </p:txBody>
      </p:sp>
      <p:sp>
        <p:nvSpPr>
          <p:cNvPr id="4" name="Text 2"/>
          <p:cNvSpPr txBox="1"/>
          <p:nvPr/>
        </p:nvSpPr>
        <p:spPr>
          <a:xfrm>
            <a:off x="457200" y="512064"/>
            <a:ext cx="8229600" cy="640080"/>
          </a:xfrm>
          <a:prstGeom prst="rect">
            <a:avLst/>
          </a:prstGeom>
          <a:noFill/>
          <a:ln/>
        </p:spPr>
        <p:txBody>
          <a:bodyPr wrap="square" lIns="0" tIns="0" rIns="0" bIns="0" rtlCol="0" anchor="ctr"/>
          <a:lstStyle/>
          <a:p>
            <a:pPr marL="0" indent="0">
              <a:buNone/>
            </a:pPr>
            <a:r>
              <a:rPr lang="en-US" sz="3400" dirty="0">
                <a:solidFill>
                  <a:srgbClr val="14161C"/>
                </a:solidFill>
                <a:latin typeface="Inter" pitchFamily="34" charset="0"/>
                <a:ea typeface="Inter" pitchFamily="34" charset="-122"/>
                <a:cs typeface="Inter" pitchFamily="34" charset="-120"/>
              </a:rPr>
              <a:t>Prototype &amp; Execution</a:t>
            </a:r>
            <a:endParaRPr lang="en-US" sz="3400" dirty="0"/>
          </a:p>
        </p:txBody>
      </p:sp>
      <p:sp>
        <p:nvSpPr>
          <p:cNvPr id="5" name="Text 3"/>
          <p:cNvSpPr txBox="1"/>
          <p:nvPr/>
        </p:nvSpPr>
        <p:spPr>
          <a:xfrm>
            <a:off x="457200" y="1161288"/>
            <a:ext cx="11247120" cy="310896"/>
          </a:xfrm>
          <a:prstGeom prst="rect">
            <a:avLst/>
          </a:prstGeom>
          <a:noFill/>
          <a:ln/>
        </p:spPr>
        <p:txBody>
          <a:bodyPr wrap="square" lIns="0" tIns="0" rIns="0" bIns="0" rtlCol="0" anchor="ctr"/>
          <a:lstStyle/>
          <a:p>
            <a:pPr marL="0" indent="0">
              <a:buNone/>
            </a:pPr>
            <a:r>
              <a:rPr lang="en-US" sz="1300" dirty="0">
                <a:solidFill>
                  <a:srgbClr val="545B69"/>
                </a:solidFill>
                <a:latin typeface="Inter" pitchFamily="34" charset="0"/>
                <a:ea typeface="Inter" pitchFamily="34" charset="-122"/>
                <a:cs typeface="Inter" pitchFamily="34" charset="-120"/>
              </a:rPr>
              <a:t>Wireframes ready and scope locked: this is exactly what we build in the hackathon round.</a:t>
            </a:r>
            <a:endParaRPr lang="en-US" sz="1300" dirty="0"/>
          </a:p>
        </p:txBody>
      </p:sp>
      <p:sp>
        <p:nvSpPr>
          <p:cNvPr id="6" name="Shape 4"/>
          <p:cNvSpPr/>
          <p:nvPr/>
        </p:nvSpPr>
        <p:spPr>
          <a:xfrm>
            <a:off x="491673" y="6455664"/>
            <a:ext cx="118872" cy="118872"/>
          </a:xfrm>
          <a:prstGeom prst="ellipse">
            <a:avLst/>
          </a:prstGeom>
          <a:solidFill>
            <a:srgbClr val="4F6BFF">
              <a:alpha val="90000"/>
            </a:srgbClr>
          </a:solidFill>
          <a:ln/>
        </p:spPr>
        <p:txBody>
          <a:bodyPr/>
          <a:lstStyle/>
          <a:p>
            <a:endParaRPr lang="en-IN"/>
          </a:p>
        </p:txBody>
      </p:sp>
      <p:sp>
        <p:nvSpPr>
          <p:cNvPr id="7" name="Shape 5"/>
          <p:cNvSpPr/>
          <p:nvPr/>
        </p:nvSpPr>
        <p:spPr>
          <a:xfrm>
            <a:off x="457200" y="6515371"/>
            <a:ext cx="118872" cy="118872"/>
          </a:xfrm>
          <a:prstGeom prst="ellipse">
            <a:avLst/>
          </a:prstGeom>
          <a:solidFill>
            <a:srgbClr val="F5A524">
              <a:alpha val="90000"/>
            </a:srgbClr>
          </a:solidFill>
          <a:ln/>
        </p:spPr>
        <p:txBody>
          <a:bodyPr/>
          <a:lstStyle/>
          <a:p>
            <a:endParaRPr lang="en-IN"/>
          </a:p>
        </p:txBody>
      </p:sp>
      <p:sp>
        <p:nvSpPr>
          <p:cNvPr id="8" name="Shape 6"/>
          <p:cNvSpPr/>
          <p:nvPr/>
        </p:nvSpPr>
        <p:spPr>
          <a:xfrm>
            <a:off x="526146" y="6515371"/>
            <a:ext cx="118872" cy="118872"/>
          </a:xfrm>
          <a:prstGeom prst="ellipse">
            <a:avLst/>
          </a:prstGeom>
          <a:solidFill>
            <a:srgbClr val="22C38E">
              <a:alpha val="90000"/>
            </a:srgbClr>
          </a:solidFill>
          <a:ln/>
        </p:spPr>
        <p:txBody>
          <a:bodyPr/>
          <a:lstStyle/>
          <a:p>
            <a:endParaRPr lang="en-IN"/>
          </a:p>
        </p:txBody>
      </p:sp>
      <p:sp>
        <p:nvSpPr>
          <p:cNvPr id="9" name="Text 7"/>
          <p:cNvSpPr txBox="1"/>
          <p:nvPr/>
        </p:nvSpPr>
        <p:spPr>
          <a:xfrm>
            <a:off x="713232" y="6455664"/>
            <a:ext cx="7315200" cy="182880"/>
          </a:xfrm>
          <a:prstGeom prst="rect">
            <a:avLst/>
          </a:prstGeom>
          <a:noFill/>
          <a:ln/>
        </p:spPr>
        <p:txBody>
          <a:bodyPr wrap="square" lIns="0" tIns="0" rIns="0" bIns="0" rtlCol="0" anchor="ctr"/>
          <a:lstStyle/>
          <a:p>
            <a:pPr marL="0" indent="0">
              <a:buNone/>
            </a:pPr>
            <a:r>
              <a:rPr lang="en-US" sz="850" dirty="0">
                <a:solidFill>
                  <a:srgbClr val="8B919D"/>
                </a:solidFill>
                <a:latin typeface="Inter" pitchFamily="34" charset="0"/>
                <a:ea typeface="Inter" pitchFamily="34" charset="-122"/>
                <a:cs typeface="Inter" pitchFamily="34" charset="-120"/>
              </a:rPr>
              <a:t>Sangam  ·  HackShift 2026  ·  PS 2 Entrepreneurship &amp; Employment  ·  Team CAMBIA-REGLAS</a:t>
            </a:r>
            <a:endParaRPr lang="en-US" sz="850" dirty="0"/>
          </a:p>
        </p:txBody>
      </p:sp>
      <p:sp>
        <p:nvSpPr>
          <p:cNvPr id="10" name="Text 8"/>
          <p:cNvSpPr txBox="1"/>
          <p:nvPr/>
        </p:nvSpPr>
        <p:spPr>
          <a:xfrm>
            <a:off x="11274552" y="6391656"/>
            <a:ext cx="457200" cy="292608"/>
          </a:xfrm>
          <a:prstGeom prst="rect">
            <a:avLst/>
          </a:prstGeom>
          <a:noFill/>
          <a:ln/>
        </p:spPr>
        <p:txBody>
          <a:bodyPr wrap="square" lIns="0" tIns="0" rIns="0" bIns="0" rtlCol="0" anchor="ctr"/>
          <a:lstStyle/>
          <a:p>
            <a:pPr marL="0" indent="0" algn="r">
              <a:buNone/>
            </a:pPr>
            <a:r>
              <a:rPr lang="en-US" sz="1400" dirty="0">
                <a:solidFill>
                  <a:srgbClr val="14161C"/>
                </a:solidFill>
                <a:latin typeface="Inter" pitchFamily="34" charset="0"/>
                <a:ea typeface="Inter" pitchFamily="34" charset="-122"/>
                <a:cs typeface="Inter" pitchFamily="34" charset="-120"/>
              </a:rPr>
              <a:t>7</a:t>
            </a:r>
            <a:endParaRPr lang="en-US" sz="1400" dirty="0"/>
          </a:p>
        </p:txBody>
      </p:sp>
      <p:sp>
        <p:nvSpPr>
          <p:cNvPr id="12" name="Text 9"/>
          <p:cNvSpPr txBox="1"/>
          <p:nvPr/>
        </p:nvSpPr>
        <p:spPr>
          <a:xfrm>
            <a:off x="457200" y="1755648"/>
            <a:ext cx="32004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WIREFRAMES / PROTOTYPE</a:t>
            </a:r>
            <a:endParaRPr lang="en-US" sz="900" dirty="0"/>
          </a:p>
        </p:txBody>
      </p:sp>
      <p:sp>
        <p:nvSpPr>
          <p:cNvPr id="13" name="Text 10"/>
          <p:cNvSpPr txBox="1"/>
          <p:nvPr/>
        </p:nvSpPr>
        <p:spPr>
          <a:xfrm>
            <a:off x="3291840" y="1755648"/>
            <a:ext cx="2697480" cy="182880"/>
          </a:xfrm>
          <a:prstGeom prst="rect">
            <a:avLst/>
          </a:prstGeom>
          <a:noFill/>
          <a:ln/>
        </p:spPr>
        <p:txBody>
          <a:bodyPr wrap="square" lIns="0" tIns="0" rIns="0" bIns="0" rtlCol="0" anchor="ctr"/>
          <a:lstStyle/>
          <a:p>
            <a:pPr marL="0" indent="0" algn="r">
              <a:buNone/>
            </a:pPr>
            <a:r>
              <a:rPr lang="en-US" sz="850" i="1" dirty="0">
                <a:solidFill>
                  <a:srgbClr val="545B69"/>
                </a:solidFill>
                <a:latin typeface="Inter" pitchFamily="34" charset="0"/>
                <a:ea typeface="Inter" pitchFamily="34" charset="-122"/>
                <a:cs typeface="Inter" pitchFamily="34" charset="-120"/>
              </a:rPr>
              <a:t>Low-fidelity · sample data</a:t>
            </a:r>
            <a:endParaRPr lang="en-US" sz="850" dirty="0"/>
          </a:p>
        </p:txBody>
      </p:sp>
      <p:sp>
        <p:nvSpPr>
          <p:cNvPr id="14" name="Shape 11"/>
          <p:cNvSpPr/>
          <p:nvPr/>
        </p:nvSpPr>
        <p:spPr>
          <a:xfrm>
            <a:off x="457200" y="2011680"/>
            <a:ext cx="1755648" cy="3584448"/>
          </a:xfrm>
          <a:prstGeom prst="roundRect">
            <a:avLst>
              <a:gd name="adj" fmla="val 10417"/>
            </a:avLst>
          </a:prstGeom>
          <a:solidFill>
            <a:srgbClr val="14161C"/>
          </a:solidFill>
          <a:ln/>
        </p:spPr>
        <p:txBody>
          <a:bodyPr/>
          <a:lstStyle/>
          <a:p>
            <a:endParaRPr lang="en-IN"/>
          </a:p>
        </p:txBody>
      </p:sp>
      <p:sp>
        <p:nvSpPr>
          <p:cNvPr id="15" name="Shape 12"/>
          <p:cNvSpPr/>
          <p:nvPr/>
        </p:nvSpPr>
        <p:spPr>
          <a:xfrm>
            <a:off x="521208" y="2075688"/>
            <a:ext cx="1627632" cy="3456432"/>
          </a:xfrm>
          <a:prstGeom prst="roundRect">
            <a:avLst>
              <a:gd name="adj" fmla="val 8427"/>
            </a:avLst>
          </a:prstGeom>
          <a:solidFill>
            <a:srgbClr val="FFFFFF"/>
          </a:solidFill>
          <a:ln/>
        </p:spPr>
        <p:txBody>
          <a:bodyPr/>
          <a:lstStyle/>
          <a:p>
            <a:endParaRPr lang="en-IN"/>
          </a:p>
        </p:txBody>
      </p:sp>
      <p:sp>
        <p:nvSpPr>
          <p:cNvPr id="16" name="Text 13"/>
          <p:cNvSpPr txBox="1"/>
          <p:nvPr/>
        </p:nvSpPr>
        <p:spPr>
          <a:xfrm>
            <a:off x="640080" y="2130552"/>
            <a:ext cx="548640" cy="146304"/>
          </a:xfrm>
          <a:prstGeom prst="rect">
            <a:avLst/>
          </a:prstGeom>
          <a:noFill/>
          <a:ln/>
        </p:spPr>
        <p:txBody>
          <a:bodyPr wrap="square" lIns="0" tIns="0" rIns="0" bIns="0" rtlCol="0" anchor="ctr"/>
          <a:lstStyle/>
          <a:p>
            <a:pPr marL="0" indent="0">
              <a:buNone/>
            </a:pPr>
            <a:r>
              <a:rPr lang="en-US" sz="650" b="1" dirty="0">
                <a:solidFill>
                  <a:srgbClr val="14161C"/>
                </a:solidFill>
                <a:latin typeface="Inter" pitchFamily="34" charset="0"/>
                <a:ea typeface="Inter" pitchFamily="34" charset="-122"/>
                <a:cs typeface="Inter" pitchFamily="34" charset="-120"/>
              </a:rPr>
              <a:t>9:41</a:t>
            </a:r>
            <a:endParaRPr lang="en-US" sz="650" dirty="0"/>
          </a:p>
        </p:txBody>
      </p:sp>
      <p:sp>
        <p:nvSpPr>
          <p:cNvPr id="17" name="Text 14"/>
          <p:cNvSpPr txBox="1"/>
          <p:nvPr/>
        </p:nvSpPr>
        <p:spPr>
          <a:xfrm>
            <a:off x="612648" y="2295144"/>
            <a:ext cx="1444752" cy="164592"/>
          </a:xfrm>
          <a:prstGeom prst="rect">
            <a:avLst/>
          </a:prstGeom>
          <a:noFill/>
          <a:ln/>
        </p:spPr>
        <p:txBody>
          <a:bodyPr wrap="square" lIns="0" tIns="0" rIns="0" bIns="0" rtlCol="0" anchor="ctr"/>
          <a:lstStyle/>
          <a:p>
            <a:pPr marL="0" indent="0">
              <a:buNone/>
            </a:pPr>
            <a:r>
              <a:rPr lang="en-US" sz="800" b="1" dirty="0">
                <a:solidFill>
                  <a:srgbClr val="E5482D"/>
                </a:solidFill>
                <a:latin typeface="Inter" pitchFamily="34" charset="0"/>
                <a:ea typeface="Inter" pitchFamily="34" charset="-122"/>
                <a:cs typeface="Inter" pitchFamily="34" charset="-120"/>
              </a:rPr>
              <a:t>Sangam</a:t>
            </a:r>
            <a:endParaRPr lang="en-US" sz="800" dirty="0"/>
          </a:p>
        </p:txBody>
      </p:sp>
      <p:sp>
        <p:nvSpPr>
          <p:cNvPr id="18" name="Text 15"/>
          <p:cNvSpPr txBox="1"/>
          <p:nvPr/>
        </p:nvSpPr>
        <p:spPr>
          <a:xfrm>
            <a:off x="612648" y="2478024"/>
            <a:ext cx="1444752" cy="201168"/>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Create your profile</a:t>
            </a:r>
            <a:endParaRPr lang="en-US" sz="950" dirty="0"/>
          </a:p>
        </p:txBody>
      </p:sp>
      <p:sp>
        <p:nvSpPr>
          <p:cNvPr id="19" name="Text 16"/>
          <p:cNvSpPr txBox="1"/>
          <p:nvPr/>
        </p:nvSpPr>
        <p:spPr>
          <a:xfrm>
            <a:off x="612648" y="2679192"/>
            <a:ext cx="1444752" cy="128016"/>
          </a:xfrm>
          <a:prstGeom prst="rect">
            <a:avLst/>
          </a:prstGeom>
          <a:noFill/>
          <a:ln/>
        </p:spPr>
        <p:txBody>
          <a:bodyPr wrap="square" lIns="0" tIns="0" rIns="0" bIns="0" rtlCol="0" anchor="ctr"/>
          <a:lstStyle/>
          <a:p>
            <a:pPr marL="0" indent="0">
              <a:buNone/>
            </a:pPr>
            <a:r>
              <a:rPr lang="en-US" sz="600" dirty="0">
                <a:solidFill>
                  <a:srgbClr val="545B69"/>
                </a:solidFill>
                <a:latin typeface="Inter" pitchFamily="34" charset="0"/>
                <a:ea typeface="Inter" pitchFamily="34" charset="-122"/>
                <a:cs typeface="Inter" pitchFamily="34" charset="-120"/>
              </a:rPr>
              <a:t>Step 2 of 3 · takes 30 seconds</a:t>
            </a:r>
            <a:endParaRPr lang="en-US" sz="600" dirty="0"/>
          </a:p>
        </p:txBody>
      </p:sp>
      <p:sp>
        <p:nvSpPr>
          <p:cNvPr id="20" name="Text 17"/>
          <p:cNvSpPr txBox="1"/>
          <p:nvPr/>
        </p:nvSpPr>
        <p:spPr>
          <a:xfrm>
            <a:off x="612648" y="2862072"/>
            <a:ext cx="1444752"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Full name</a:t>
            </a:r>
            <a:endParaRPr lang="en-US" sz="650" dirty="0"/>
          </a:p>
        </p:txBody>
      </p:sp>
      <p:sp>
        <p:nvSpPr>
          <p:cNvPr id="21" name="Text 18"/>
          <p:cNvSpPr txBox="1"/>
          <p:nvPr/>
        </p:nvSpPr>
        <p:spPr>
          <a:xfrm>
            <a:off x="612648" y="3099816"/>
            <a:ext cx="566928"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Age</a:t>
            </a:r>
            <a:endParaRPr lang="en-US" sz="650" dirty="0"/>
          </a:p>
        </p:txBody>
      </p:sp>
      <p:sp>
        <p:nvSpPr>
          <p:cNvPr id="22" name="Text 19"/>
          <p:cNvSpPr txBox="1"/>
          <p:nvPr/>
        </p:nvSpPr>
        <p:spPr>
          <a:xfrm>
            <a:off x="1234440" y="3099816"/>
            <a:ext cx="822960"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Gender (optional)</a:t>
            </a:r>
            <a:endParaRPr lang="en-US" sz="650" dirty="0"/>
          </a:p>
        </p:txBody>
      </p:sp>
      <p:sp>
        <p:nvSpPr>
          <p:cNvPr id="23" name="Text 20"/>
          <p:cNvSpPr txBox="1"/>
          <p:nvPr/>
        </p:nvSpPr>
        <p:spPr>
          <a:xfrm>
            <a:off x="612648" y="3337560"/>
            <a:ext cx="1444752"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University</a:t>
            </a:r>
            <a:endParaRPr lang="en-US" sz="650" dirty="0"/>
          </a:p>
        </p:txBody>
      </p:sp>
      <p:sp>
        <p:nvSpPr>
          <p:cNvPr id="24" name="Text 21"/>
          <p:cNvSpPr txBox="1"/>
          <p:nvPr/>
        </p:nvSpPr>
        <p:spPr>
          <a:xfrm>
            <a:off x="612648" y="3575304"/>
            <a:ext cx="1444752"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College</a:t>
            </a:r>
            <a:endParaRPr lang="en-US" sz="650" dirty="0"/>
          </a:p>
        </p:txBody>
      </p:sp>
      <p:sp>
        <p:nvSpPr>
          <p:cNvPr id="25" name="Text 22"/>
          <p:cNvSpPr txBox="1"/>
          <p:nvPr/>
        </p:nvSpPr>
        <p:spPr>
          <a:xfrm>
            <a:off x="612648" y="3813048"/>
            <a:ext cx="1444752" cy="201168"/>
          </a:xfrm>
          <a:prstGeom prst="roundRect">
            <a:avLst>
              <a:gd name="adj" fmla="val 22727"/>
            </a:avLst>
          </a:prstGeom>
          <a:solidFill>
            <a:srgbClr val="EEF1F4"/>
          </a:solidFill>
          <a:ln/>
        </p:spPr>
        <p:txBody>
          <a:bodyPr wrap="square" lIns="50800" tIns="50800" rIns="50800" bIns="50800" rtlCol="0" anchor="ctr"/>
          <a:lstStyle/>
          <a:p>
            <a:pPr marL="0" indent="0">
              <a:buNone/>
            </a:pPr>
            <a:r>
              <a:rPr lang="en-US" sz="650" dirty="0">
                <a:solidFill>
                  <a:srgbClr val="545B69"/>
                </a:solidFill>
                <a:latin typeface="Inter" pitchFamily="34" charset="0"/>
                <a:ea typeface="Inter" pitchFamily="34" charset="-122"/>
                <a:cs typeface="Inter" pitchFamily="34" charset="-120"/>
              </a:rPr>
              <a:t>Course · Year: B.Tech CSE · 3rd</a:t>
            </a:r>
            <a:endParaRPr lang="en-US" sz="650" dirty="0"/>
          </a:p>
        </p:txBody>
      </p:sp>
      <p:sp>
        <p:nvSpPr>
          <p:cNvPr id="26" name="Text 23"/>
          <p:cNvSpPr txBox="1"/>
          <p:nvPr/>
        </p:nvSpPr>
        <p:spPr>
          <a:xfrm>
            <a:off x="612648" y="4069080"/>
            <a:ext cx="1444752" cy="118872"/>
          </a:xfrm>
          <a:prstGeom prst="rect">
            <a:avLst/>
          </a:prstGeom>
          <a:noFill/>
          <a:ln/>
        </p:spPr>
        <p:txBody>
          <a:bodyPr wrap="square" lIns="0" tIns="0" rIns="0" bIns="0" rtlCol="0" anchor="ctr"/>
          <a:lstStyle/>
          <a:p>
            <a:pPr marL="0" indent="0">
              <a:buNone/>
            </a:pPr>
            <a:r>
              <a:rPr lang="en-US" sz="550" b="1" kern="0" spc="100" dirty="0">
                <a:solidFill>
                  <a:srgbClr val="545B69"/>
                </a:solidFill>
                <a:latin typeface="Inter" pitchFamily="34" charset="0"/>
                <a:ea typeface="Inter" pitchFamily="34" charset="-122"/>
                <a:cs typeface="Inter" pitchFamily="34" charset="-120"/>
              </a:rPr>
              <a:t>I AM A</a:t>
            </a:r>
            <a:endParaRPr lang="en-US" sz="550" dirty="0"/>
          </a:p>
        </p:txBody>
      </p:sp>
      <p:sp>
        <p:nvSpPr>
          <p:cNvPr id="27" name="Text 24"/>
          <p:cNvSpPr txBox="1"/>
          <p:nvPr/>
        </p:nvSpPr>
        <p:spPr>
          <a:xfrm>
            <a:off x="612648" y="4206240"/>
            <a:ext cx="694944" cy="173736"/>
          </a:xfrm>
          <a:prstGeom prst="roundRect">
            <a:avLst>
              <a:gd name="adj" fmla="val 47368"/>
            </a:avLst>
          </a:prstGeom>
          <a:solidFill>
            <a:srgbClr val="E5482D"/>
          </a:solidFill>
          <a:ln/>
        </p:spPr>
        <p:txBody>
          <a:bodyPr wrap="square" lIns="0" tIns="0" rIns="0" bIns="0" rtlCol="0" anchor="ctr"/>
          <a:lstStyle/>
          <a:p>
            <a:pPr marL="0" indent="0" algn="ctr">
              <a:buNone/>
            </a:pPr>
            <a:r>
              <a:rPr lang="en-US" sz="600" b="1" dirty="0">
                <a:solidFill>
                  <a:srgbClr val="FFFFFF"/>
                </a:solidFill>
                <a:latin typeface="Inter" pitchFamily="34" charset="0"/>
                <a:ea typeface="Inter" pitchFamily="34" charset="-122"/>
                <a:cs typeface="Inter" pitchFamily="34" charset="-120"/>
              </a:rPr>
              <a:t>Job seeker</a:t>
            </a:r>
            <a:endParaRPr lang="en-US" sz="600" dirty="0"/>
          </a:p>
        </p:txBody>
      </p:sp>
      <p:sp>
        <p:nvSpPr>
          <p:cNvPr id="28" name="Text 25"/>
          <p:cNvSpPr txBox="1"/>
          <p:nvPr/>
        </p:nvSpPr>
        <p:spPr>
          <a:xfrm>
            <a:off x="1362456" y="4206240"/>
            <a:ext cx="694944" cy="173736"/>
          </a:xfrm>
          <a:prstGeom prst="roundRect">
            <a:avLst>
              <a:gd name="adj" fmla="val 47368"/>
            </a:avLst>
          </a:prstGeom>
          <a:solidFill>
            <a:srgbClr val="FFFFFF"/>
          </a:solidFill>
          <a:ln w="9525">
            <a:solidFill>
              <a:srgbClr val="DCDFE4"/>
            </a:solidFill>
          </a:ln>
        </p:spPr>
        <p:txBody>
          <a:bodyPr wrap="square" lIns="0" tIns="0" rIns="0" bIns="0" rtlCol="0" anchor="ctr"/>
          <a:lstStyle/>
          <a:p>
            <a:pPr marL="0" indent="0" algn="ctr">
              <a:buNone/>
            </a:pPr>
            <a:r>
              <a:rPr lang="en-US" sz="600" b="1" dirty="0">
                <a:solidFill>
                  <a:srgbClr val="545B69"/>
                </a:solidFill>
                <a:latin typeface="Inter" pitchFamily="34" charset="0"/>
                <a:ea typeface="Inter" pitchFamily="34" charset="-122"/>
                <a:cs typeface="Inter" pitchFamily="34" charset="-120"/>
              </a:rPr>
              <a:t>Founder</a:t>
            </a:r>
            <a:endParaRPr lang="en-US" sz="600" dirty="0"/>
          </a:p>
        </p:txBody>
      </p:sp>
      <p:sp>
        <p:nvSpPr>
          <p:cNvPr id="29" name="Text 26"/>
          <p:cNvSpPr txBox="1"/>
          <p:nvPr/>
        </p:nvSpPr>
        <p:spPr>
          <a:xfrm>
            <a:off x="612648" y="4416552"/>
            <a:ext cx="694944" cy="173736"/>
          </a:xfrm>
          <a:prstGeom prst="roundRect">
            <a:avLst>
              <a:gd name="adj" fmla="val 47368"/>
            </a:avLst>
          </a:prstGeom>
          <a:solidFill>
            <a:srgbClr val="FFFFFF"/>
          </a:solidFill>
          <a:ln w="9525">
            <a:solidFill>
              <a:srgbClr val="DCDFE4"/>
            </a:solidFill>
          </a:ln>
        </p:spPr>
        <p:txBody>
          <a:bodyPr wrap="square" lIns="0" tIns="0" rIns="0" bIns="0" rtlCol="0" anchor="ctr"/>
          <a:lstStyle/>
          <a:p>
            <a:pPr marL="0" indent="0" algn="ctr">
              <a:buNone/>
            </a:pPr>
            <a:r>
              <a:rPr lang="en-US" sz="600" b="1" dirty="0">
                <a:solidFill>
                  <a:srgbClr val="545B69"/>
                </a:solidFill>
                <a:latin typeface="Inter" pitchFamily="34" charset="0"/>
                <a:ea typeface="Inter" pitchFamily="34" charset="-122"/>
                <a:cs typeface="Inter" pitchFamily="34" charset="-120"/>
              </a:rPr>
              <a:t>Mentor</a:t>
            </a:r>
            <a:endParaRPr lang="en-US" sz="600" dirty="0"/>
          </a:p>
        </p:txBody>
      </p:sp>
      <p:sp>
        <p:nvSpPr>
          <p:cNvPr id="30" name="Text 27"/>
          <p:cNvSpPr txBox="1"/>
          <p:nvPr/>
        </p:nvSpPr>
        <p:spPr>
          <a:xfrm>
            <a:off x="1362456" y="4416552"/>
            <a:ext cx="694944" cy="173736"/>
          </a:xfrm>
          <a:prstGeom prst="roundRect">
            <a:avLst>
              <a:gd name="adj" fmla="val 47368"/>
            </a:avLst>
          </a:prstGeom>
          <a:solidFill>
            <a:srgbClr val="FFFFFF"/>
          </a:solidFill>
          <a:ln w="9525">
            <a:solidFill>
              <a:srgbClr val="DCDFE4"/>
            </a:solidFill>
          </a:ln>
        </p:spPr>
        <p:txBody>
          <a:bodyPr wrap="square" lIns="0" tIns="0" rIns="0" bIns="0" rtlCol="0" anchor="ctr"/>
          <a:lstStyle/>
          <a:p>
            <a:pPr marL="0" indent="0" algn="ctr">
              <a:buNone/>
            </a:pPr>
            <a:r>
              <a:rPr lang="en-US" sz="600" b="1" dirty="0">
                <a:solidFill>
                  <a:srgbClr val="545B69"/>
                </a:solidFill>
                <a:latin typeface="Inter" pitchFamily="34" charset="0"/>
                <a:ea typeface="Inter" pitchFamily="34" charset="-122"/>
                <a:cs typeface="Inter" pitchFamily="34" charset="-120"/>
              </a:rPr>
              <a:t>Recruiter</a:t>
            </a:r>
            <a:endParaRPr lang="en-US" sz="600" dirty="0"/>
          </a:p>
        </p:txBody>
      </p:sp>
      <p:sp>
        <p:nvSpPr>
          <p:cNvPr id="31" name="Text 28"/>
          <p:cNvSpPr txBox="1"/>
          <p:nvPr/>
        </p:nvSpPr>
        <p:spPr>
          <a:xfrm>
            <a:off x="612648" y="4663440"/>
            <a:ext cx="1444752" cy="118872"/>
          </a:xfrm>
          <a:prstGeom prst="rect">
            <a:avLst/>
          </a:prstGeom>
          <a:noFill/>
          <a:ln/>
        </p:spPr>
        <p:txBody>
          <a:bodyPr wrap="square" lIns="0" tIns="0" rIns="0" bIns="0" rtlCol="0" anchor="ctr"/>
          <a:lstStyle/>
          <a:p>
            <a:pPr marL="0" indent="0">
              <a:buNone/>
            </a:pPr>
            <a:r>
              <a:rPr lang="en-US" sz="550" b="1" kern="0" spc="100" dirty="0">
                <a:solidFill>
                  <a:srgbClr val="545B69"/>
                </a:solidFill>
                <a:latin typeface="Inter" pitchFamily="34" charset="0"/>
                <a:ea typeface="Inter" pitchFamily="34" charset="-122"/>
                <a:cs typeface="Inter" pitchFamily="34" charset="-120"/>
              </a:rPr>
              <a:t>SKILLS</a:t>
            </a:r>
            <a:endParaRPr lang="en-US" sz="550" dirty="0"/>
          </a:p>
        </p:txBody>
      </p:sp>
      <p:sp>
        <p:nvSpPr>
          <p:cNvPr id="32" name="Text 29"/>
          <p:cNvSpPr txBox="1"/>
          <p:nvPr/>
        </p:nvSpPr>
        <p:spPr>
          <a:xfrm>
            <a:off x="612648" y="4800600"/>
            <a:ext cx="438912" cy="173736"/>
          </a:xfrm>
          <a:prstGeom prst="roundRect">
            <a:avLst>
              <a:gd name="adj" fmla="val 47368"/>
            </a:avLst>
          </a:prstGeom>
          <a:solidFill>
            <a:srgbClr val="3446C9"/>
          </a:solidFill>
          <a:ln/>
        </p:spPr>
        <p:txBody>
          <a:bodyPr wrap="square" lIns="0" tIns="0" rIns="0" bIns="0" rtlCol="0" anchor="ctr"/>
          <a:lstStyle/>
          <a:p>
            <a:pPr marL="0" indent="0" algn="ctr">
              <a:buNone/>
            </a:pPr>
            <a:r>
              <a:rPr lang="en-US" sz="600" b="1" dirty="0">
                <a:solidFill>
                  <a:srgbClr val="FFFFFF"/>
                </a:solidFill>
                <a:latin typeface="Inter" pitchFamily="34" charset="0"/>
                <a:ea typeface="Inter" pitchFamily="34" charset="-122"/>
                <a:cs typeface="Inter" pitchFamily="34" charset="-120"/>
              </a:rPr>
              <a:t>React</a:t>
            </a:r>
            <a:endParaRPr lang="en-US" sz="600" dirty="0"/>
          </a:p>
        </p:txBody>
      </p:sp>
      <p:sp>
        <p:nvSpPr>
          <p:cNvPr id="33" name="Text 30"/>
          <p:cNvSpPr txBox="1"/>
          <p:nvPr/>
        </p:nvSpPr>
        <p:spPr>
          <a:xfrm>
            <a:off x="1097280" y="4800600"/>
            <a:ext cx="457200" cy="173736"/>
          </a:xfrm>
          <a:prstGeom prst="roundRect">
            <a:avLst>
              <a:gd name="adj" fmla="val 47368"/>
            </a:avLst>
          </a:prstGeom>
          <a:solidFill>
            <a:srgbClr val="3446C9"/>
          </a:solidFill>
          <a:ln/>
        </p:spPr>
        <p:txBody>
          <a:bodyPr wrap="square" lIns="0" tIns="0" rIns="0" bIns="0" rtlCol="0" anchor="ctr"/>
          <a:lstStyle/>
          <a:p>
            <a:pPr marL="0" indent="0" algn="ctr">
              <a:buNone/>
            </a:pPr>
            <a:r>
              <a:rPr lang="en-US" sz="600" b="1" dirty="0">
                <a:solidFill>
                  <a:srgbClr val="FFFFFF"/>
                </a:solidFill>
                <a:latin typeface="Inter" pitchFamily="34" charset="0"/>
                <a:ea typeface="Inter" pitchFamily="34" charset="-122"/>
                <a:cs typeface="Inter" pitchFamily="34" charset="-120"/>
              </a:rPr>
              <a:t>Python</a:t>
            </a:r>
            <a:endParaRPr lang="en-US" sz="600" dirty="0"/>
          </a:p>
        </p:txBody>
      </p:sp>
      <p:sp>
        <p:nvSpPr>
          <p:cNvPr id="34" name="Text 31"/>
          <p:cNvSpPr txBox="1"/>
          <p:nvPr/>
        </p:nvSpPr>
        <p:spPr>
          <a:xfrm>
            <a:off x="1600200" y="4800600"/>
            <a:ext cx="457200" cy="173736"/>
          </a:xfrm>
          <a:prstGeom prst="roundRect">
            <a:avLst>
              <a:gd name="adj" fmla="val 47368"/>
            </a:avLst>
          </a:prstGeom>
          <a:solidFill>
            <a:srgbClr val="FFFFFF"/>
          </a:solidFill>
          <a:ln w="9525">
            <a:solidFill>
              <a:srgbClr val="DCDFE4"/>
            </a:solidFill>
          </a:ln>
        </p:spPr>
        <p:txBody>
          <a:bodyPr wrap="square" lIns="0" tIns="0" rIns="0" bIns="0" rtlCol="0" anchor="ctr"/>
          <a:lstStyle/>
          <a:p>
            <a:pPr marL="0" indent="0" algn="ctr">
              <a:buNone/>
            </a:pPr>
            <a:r>
              <a:rPr lang="en-US" sz="600" b="1" dirty="0">
                <a:solidFill>
                  <a:srgbClr val="545B69"/>
                </a:solidFill>
                <a:latin typeface="Inter" pitchFamily="34" charset="0"/>
                <a:ea typeface="Inter" pitchFamily="34" charset="-122"/>
                <a:cs typeface="Inter" pitchFamily="34" charset="-120"/>
              </a:rPr>
              <a:t>UI/UX</a:t>
            </a:r>
            <a:endParaRPr lang="en-US" sz="600" dirty="0"/>
          </a:p>
        </p:txBody>
      </p:sp>
      <p:sp>
        <p:nvSpPr>
          <p:cNvPr id="35" name="Shape 32"/>
          <p:cNvSpPr/>
          <p:nvPr/>
        </p:nvSpPr>
        <p:spPr>
          <a:xfrm>
            <a:off x="612648" y="5047488"/>
            <a:ext cx="100584" cy="100584"/>
          </a:xfrm>
          <a:prstGeom prst="roundRect">
            <a:avLst>
              <a:gd name="adj" fmla="val 18182"/>
            </a:avLst>
          </a:prstGeom>
          <a:solidFill>
            <a:srgbClr val="E5482D"/>
          </a:solidFill>
          <a:ln/>
        </p:spPr>
        <p:txBody>
          <a:bodyPr/>
          <a:lstStyle/>
          <a:p>
            <a:endParaRPr lang="en-IN"/>
          </a:p>
        </p:txBody>
      </p:sp>
      <p:sp>
        <p:nvSpPr>
          <p:cNvPr id="36" name="Text 33"/>
          <p:cNvSpPr txBox="1"/>
          <p:nvPr/>
        </p:nvSpPr>
        <p:spPr>
          <a:xfrm>
            <a:off x="758952" y="5020056"/>
            <a:ext cx="1298448" cy="155448"/>
          </a:xfrm>
          <a:prstGeom prst="rect">
            <a:avLst/>
          </a:prstGeom>
          <a:noFill/>
          <a:ln/>
        </p:spPr>
        <p:txBody>
          <a:bodyPr wrap="square" lIns="0" tIns="0" rIns="0" bIns="0" rtlCol="0" anchor="ctr"/>
          <a:lstStyle/>
          <a:p>
            <a:pPr marL="0" indent="0">
              <a:buNone/>
            </a:pPr>
            <a:r>
              <a:rPr lang="en-US" sz="580" dirty="0">
                <a:solidFill>
                  <a:srgbClr val="14161C"/>
                </a:solidFill>
                <a:latin typeface="Inter" pitchFamily="34" charset="0"/>
                <a:ea typeface="Inter" pitchFamily="34" charset="-122"/>
                <a:cs typeface="Inter" pitchFamily="34" charset="-120"/>
              </a:rPr>
              <a:t>I agree to data use (DPDP Act)</a:t>
            </a:r>
            <a:endParaRPr lang="en-US" sz="580" dirty="0"/>
          </a:p>
        </p:txBody>
      </p:sp>
      <p:sp>
        <p:nvSpPr>
          <p:cNvPr id="37" name="Text 34"/>
          <p:cNvSpPr txBox="1"/>
          <p:nvPr/>
        </p:nvSpPr>
        <p:spPr>
          <a:xfrm>
            <a:off x="612648" y="5239512"/>
            <a:ext cx="1444752" cy="219456"/>
          </a:xfrm>
          <a:prstGeom prst="roundRect">
            <a:avLst>
              <a:gd name="adj" fmla="val 25000"/>
            </a:avLst>
          </a:prstGeom>
          <a:solidFill>
            <a:srgbClr val="E5482D"/>
          </a:solidFill>
          <a:ln/>
        </p:spPr>
        <p:txBody>
          <a:bodyPr wrap="square" lIns="0" tIns="0" rIns="0" bIns="0" rtlCol="0" anchor="ctr"/>
          <a:lstStyle/>
          <a:p>
            <a:pPr marL="0" indent="0" algn="ctr">
              <a:buNone/>
            </a:pPr>
            <a:r>
              <a:rPr lang="en-US" sz="700" b="1" dirty="0">
                <a:solidFill>
                  <a:srgbClr val="FFFFFF"/>
                </a:solidFill>
                <a:latin typeface="Inter" pitchFamily="34" charset="0"/>
                <a:ea typeface="Inter" pitchFamily="34" charset="-122"/>
                <a:cs typeface="Inter" pitchFamily="34" charset="-120"/>
              </a:rPr>
              <a:t>Verify college email →</a:t>
            </a:r>
            <a:endParaRPr lang="en-US" sz="700" dirty="0"/>
          </a:p>
        </p:txBody>
      </p:sp>
      <p:sp>
        <p:nvSpPr>
          <p:cNvPr id="38" name="Shape 35"/>
          <p:cNvSpPr/>
          <p:nvPr/>
        </p:nvSpPr>
        <p:spPr>
          <a:xfrm>
            <a:off x="2331720" y="2011680"/>
            <a:ext cx="1755648" cy="3584448"/>
          </a:xfrm>
          <a:prstGeom prst="roundRect">
            <a:avLst>
              <a:gd name="adj" fmla="val 10417"/>
            </a:avLst>
          </a:prstGeom>
          <a:solidFill>
            <a:srgbClr val="14161C"/>
          </a:solidFill>
          <a:ln/>
        </p:spPr>
        <p:txBody>
          <a:bodyPr/>
          <a:lstStyle/>
          <a:p>
            <a:endParaRPr lang="en-IN"/>
          </a:p>
        </p:txBody>
      </p:sp>
      <p:sp>
        <p:nvSpPr>
          <p:cNvPr id="39" name="Shape 36"/>
          <p:cNvSpPr/>
          <p:nvPr/>
        </p:nvSpPr>
        <p:spPr>
          <a:xfrm>
            <a:off x="2395728" y="2075688"/>
            <a:ext cx="1627632" cy="3456432"/>
          </a:xfrm>
          <a:prstGeom prst="roundRect">
            <a:avLst>
              <a:gd name="adj" fmla="val 8427"/>
            </a:avLst>
          </a:prstGeom>
          <a:solidFill>
            <a:srgbClr val="FFFFFF"/>
          </a:solidFill>
          <a:ln/>
        </p:spPr>
        <p:txBody>
          <a:bodyPr/>
          <a:lstStyle/>
          <a:p>
            <a:endParaRPr lang="en-IN"/>
          </a:p>
        </p:txBody>
      </p:sp>
      <p:sp>
        <p:nvSpPr>
          <p:cNvPr id="40" name="Text 37"/>
          <p:cNvSpPr txBox="1"/>
          <p:nvPr/>
        </p:nvSpPr>
        <p:spPr>
          <a:xfrm>
            <a:off x="2514600" y="2130552"/>
            <a:ext cx="548640" cy="146304"/>
          </a:xfrm>
          <a:prstGeom prst="rect">
            <a:avLst/>
          </a:prstGeom>
          <a:noFill/>
          <a:ln/>
        </p:spPr>
        <p:txBody>
          <a:bodyPr wrap="square" lIns="0" tIns="0" rIns="0" bIns="0" rtlCol="0" anchor="ctr"/>
          <a:lstStyle/>
          <a:p>
            <a:pPr marL="0" indent="0">
              <a:buNone/>
            </a:pPr>
            <a:r>
              <a:rPr lang="en-US" sz="650" b="1" dirty="0">
                <a:solidFill>
                  <a:srgbClr val="14161C"/>
                </a:solidFill>
                <a:latin typeface="Inter" pitchFamily="34" charset="0"/>
                <a:ea typeface="Inter" pitchFamily="34" charset="-122"/>
                <a:cs typeface="Inter" pitchFamily="34" charset="-120"/>
              </a:rPr>
              <a:t>9:41</a:t>
            </a:r>
            <a:endParaRPr lang="en-US" sz="650" dirty="0"/>
          </a:p>
        </p:txBody>
      </p:sp>
      <p:sp>
        <p:nvSpPr>
          <p:cNvPr id="41" name="Text 38"/>
          <p:cNvSpPr txBox="1"/>
          <p:nvPr/>
        </p:nvSpPr>
        <p:spPr>
          <a:xfrm>
            <a:off x="2487168" y="2295144"/>
            <a:ext cx="1444752" cy="146304"/>
          </a:xfrm>
          <a:prstGeom prst="rect">
            <a:avLst/>
          </a:prstGeom>
          <a:noFill/>
          <a:ln/>
        </p:spPr>
        <p:txBody>
          <a:bodyPr wrap="square" lIns="0" tIns="0" rIns="0" bIns="0" rtlCol="0" anchor="ctr"/>
          <a:lstStyle/>
          <a:p>
            <a:pPr marL="0" indent="0">
              <a:buNone/>
            </a:pPr>
            <a:r>
              <a:rPr lang="en-US" sz="650" dirty="0">
                <a:solidFill>
                  <a:srgbClr val="545B69"/>
                </a:solidFill>
                <a:latin typeface="Inter" pitchFamily="34" charset="0"/>
                <a:ea typeface="Inter" pitchFamily="34" charset="-122"/>
                <a:cs typeface="Inter" pitchFamily="34" charset="-120"/>
              </a:rPr>
              <a:t>← Opportunities</a:t>
            </a:r>
            <a:endParaRPr lang="en-US" sz="650" dirty="0"/>
          </a:p>
        </p:txBody>
      </p:sp>
      <p:sp>
        <p:nvSpPr>
          <p:cNvPr id="42" name="Text 39"/>
          <p:cNvSpPr txBox="1"/>
          <p:nvPr/>
        </p:nvSpPr>
        <p:spPr>
          <a:xfrm>
            <a:off x="2487168" y="2496312"/>
            <a:ext cx="1005840" cy="118872"/>
          </a:xfrm>
          <a:prstGeom prst="rect">
            <a:avLst/>
          </a:prstGeom>
          <a:noFill/>
          <a:ln/>
        </p:spPr>
        <p:txBody>
          <a:bodyPr wrap="square" lIns="0" tIns="0" rIns="0" bIns="0" rtlCol="0" anchor="ctr"/>
          <a:lstStyle/>
          <a:p>
            <a:pPr marL="0" indent="0">
              <a:buNone/>
            </a:pPr>
            <a:r>
              <a:rPr lang="en-US" sz="550" b="1" kern="0" spc="50" dirty="0">
                <a:solidFill>
                  <a:srgbClr val="3446C9"/>
                </a:solidFill>
                <a:latin typeface="Inter" pitchFamily="34" charset="0"/>
                <a:ea typeface="Inter" pitchFamily="34" charset="-122"/>
                <a:cs typeface="Inter" pitchFamily="34" charset="-120"/>
              </a:rPr>
              <a:t>INTERNSHIP · REMOTE</a:t>
            </a:r>
            <a:endParaRPr lang="en-US" sz="550" dirty="0"/>
          </a:p>
        </p:txBody>
      </p:sp>
      <p:sp>
        <p:nvSpPr>
          <p:cNvPr id="43" name="Text 40"/>
          <p:cNvSpPr txBox="1"/>
          <p:nvPr/>
        </p:nvSpPr>
        <p:spPr>
          <a:xfrm>
            <a:off x="2487168" y="2624328"/>
            <a:ext cx="1005840" cy="201168"/>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Frontend Intern</a:t>
            </a:r>
            <a:endParaRPr lang="en-US" sz="950" dirty="0"/>
          </a:p>
        </p:txBody>
      </p:sp>
      <p:sp>
        <p:nvSpPr>
          <p:cNvPr id="44" name="Text 41"/>
          <p:cNvSpPr txBox="1"/>
          <p:nvPr/>
        </p:nvSpPr>
        <p:spPr>
          <a:xfrm>
            <a:off x="2487168" y="2825496"/>
            <a:ext cx="1005840" cy="128016"/>
          </a:xfrm>
          <a:prstGeom prst="rect">
            <a:avLst/>
          </a:prstGeom>
          <a:noFill/>
          <a:ln/>
        </p:spPr>
        <p:txBody>
          <a:bodyPr wrap="square" lIns="0" tIns="0" rIns="0" bIns="0" rtlCol="0" anchor="ctr"/>
          <a:lstStyle/>
          <a:p>
            <a:pPr marL="0" indent="0">
              <a:buNone/>
            </a:pPr>
            <a:r>
              <a:rPr lang="en-US" sz="600" dirty="0">
                <a:solidFill>
                  <a:srgbClr val="545B69"/>
                </a:solidFill>
                <a:latin typeface="Inter" pitchFamily="34" charset="0"/>
                <a:ea typeface="Inter" pitchFamily="34" charset="-122"/>
                <a:cs typeface="Inter" pitchFamily="34" charset="-120"/>
              </a:rPr>
              <a:t>Pixel Labs · ₹15k / month</a:t>
            </a:r>
            <a:endParaRPr lang="en-US" sz="600" dirty="0"/>
          </a:p>
        </p:txBody>
      </p:sp>
      <p:sp>
        <p:nvSpPr>
          <p:cNvPr id="45" name="Shape 42"/>
          <p:cNvSpPr/>
          <p:nvPr/>
        </p:nvSpPr>
        <p:spPr>
          <a:xfrm>
            <a:off x="3493008" y="2478024"/>
            <a:ext cx="420624" cy="420624"/>
          </a:xfrm>
          <a:prstGeom prst="ellipse">
            <a:avLst/>
          </a:prstGeom>
          <a:solidFill>
            <a:srgbClr val="FFFFFF"/>
          </a:solidFill>
          <a:ln w="22225">
            <a:solidFill>
              <a:srgbClr val="E5482D"/>
            </a:solidFill>
            <a:prstDash val="solid"/>
          </a:ln>
        </p:spPr>
        <p:txBody>
          <a:bodyPr/>
          <a:lstStyle/>
          <a:p>
            <a:endParaRPr lang="en-IN"/>
          </a:p>
        </p:txBody>
      </p:sp>
      <p:sp>
        <p:nvSpPr>
          <p:cNvPr id="46" name="Text 43"/>
          <p:cNvSpPr txBox="1"/>
          <p:nvPr/>
        </p:nvSpPr>
        <p:spPr>
          <a:xfrm>
            <a:off x="3493008" y="2551176"/>
            <a:ext cx="420624" cy="274320"/>
          </a:xfrm>
          <a:prstGeom prst="rect">
            <a:avLst/>
          </a:prstGeom>
          <a:noFill/>
          <a:ln/>
        </p:spPr>
        <p:txBody>
          <a:bodyPr wrap="square" lIns="0" tIns="0" rIns="0" bIns="0" rtlCol="0" anchor="ctr"/>
          <a:lstStyle/>
          <a:p>
            <a:pPr marL="0" indent="0" algn="ctr">
              <a:buNone/>
            </a:pPr>
            <a:r>
              <a:rPr lang="en-US" sz="1100" b="1" dirty="0">
                <a:solidFill>
                  <a:srgbClr val="14161C"/>
                </a:solidFill>
                <a:latin typeface="Inter" pitchFamily="34" charset="0"/>
                <a:ea typeface="Inter" pitchFamily="34" charset="-122"/>
                <a:cs typeface="Inter" pitchFamily="34" charset="-120"/>
              </a:rPr>
              <a:t>88</a:t>
            </a:r>
            <a:endParaRPr lang="en-US" sz="1100" dirty="0"/>
          </a:p>
        </p:txBody>
      </p:sp>
      <p:sp>
        <p:nvSpPr>
          <p:cNvPr id="47" name="Text 44"/>
          <p:cNvSpPr txBox="1"/>
          <p:nvPr/>
        </p:nvSpPr>
        <p:spPr>
          <a:xfrm>
            <a:off x="3401568" y="2926080"/>
            <a:ext cx="603504" cy="109728"/>
          </a:xfrm>
          <a:prstGeom prst="rect">
            <a:avLst/>
          </a:prstGeom>
          <a:noFill/>
          <a:ln/>
        </p:spPr>
        <p:txBody>
          <a:bodyPr wrap="square" lIns="0" tIns="0" rIns="0" bIns="0" rtlCol="0" anchor="ctr"/>
          <a:lstStyle/>
          <a:p>
            <a:pPr marL="0" indent="0" algn="ctr">
              <a:buNone/>
            </a:pPr>
            <a:r>
              <a:rPr lang="en-US" sz="480" b="1" dirty="0">
                <a:solidFill>
                  <a:srgbClr val="545B69"/>
                </a:solidFill>
                <a:latin typeface="Inter" pitchFamily="34" charset="0"/>
                <a:ea typeface="Inter" pitchFamily="34" charset="-122"/>
                <a:cs typeface="Inter" pitchFamily="34" charset="-120"/>
              </a:rPr>
              <a:t>HIRE-PROOF</a:t>
            </a:r>
            <a:endParaRPr lang="en-US" sz="480" dirty="0"/>
          </a:p>
        </p:txBody>
      </p:sp>
      <p:sp>
        <p:nvSpPr>
          <p:cNvPr id="48" name="Text 45"/>
          <p:cNvSpPr txBox="1"/>
          <p:nvPr/>
        </p:nvSpPr>
        <p:spPr>
          <a:xfrm>
            <a:off x="2487168" y="3063240"/>
            <a:ext cx="896112" cy="182880"/>
          </a:xfrm>
          <a:prstGeom prst="roundRect">
            <a:avLst>
              <a:gd name="adj" fmla="val 50000"/>
            </a:avLst>
          </a:prstGeom>
          <a:solidFill>
            <a:srgbClr val="3446C9"/>
          </a:solidFill>
          <a:ln/>
        </p:spPr>
        <p:txBody>
          <a:bodyPr wrap="square" lIns="0" tIns="0" rIns="0" bIns="0" rtlCol="0" anchor="ctr"/>
          <a:lstStyle/>
          <a:p>
            <a:pPr marL="0" indent="0" algn="ctr">
              <a:buNone/>
            </a:pPr>
            <a:r>
              <a:rPr lang="en-US" sz="600" b="1" dirty="0">
                <a:solidFill>
                  <a:srgbClr val="FFFFFF"/>
                </a:solidFill>
                <a:latin typeface="Inter" pitchFamily="34" charset="0"/>
                <a:ea typeface="Inter" pitchFamily="34" charset="-122"/>
                <a:cs typeface="Inter" pitchFamily="34" charset="-120"/>
              </a:rPr>
              <a:t>92% match for you</a:t>
            </a:r>
            <a:endParaRPr lang="en-US" sz="600" dirty="0"/>
          </a:p>
        </p:txBody>
      </p:sp>
      <p:sp>
        <p:nvSpPr>
          <p:cNvPr id="49" name="Shape 46"/>
          <p:cNvSpPr/>
          <p:nvPr/>
        </p:nvSpPr>
        <p:spPr>
          <a:xfrm>
            <a:off x="2487168" y="3337560"/>
            <a:ext cx="1444752" cy="914400"/>
          </a:xfrm>
          <a:prstGeom prst="roundRect">
            <a:avLst>
              <a:gd name="adj" fmla="val 6000"/>
            </a:avLst>
          </a:prstGeom>
          <a:solidFill>
            <a:srgbClr val="F3F5F8"/>
          </a:solidFill>
          <a:ln/>
        </p:spPr>
        <p:txBody>
          <a:bodyPr/>
          <a:lstStyle/>
          <a:p>
            <a:endParaRPr lang="en-IN"/>
          </a:p>
        </p:txBody>
      </p:sp>
      <p:sp>
        <p:nvSpPr>
          <p:cNvPr id="50" name="Text 47"/>
          <p:cNvSpPr txBox="1"/>
          <p:nvPr/>
        </p:nvSpPr>
        <p:spPr>
          <a:xfrm>
            <a:off x="2560320" y="3392424"/>
            <a:ext cx="1325880" cy="118872"/>
          </a:xfrm>
          <a:prstGeom prst="rect">
            <a:avLst/>
          </a:prstGeom>
          <a:noFill/>
          <a:ln/>
        </p:spPr>
        <p:txBody>
          <a:bodyPr wrap="square" lIns="0" tIns="0" rIns="0" bIns="0" rtlCol="0" anchor="ctr"/>
          <a:lstStyle/>
          <a:p>
            <a:pPr marL="0" indent="0">
              <a:buNone/>
            </a:pPr>
            <a:r>
              <a:rPr lang="en-US" sz="550" b="1" kern="0" spc="50" dirty="0">
                <a:solidFill>
                  <a:srgbClr val="0F7A5A"/>
                </a:solidFill>
                <a:latin typeface="Inter" pitchFamily="34" charset="0"/>
                <a:ea typeface="Inter" pitchFamily="34" charset="-122"/>
                <a:cs typeface="Inter" pitchFamily="34" charset="-120"/>
              </a:rPr>
              <a:t>RECRUITER REALITY CHECK</a:t>
            </a:r>
            <a:endParaRPr lang="en-US" sz="550" dirty="0"/>
          </a:p>
        </p:txBody>
      </p:sp>
      <p:sp>
        <p:nvSpPr>
          <p:cNvPr id="51" name="Text 48"/>
          <p:cNvSpPr txBox="1"/>
          <p:nvPr/>
        </p:nvSpPr>
        <p:spPr>
          <a:xfrm>
            <a:off x="2560320" y="3538728"/>
            <a:ext cx="1325880" cy="658368"/>
          </a:xfrm>
          <a:prstGeom prst="rect">
            <a:avLst/>
          </a:prstGeom>
          <a:noFill/>
          <a:ln/>
        </p:spPr>
        <p:txBody>
          <a:bodyPr wrap="square" lIns="0" tIns="0" rIns="0" bIns="0" rtlCol="0" anchor="t"/>
          <a:lstStyle/>
          <a:p>
            <a:pPr marL="0" indent="0">
              <a:spcAft>
                <a:spcPts val="200"/>
              </a:spcAft>
              <a:buNone/>
            </a:pPr>
            <a:r>
              <a:rPr lang="en-US" sz="630" b="1" dirty="0">
                <a:solidFill>
                  <a:srgbClr val="14161C"/>
                </a:solidFill>
                <a:latin typeface="Inter" pitchFamily="34" charset="0"/>
                <a:ea typeface="Inter" pitchFamily="34" charset="-122"/>
                <a:cs typeface="Inter" pitchFamily="34" charset="-120"/>
              </a:rPr>
              <a:t>Promised: </a:t>
            </a:r>
            <a:r>
              <a:rPr lang="en-US" sz="630" dirty="0">
                <a:solidFill>
                  <a:srgbClr val="545B69"/>
                </a:solidFill>
                <a:latin typeface="Inter" pitchFamily="34" charset="0"/>
                <a:ea typeface="Inter" pitchFamily="34" charset="-122"/>
                <a:cs typeface="Inter" pitchFamily="34" charset="-120"/>
              </a:rPr>
              <a:t>6 paid interns</a:t>
            </a:r>
            <a:endParaRPr lang="en-US" sz="630" dirty="0"/>
          </a:p>
          <a:p>
            <a:pPr marL="0" indent="0">
              <a:spcAft>
                <a:spcPts val="200"/>
              </a:spcAft>
              <a:buNone/>
            </a:pPr>
            <a:r>
              <a:rPr lang="en-US" sz="630" b="1" dirty="0">
                <a:solidFill>
                  <a:srgbClr val="0F7A5A"/>
                </a:solidFill>
                <a:latin typeface="Inter" pitchFamily="34" charset="0"/>
                <a:ea typeface="Inter" pitchFamily="34" charset="-122"/>
                <a:cs typeface="Inter" pitchFamily="34" charset="-120"/>
              </a:rPr>
              <a:t>Confirmed: </a:t>
            </a:r>
            <a:r>
              <a:rPr lang="en-US" sz="630" dirty="0">
                <a:solidFill>
                  <a:srgbClr val="14161C"/>
                </a:solidFill>
                <a:latin typeface="Inter" pitchFamily="34" charset="0"/>
                <a:ea typeface="Inter" pitchFamily="34" charset="-122"/>
                <a:cs typeface="Inter" pitchFamily="34" charset="-120"/>
              </a:rPr>
              <a:t>6 hires, by 6 interns</a:t>
            </a:r>
            <a:endParaRPr lang="en-US" sz="630" dirty="0"/>
          </a:p>
          <a:p>
            <a:pPr marL="0" indent="0">
              <a:spcAft>
                <a:spcPts val="200"/>
              </a:spcAft>
              <a:buNone/>
            </a:pPr>
            <a:r>
              <a:rPr lang="en-US" sz="630" dirty="0">
                <a:solidFill>
                  <a:srgbClr val="545B69"/>
                </a:solidFill>
                <a:latin typeface="Inter" pitchFamily="34" charset="0"/>
                <a:ea typeface="Inter" pitchFamily="34" charset="-122"/>
                <a:cs typeface="Inter" pitchFamily="34" charset="-120"/>
              </a:rPr>
              <a:t>Stipend on time · no fee asked</a:t>
            </a:r>
            <a:endParaRPr lang="en-US" sz="630" dirty="0"/>
          </a:p>
        </p:txBody>
      </p:sp>
      <p:sp>
        <p:nvSpPr>
          <p:cNvPr id="52" name="Shape 49"/>
          <p:cNvSpPr/>
          <p:nvPr/>
        </p:nvSpPr>
        <p:spPr>
          <a:xfrm>
            <a:off x="2487168" y="4325112"/>
            <a:ext cx="1444752" cy="512064"/>
          </a:xfrm>
          <a:prstGeom prst="roundRect">
            <a:avLst>
              <a:gd name="adj" fmla="val 10714"/>
            </a:avLst>
          </a:prstGeom>
          <a:solidFill>
            <a:srgbClr val="FDEDEA"/>
          </a:solidFill>
          <a:ln/>
        </p:spPr>
        <p:txBody>
          <a:bodyPr/>
          <a:lstStyle/>
          <a:p>
            <a:endParaRPr lang="en-IN"/>
          </a:p>
        </p:txBody>
      </p:sp>
      <p:sp>
        <p:nvSpPr>
          <p:cNvPr id="53" name="Text 50"/>
          <p:cNvSpPr txBox="1"/>
          <p:nvPr/>
        </p:nvSpPr>
        <p:spPr>
          <a:xfrm>
            <a:off x="2560320" y="4370832"/>
            <a:ext cx="1325880" cy="118872"/>
          </a:xfrm>
          <a:prstGeom prst="rect">
            <a:avLst/>
          </a:prstGeom>
          <a:noFill/>
          <a:ln/>
        </p:spPr>
        <p:txBody>
          <a:bodyPr wrap="square" lIns="0" tIns="0" rIns="0" bIns="0" rtlCol="0" anchor="ctr"/>
          <a:lstStyle/>
          <a:p>
            <a:pPr marL="0" indent="0">
              <a:buNone/>
            </a:pPr>
            <a:r>
              <a:rPr lang="en-US" sz="550" b="1" kern="0" spc="50" dirty="0">
                <a:solidFill>
                  <a:srgbClr val="E5482D"/>
                </a:solidFill>
                <a:latin typeface="Inter" pitchFamily="34" charset="0"/>
                <a:ea typeface="Inter" pitchFamily="34" charset="-122"/>
                <a:cs typeface="Inter" pitchFamily="34" charset="-120"/>
              </a:rPr>
              <a:t>SKILL GAP</a:t>
            </a:r>
            <a:endParaRPr lang="en-US" sz="550" dirty="0"/>
          </a:p>
        </p:txBody>
      </p:sp>
      <p:sp>
        <p:nvSpPr>
          <p:cNvPr id="54" name="Text 51"/>
          <p:cNvSpPr txBox="1"/>
          <p:nvPr/>
        </p:nvSpPr>
        <p:spPr>
          <a:xfrm>
            <a:off x="2560320" y="4498848"/>
            <a:ext cx="1325880" cy="310896"/>
          </a:xfrm>
          <a:prstGeom prst="rect">
            <a:avLst/>
          </a:prstGeom>
          <a:noFill/>
          <a:ln/>
        </p:spPr>
        <p:txBody>
          <a:bodyPr wrap="square" lIns="0" tIns="0" rIns="0" bIns="0" rtlCol="0" anchor="t"/>
          <a:lstStyle/>
          <a:p>
            <a:pPr marL="0" indent="0">
              <a:buNone/>
            </a:pPr>
            <a:r>
              <a:rPr lang="en-US" sz="630" dirty="0">
                <a:solidFill>
                  <a:srgbClr val="14161C"/>
                </a:solidFill>
                <a:latin typeface="Inter" pitchFamily="34" charset="0"/>
                <a:ea typeface="Inter" pitchFamily="34" charset="-122"/>
                <a:cs typeface="Inter" pitchFamily="34" charset="-120"/>
              </a:rPr>
              <a:t>Missing TypeScript → free 2-week path + proof task</a:t>
            </a:r>
            <a:endParaRPr lang="en-US" sz="630" dirty="0"/>
          </a:p>
        </p:txBody>
      </p:sp>
      <p:sp>
        <p:nvSpPr>
          <p:cNvPr id="55" name="Text 52"/>
          <p:cNvSpPr txBox="1"/>
          <p:nvPr/>
        </p:nvSpPr>
        <p:spPr>
          <a:xfrm>
            <a:off x="2487168" y="4946904"/>
            <a:ext cx="621792" cy="219456"/>
          </a:xfrm>
          <a:prstGeom prst="roundRect">
            <a:avLst>
              <a:gd name="adj" fmla="val 25000"/>
            </a:avLst>
          </a:prstGeom>
          <a:solidFill>
            <a:srgbClr val="E5482D"/>
          </a:solidFill>
          <a:ln/>
        </p:spPr>
        <p:txBody>
          <a:bodyPr wrap="square" lIns="0" tIns="0" rIns="0" bIns="0" rtlCol="0" anchor="ctr"/>
          <a:lstStyle/>
          <a:p>
            <a:pPr marL="0" indent="0" algn="ctr">
              <a:buNone/>
            </a:pPr>
            <a:r>
              <a:rPr lang="en-US" sz="700" b="1" dirty="0">
                <a:solidFill>
                  <a:srgbClr val="FFFFFF"/>
                </a:solidFill>
                <a:latin typeface="Inter" pitchFamily="34" charset="0"/>
                <a:ea typeface="Inter" pitchFamily="34" charset="-122"/>
                <a:cs typeface="Inter" pitchFamily="34" charset="-120"/>
              </a:rPr>
              <a:t>Apply</a:t>
            </a:r>
            <a:endParaRPr lang="en-US" sz="700" dirty="0"/>
          </a:p>
        </p:txBody>
      </p:sp>
      <p:sp>
        <p:nvSpPr>
          <p:cNvPr id="56" name="Text 53"/>
          <p:cNvSpPr txBox="1"/>
          <p:nvPr/>
        </p:nvSpPr>
        <p:spPr>
          <a:xfrm>
            <a:off x="3163824" y="4946904"/>
            <a:ext cx="768096" cy="219456"/>
          </a:xfrm>
          <a:prstGeom prst="roundRect">
            <a:avLst>
              <a:gd name="adj" fmla="val 25000"/>
            </a:avLst>
          </a:prstGeom>
          <a:solidFill>
            <a:srgbClr val="FFFFFF"/>
          </a:solidFill>
          <a:ln w="9525">
            <a:solidFill>
              <a:srgbClr val="DCDFE4"/>
            </a:solidFill>
          </a:ln>
        </p:spPr>
        <p:txBody>
          <a:bodyPr wrap="square" lIns="0" tIns="0" rIns="0" bIns="0" rtlCol="0" anchor="ctr"/>
          <a:lstStyle/>
          <a:p>
            <a:pPr marL="0" indent="0" algn="ctr">
              <a:buNone/>
            </a:pPr>
            <a:r>
              <a:rPr lang="en-US" sz="650" b="1" dirty="0">
                <a:solidFill>
                  <a:srgbClr val="14161C"/>
                </a:solidFill>
                <a:latin typeface="Inter" pitchFamily="34" charset="0"/>
                <a:ea typeface="Inter" pitchFamily="34" charset="-122"/>
                <a:cs typeface="Inter" pitchFamily="34" charset="-120"/>
              </a:rPr>
              <a:t>Ask a question</a:t>
            </a:r>
            <a:endParaRPr lang="en-US" sz="650" dirty="0"/>
          </a:p>
        </p:txBody>
      </p:sp>
      <p:sp>
        <p:nvSpPr>
          <p:cNvPr id="57" name="Text 54"/>
          <p:cNvSpPr txBox="1"/>
          <p:nvPr/>
        </p:nvSpPr>
        <p:spPr>
          <a:xfrm>
            <a:off x="2487168" y="5230368"/>
            <a:ext cx="1444752" cy="164592"/>
          </a:xfrm>
          <a:prstGeom prst="rect">
            <a:avLst/>
          </a:prstGeom>
          <a:noFill/>
          <a:ln/>
        </p:spPr>
        <p:txBody>
          <a:bodyPr wrap="square" lIns="0" tIns="0" rIns="0" bIns="0" rtlCol="0" anchor="ctr"/>
          <a:lstStyle/>
          <a:p>
            <a:pPr marL="0" indent="0">
              <a:buNone/>
            </a:pPr>
            <a:r>
              <a:rPr lang="en-US" sz="600" dirty="0">
                <a:solidFill>
                  <a:srgbClr val="545B69"/>
                </a:solidFill>
                <a:latin typeface="Inter" pitchFamily="34" charset="0"/>
                <a:ea typeface="Inter" pitchFamily="34" charset="-122"/>
                <a:cs typeface="Inter" pitchFamily="34" charset="-120"/>
              </a:rPr>
              <a:t>Q&amp;A · 14 answers from interns</a:t>
            </a:r>
            <a:endParaRPr lang="en-US" sz="600" dirty="0"/>
          </a:p>
        </p:txBody>
      </p:sp>
      <p:sp>
        <p:nvSpPr>
          <p:cNvPr id="58" name="Shape 55"/>
          <p:cNvSpPr/>
          <p:nvPr/>
        </p:nvSpPr>
        <p:spPr>
          <a:xfrm>
            <a:off x="4206240" y="2011680"/>
            <a:ext cx="1755648" cy="3584448"/>
          </a:xfrm>
          <a:prstGeom prst="roundRect">
            <a:avLst>
              <a:gd name="adj" fmla="val 10417"/>
            </a:avLst>
          </a:prstGeom>
          <a:solidFill>
            <a:srgbClr val="14161C"/>
          </a:solidFill>
          <a:ln/>
        </p:spPr>
        <p:txBody>
          <a:bodyPr/>
          <a:lstStyle/>
          <a:p>
            <a:endParaRPr lang="en-IN"/>
          </a:p>
        </p:txBody>
      </p:sp>
      <p:sp>
        <p:nvSpPr>
          <p:cNvPr id="59" name="Shape 56"/>
          <p:cNvSpPr/>
          <p:nvPr/>
        </p:nvSpPr>
        <p:spPr>
          <a:xfrm>
            <a:off x="4270248" y="2075688"/>
            <a:ext cx="1627632" cy="3456432"/>
          </a:xfrm>
          <a:prstGeom prst="roundRect">
            <a:avLst>
              <a:gd name="adj" fmla="val 8427"/>
            </a:avLst>
          </a:prstGeom>
          <a:solidFill>
            <a:srgbClr val="FFFFFF"/>
          </a:solidFill>
          <a:ln/>
        </p:spPr>
        <p:txBody>
          <a:bodyPr/>
          <a:lstStyle/>
          <a:p>
            <a:endParaRPr lang="en-IN"/>
          </a:p>
        </p:txBody>
      </p:sp>
      <p:sp>
        <p:nvSpPr>
          <p:cNvPr id="60" name="Text 57"/>
          <p:cNvSpPr txBox="1"/>
          <p:nvPr/>
        </p:nvSpPr>
        <p:spPr>
          <a:xfrm>
            <a:off x="4389120" y="2130552"/>
            <a:ext cx="548640" cy="146304"/>
          </a:xfrm>
          <a:prstGeom prst="rect">
            <a:avLst/>
          </a:prstGeom>
          <a:noFill/>
          <a:ln/>
        </p:spPr>
        <p:txBody>
          <a:bodyPr wrap="square" lIns="0" tIns="0" rIns="0" bIns="0" rtlCol="0" anchor="ctr"/>
          <a:lstStyle/>
          <a:p>
            <a:pPr marL="0" indent="0">
              <a:buNone/>
            </a:pPr>
            <a:r>
              <a:rPr lang="en-US" sz="650" b="1" dirty="0">
                <a:solidFill>
                  <a:srgbClr val="14161C"/>
                </a:solidFill>
                <a:latin typeface="Inter" pitchFamily="34" charset="0"/>
                <a:ea typeface="Inter" pitchFamily="34" charset="-122"/>
                <a:cs typeface="Inter" pitchFamily="34" charset="-120"/>
              </a:rPr>
              <a:t>9:41</a:t>
            </a:r>
            <a:endParaRPr lang="en-US" sz="650" dirty="0"/>
          </a:p>
        </p:txBody>
      </p:sp>
      <p:sp>
        <p:nvSpPr>
          <p:cNvPr id="61" name="Text 58"/>
          <p:cNvSpPr txBox="1"/>
          <p:nvPr/>
        </p:nvSpPr>
        <p:spPr>
          <a:xfrm>
            <a:off x="4361688" y="2295144"/>
            <a:ext cx="1444752" cy="146304"/>
          </a:xfrm>
          <a:prstGeom prst="rect">
            <a:avLst/>
          </a:prstGeom>
          <a:noFill/>
          <a:ln/>
        </p:spPr>
        <p:txBody>
          <a:bodyPr wrap="square" lIns="0" tIns="0" rIns="0" bIns="0" rtlCol="0" anchor="ctr"/>
          <a:lstStyle/>
          <a:p>
            <a:pPr marL="0" indent="0">
              <a:buNone/>
            </a:pPr>
            <a:r>
              <a:rPr lang="en-US" sz="650" dirty="0">
                <a:solidFill>
                  <a:srgbClr val="545B69"/>
                </a:solidFill>
                <a:latin typeface="Inter" pitchFamily="34" charset="0"/>
                <a:ea typeface="Inter" pitchFamily="34" charset="-122"/>
                <a:cs typeface="Inter" pitchFamily="34" charset="-120"/>
              </a:rPr>
              <a:t>← Idea Lab</a:t>
            </a:r>
            <a:endParaRPr lang="en-US" sz="650" dirty="0"/>
          </a:p>
        </p:txBody>
      </p:sp>
      <p:sp>
        <p:nvSpPr>
          <p:cNvPr id="62" name="Text 59"/>
          <p:cNvSpPr txBox="1"/>
          <p:nvPr/>
        </p:nvSpPr>
        <p:spPr>
          <a:xfrm>
            <a:off x="4361688" y="2496312"/>
            <a:ext cx="1444752" cy="118872"/>
          </a:xfrm>
          <a:prstGeom prst="rect">
            <a:avLst/>
          </a:prstGeom>
          <a:noFill/>
          <a:ln/>
        </p:spPr>
        <p:txBody>
          <a:bodyPr wrap="square" lIns="0" tIns="0" rIns="0" bIns="0" rtlCol="0" anchor="ctr"/>
          <a:lstStyle/>
          <a:p>
            <a:pPr marL="0" indent="0">
              <a:buNone/>
            </a:pPr>
            <a:r>
              <a:rPr lang="en-US" sz="550" b="1" kern="0" spc="50" dirty="0">
                <a:solidFill>
                  <a:srgbClr val="0F7A5A"/>
                </a:solidFill>
                <a:latin typeface="Inter" pitchFamily="34" charset="0"/>
                <a:ea typeface="Inter" pitchFamily="34" charset="-122"/>
                <a:cs typeface="Inter" pitchFamily="34" charset="-120"/>
              </a:rPr>
              <a:t>IDEA · FOOD-TECH</a:t>
            </a:r>
            <a:endParaRPr lang="en-US" sz="550" dirty="0"/>
          </a:p>
        </p:txBody>
      </p:sp>
      <p:sp>
        <p:nvSpPr>
          <p:cNvPr id="63" name="Text 60"/>
          <p:cNvSpPr txBox="1"/>
          <p:nvPr/>
        </p:nvSpPr>
        <p:spPr>
          <a:xfrm>
            <a:off x="4361688" y="2624328"/>
            <a:ext cx="1444752" cy="201168"/>
          </a:xfrm>
          <a:prstGeom prst="rect">
            <a:avLst/>
          </a:prstGeom>
          <a:noFill/>
          <a:ln/>
        </p:spPr>
        <p:txBody>
          <a:bodyPr wrap="square" lIns="0" tIns="0" rIns="0" bIns="0" rtlCol="0" anchor="ctr"/>
          <a:lstStyle/>
          <a:p>
            <a:pPr marL="0" indent="0">
              <a:buNone/>
            </a:pPr>
            <a:r>
              <a:rPr lang="en-US" sz="950" b="1" dirty="0">
                <a:solidFill>
                  <a:srgbClr val="14161C"/>
                </a:solidFill>
                <a:latin typeface="Inter" pitchFamily="34" charset="0"/>
                <a:ea typeface="Inter" pitchFamily="34" charset="-122"/>
                <a:cs typeface="Inter" pitchFamily="34" charset="-120"/>
              </a:rPr>
              <a:t>Campus Tiffin</a:t>
            </a:r>
            <a:endParaRPr lang="en-US" sz="950" dirty="0"/>
          </a:p>
        </p:txBody>
      </p:sp>
      <p:sp>
        <p:nvSpPr>
          <p:cNvPr id="64" name="Text 61"/>
          <p:cNvSpPr txBox="1"/>
          <p:nvPr/>
        </p:nvSpPr>
        <p:spPr>
          <a:xfrm>
            <a:off x="4361688" y="2825496"/>
            <a:ext cx="1444752" cy="128016"/>
          </a:xfrm>
          <a:prstGeom prst="rect">
            <a:avLst/>
          </a:prstGeom>
          <a:noFill/>
          <a:ln/>
        </p:spPr>
        <p:txBody>
          <a:bodyPr wrap="square" lIns="0" tIns="0" rIns="0" bIns="0" rtlCol="0" anchor="ctr"/>
          <a:lstStyle/>
          <a:p>
            <a:pPr marL="0" indent="0">
              <a:buNone/>
            </a:pPr>
            <a:r>
              <a:rPr lang="en-US" sz="600" dirty="0">
                <a:solidFill>
                  <a:srgbClr val="545B69"/>
                </a:solidFill>
                <a:latin typeface="Inter" pitchFamily="34" charset="0"/>
                <a:ea typeface="Inter" pitchFamily="34" charset="-122"/>
                <a:cs typeface="Inter" pitchFamily="34" charset="-120"/>
              </a:rPr>
              <a:t>Home-cooked meals for hostel students</a:t>
            </a:r>
            <a:endParaRPr lang="en-US" sz="600" dirty="0"/>
          </a:p>
        </p:txBody>
      </p:sp>
      <p:sp>
        <p:nvSpPr>
          <p:cNvPr id="65" name="Text 62"/>
          <p:cNvSpPr txBox="1"/>
          <p:nvPr/>
        </p:nvSpPr>
        <p:spPr>
          <a:xfrm>
            <a:off x="4361688" y="3044952"/>
            <a:ext cx="1444752" cy="137160"/>
          </a:xfrm>
          <a:prstGeom prst="rect">
            <a:avLst/>
          </a:prstGeom>
          <a:noFill/>
          <a:ln/>
        </p:spPr>
        <p:txBody>
          <a:bodyPr wrap="square" lIns="0" tIns="0" rIns="0" bIns="0" rtlCol="0" anchor="ctr"/>
          <a:lstStyle/>
          <a:p>
            <a:pPr marL="0" indent="0">
              <a:buNone/>
            </a:pPr>
            <a:r>
              <a:rPr lang="en-US" sz="650" b="1" dirty="0">
                <a:solidFill>
                  <a:srgbClr val="14161C"/>
                </a:solidFill>
                <a:latin typeface="Inter" pitchFamily="34" charset="0"/>
                <a:ea typeface="Inter" pitchFamily="34" charset="-122"/>
                <a:cs typeface="Inter" pitchFamily="34" charset="-120"/>
              </a:rPr>
              <a:t>Would you use it?</a:t>
            </a:r>
            <a:endParaRPr lang="en-US" sz="650" dirty="0"/>
          </a:p>
        </p:txBody>
      </p:sp>
      <p:sp>
        <p:nvSpPr>
          <p:cNvPr id="66" name="Shape 63"/>
          <p:cNvSpPr/>
          <p:nvPr/>
        </p:nvSpPr>
        <p:spPr>
          <a:xfrm>
            <a:off x="4361688" y="3218688"/>
            <a:ext cx="1444752" cy="100584"/>
          </a:xfrm>
          <a:prstGeom prst="roundRect">
            <a:avLst>
              <a:gd name="adj" fmla="val 45455"/>
            </a:avLst>
          </a:prstGeom>
          <a:solidFill>
            <a:srgbClr val="EEF1F4"/>
          </a:solidFill>
          <a:ln/>
        </p:spPr>
        <p:txBody>
          <a:bodyPr/>
          <a:lstStyle/>
          <a:p>
            <a:endParaRPr lang="en-IN"/>
          </a:p>
        </p:txBody>
      </p:sp>
      <p:sp>
        <p:nvSpPr>
          <p:cNvPr id="67" name="Shape 64"/>
          <p:cNvSpPr/>
          <p:nvPr/>
        </p:nvSpPr>
        <p:spPr>
          <a:xfrm>
            <a:off x="4361688" y="3218688"/>
            <a:ext cx="1040221" cy="100584"/>
          </a:xfrm>
          <a:prstGeom prst="roundRect">
            <a:avLst>
              <a:gd name="adj" fmla="val 45455"/>
            </a:avLst>
          </a:prstGeom>
          <a:solidFill>
            <a:srgbClr val="0F7A5A"/>
          </a:solidFill>
          <a:ln/>
        </p:spPr>
        <p:txBody>
          <a:bodyPr/>
          <a:lstStyle/>
          <a:p>
            <a:endParaRPr lang="en-IN"/>
          </a:p>
        </p:txBody>
      </p:sp>
      <p:sp>
        <p:nvSpPr>
          <p:cNvPr id="68" name="Text 65"/>
          <p:cNvSpPr txBox="1"/>
          <p:nvPr/>
        </p:nvSpPr>
        <p:spPr>
          <a:xfrm>
            <a:off x="4361688" y="3346704"/>
            <a:ext cx="1444752" cy="118872"/>
          </a:xfrm>
          <a:prstGeom prst="rect">
            <a:avLst/>
          </a:prstGeom>
          <a:noFill/>
          <a:ln/>
        </p:spPr>
        <p:txBody>
          <a:bodyPr wrap="square" lIns="0" tIns="0" rIns="0" bIns="0" rtlCol="0" anchor="ctr"/>
          <a:lstStyle/>
          <a:p>
            <a:pPr marL="0" indent="0">
              <a:buNone/>
            </a:pPr>
            <a:r>
              <a:rPr lang="en-US" sz="580" dirty="0">
                <a:solidFill>
                  <a:srgbClr val="545B69"/>
                </a:solidFill>
                <a:latin typeface="Inter" pitchFamily="34" charset="0"/>
                <a:ea typeface="Inter" pitchFamily="34" charset="-122"/>
                <a:cs typeface="Inter" pitchFamily="34" charset="-120"/>
              </a:rPr>
              <a:t>72% yes · 214 votes</a:t>
            </a:r>
            <a:endParaRPr lang="en-US" sz="580" dirty="0"/>
          </a:p>
        </p:txBody>
      </p:sp>
      <p:sp>
        <p:nvSpPr>
          <p:cNvPr id="69" name="Text 66"/>
          <p:cNvSpPr txBox="1"/>
          <p:nvPr/>
        </p:nvSpPr>
        <p:spPr>
          <a:xfrm>
            <a:off x="4361688" y="3502152"/>
            <a:ext cx="1444752" cy="137160"/>
          </a:xfrm>
          <a:prstGeom prst="rect">
            <a:avLst/>
          </a:prstGeom>
          <a:noFill/>
          <a:ln/>
        </p:spPr>
        <p:txBody>
          <a:bodyPr wrap="square" lIns="0" tIns="0" rIns="0" bIns="0" rtlCol="0" anchor="ctr"/>
          <a:lstStyle/>
          <a:p>
            <a:pPr marL="0" indent="0">
              <a:buNone/>
            </a:pPr>
            <a:r>
              <a:rPr lang="en-US" sz="650" b="1" dirty="0">
                <a:solidFill>
                  <a:srgbClr val="14161C"/>
                </a:solidFill>
                <a:latin typeface="Inter" pitchFamily="34" charset="0"/>
                <a:ea typeface="Inter" pitchFamily="34" charset="-122"/>
                <a:cs typeface="Inter" pitchFamily="34" charset="-120"/>
              </a:rPr>
              <a:t>Would you pay ₹499 / month?</a:t>
            </a:r>
            <a:endParaRPr lang="en-US" sz="650" dirty="0"/>
          </a:p>
        </p:txBody>
      </p:sp>
      <p:sp>
        <p:nvSpPr>
          <p:cNvPr id="70" name="Shape 67"/>
          <p:cNvSpPr/>
          <p:nvPr/>
        </p:nvSpPr>
        <p:spPr>
          <a:xfrm>
            <a:off x="4361688" y="3675888"/>
            <a:ext cx="1444752" cy="100584"/>
          </a:xfrm>
          <a:prstGeom prst="roundRect">
            <a:avLst>
              <a:gd name="adj" fmla="val 45455"/>
            </a:avLst>
          </a:prstGeom>
          <a:solidFill>
            <a:srgbClr val="EEF1F4"/>
          </a:solidFill>
          <a:ln/>
        </p:spPr>
        <p:txBody>
          <a:bodyPr/>
          <a:lstStyle/>
          <a:p>
            <a:endParaRPr lang="en-IN"/>
          </a:p>
        </p:txBody>
      </p:sp>
      <p:sp>
        <p:nvSpPr>
          <p:cNvPr id="71" name="Shape 68"/>
          <p:cNvSpPr/>
          <p:nvPr/>
        </p:nvSpPr>
        <p:spPr>
          <a:xfrm>
            <a:off x="4361688" y="3675888"/>
            <a:ext cx="592348" cy="100584"/>
          </a:xfrm>
          <a:prstGeom prst="roundRect">
            <a:avLst>
              <a:gd name="adj" fmla="val 45455"/>
            </a:avLst>
          </a:prstGeom>
          <a:solidFill>
            <a:srgbClr val="0F7A5A"/>
          </a:solidFill>
          <a:ln/>
        </p:spPr>
        <p:txBody>
          <a:bodyPr/>
          <a:lstStyle/>
          <a:p>
            <a:endParaRPr lang="en-IN"/>
          </a:p>
        </p:txBody>
      </p:sp>
      <p:sp>
        <p:nvSpPr>
          <p:cNvPr id="72" name="Text 69"/>
          <p:cNvSpPr txBox="1"/>
          <p:nvPr/>
        </p:nvSpPr>
        <p:spPr>
          <a:xfrm>
            <a:off x="4361688" y="3803904"/>
            <a:ext cx="1444752" cy="118872"/>
          </a:xfrm>
          <a:prstGeom prst="rect">
            <a:avLst/>
          </a:prstGeom>
          <a:noFill/>
          <a:ln/>
        </p:spPr>
        <p:txBody>
          <a:bodyPr wrap="square" lIns="0" tIns="0" rIns="0" bIns="0" rtlCol="0" anchor="ctr"/>
          <a:lstStyle/>
          <a:p>
            <a:pPr marL="0" indent="0">
              <a:buNone/>
            </a:pPr>
            <a:r>
              <a:rPr lang="en-US" sz="580" dirty="0">
                <a:solidFill>
                  <a:srgbClr val="545B69"/>
                </a:solidFill>
                <a:latin typeface="Inter" pitchFamily="34" charset="0"/>
                <a:ea typeface="Inter" pitchFamily="34" charset="-122"/>
                <a:cs typeface="Inter" pitchFamily="34" charset="-120"/>
              </a:rPr>
              <a:t>41% yes · 198 votes</a:t>
            </a:r>
            <a:endParaRPr lang="en-US" sz="580" dirty="0"/>
          </a:p>
        </p:txBody>
      </p:sp>
      <p:sp>
        <p:nvSpPr>
          <p:cNvPr id="73" name="Shape 70"/>
          <p:cNvSpPr/>
          <p:nvPr/>
        </p:nvSpPr>
        <p:spPr>
          <a:xfrm>
            <a:off x="4361688" y="3977640"/>
            <a:ext cx="1444752" cy="384048"/>
          </a:xfrm>
          <a:prstGeom prst="roundRect">
            <a:avLst>
              <a:gd name="adj" fmla="val 14286"/>
            </a:avLst>
          </a:prstGeom>
          <a:solidFill>
            <a:srgbClr val="E3F3EC"/>
          </a:solidFill>
          <a:ln/>
        </p:spPr>
        <p:txBody>
          <a:bodyPr/>
          <a:lstStyle/>
          <a:p>
            <a:endParaRPr lang="en-IN"/>
          </a:p>
        </p:txBody>
      </p:sp>
      <p:sp>
        <p:nvSpPr>
          <p:cNvPr id="74" name="Text 71"/>
          <p:cNvSpPr txBox="1"/>
          <p:nvPr/>
        </p:nvSpPr>
        <p:spPr>
          <a:xfrm>
            <a:off x="4434840" y="3995928"/>
            <a:ext cx="1325880" cy="347472"/>
          </a:xfrm>
          <a:prstGeom prst="rect">
            <a:avLst/>
          </a:prstGeom>
          <a:noFill/>
          <a:ln/>
        </p:spPr>
        <p:txBody>
          <a:bodyPr wrap="square" lIns="0" tIns="0" rIns="0" bIns="0" rtlCol="0" anchor="ctr"/>
          <a:lstStyle/>
          <a:p>
            <a:pPr marL="0" indent="0">
              <a:buNone/>
            </a:pPr>
            <a:r>
              <a:rPr lang="en-US" sz="650" b="1" dirty="0">
                <a:solidFill>
                  <a:srgbClr val="0F7A5A"/>
                </a:solidFill>
                <a:latin typeface="Inter" pitchFamily="34" charset="0"/>
                <a:ea typeface="Inter" pitchFamily="34" charset="-122"/>
                <a:cs typeface="Inter" pitchFamily="34" charset="-120"/>
              </a:rPr>
              <a:t>Idea Pulse 68</a:t>
            </a:r>
            <a:endParaRPr lang="en-US" sz="650" dirty="0"/>
          </a:p>
          <a:p>
            <a:pPr marL="0" indent="0">
              <a:buNone/>
            </a:pPr>
            <a:r>
              <a:rPr lang="en-US" sz="650" dirty="0">
                <a:solidFill>
                  <a:srgbClr val="14161C"/>
                </a:solidFill>
                <a:latin typeface="Inter" pitchFamily="34" charset="0"/>
                <a:ea typeface="Inter" pitchFamily="34" charset="-122"/>
                <a:cs typeface="Inter" pitchFamily="34" charset="-120"/>
              </a:rPr>
              <a:t>Validated · venture track unlocked</a:t>
            </a:r>
            <a:endParaRPr lang="en-US" sz="650" dirty="0"/>
          </a:p>
        </p:txBody>
      </p:sp>
      <p:sp>
        <p:nvSpPr>
          <p:cNvPr id="75" name="Text 72"/>
          <p:cNvSpPr txBox="1"/>
          <p:nvPr/>
        </p:nvSpPr>
        <p:spPr>
          <a:xfrm>
            <a:off x="4361688" y="4434840"/>
            <a:ext cx="1444752" cy="146304"/>
          </a:xfrm>
          <a:prstGeom prst="rect">
            <a:avLst/>
          </a:prstGeom>
          <a:noFill/>
          <a:ln/>
        </p:spPr>
        <p:txBody>
          <a:bodyPr wrap="square" lIns="0" tIns="0" rIns="0" bIns="0" rtlCol="0" anchor="ctr"/>
          <a:lstStyle/>
          <a:p>
            <a:pPr marL="0" indent="0">
              <a:buNone/>
            </a:pPr>
            <a:r>
              <a:rPr lang="en-US" sz="630" b="1" dirty="0">
                <a:solidFill>
                  <a:srgbClr val="14161C"/>
                </a:solidFill>
                <a:latin typeface="Inter" pitchFamily="34" charset="0"/>
                <a:ea typeface="Inter" pitchFamily="34" charset="-122"/>
                <a:cs typeface="Inter" pitchFamily="34" charset="-120"/>
              </a:rPr>
              <a:t>Matched: 2 co-founders · 1 mentor</a:t>
            </a:r>
            <a:endParaRPr lang="en-US" sz="630" dirty="0"/>
          </a:p>
        </p:txBody>
      </p:sp>
      <p:sp>
        <p:nvSpPr>
          <p:cNvPr id="76" name="Text 73"/>
          <p:cNvSpPr txBox="1"/>
          <p:nvPr/>
        </p:nvSpPr>
        <p:spPr>
          <a:xfrm>
            <a:off x="4361688" y="4617720"/>
            <a:ext cx="1444752" cy="274320"/>
          </a:xfrm>
          <a:prstGeom prst="rect">
            <a:avLst/>
          </a:prstGeom>
          <a:noFill/>
          <a:ln/>
        </p:spPr>
        <p:txBody>
          <a:bodyPr wrap="square" lIns="0" tIns="0" rIns="0" bIns="0" rtlCol="0" anchor="t"/>
          <a:lstStyle/>
          <a:p>
            <a:pPr marL="0" indent="0">
              <a:buNone/>
            </a:pPr>
            <a:r>
              <a:rPr lang="en-US" sz="600" i="1" dirty="0">
                <a:solidFill>
                  <a:srgbClr val="545B69"/>
                </a:solidFill>
                <a:latin typeface="Inter" pitchFamily="34" charset="0"/>
                <a:ea typeface="Inter" pitchFamily="34" charset="-122"/>
                <a:cs typeface="Inter" pitchFamily="34" charset="-120"/>
              </a:rPr>
              <a:t>“Start with one hostel and pre-orders.” — Mentor feedback</a:t>
            </a:r>
            <a:endParaRPr lang="en-US" sz="600" dirty="0"/>
          </a:p>
        </p:txBody>
      </p:sp>
      <p:sp>
        <p:nvSpPr>
          <p:cNvPr id="77" name="Text 74"/>
          <p:cNvSpPr txBox="1"/>
          <p:nvPr/>
        </p:nvSpPr>
        <p:spPr>
          <a:xfrm>
            <a:off x="4361688" y="4965192"/>
            <a:ext cx="1444752" cy="219456"/>
          </a:xfrm>
          <a:prstGeom prst="roundRect">
            <a:avLst>
              <a:gd name="adj" fmla="val 25000"/>
            </a:avLst>
          </a:prstGeom>
          <a:solidFill>
            <a:srgbClr val="0F7A5A"/>
          </a:solidFill>
          <a:ln/>
        </p:spPr>
        <p:txBody>
          <a:bodyPr wrap="square" lIns="0" tIns="0" rIns="0" bIns="0" rtlCol="0" anchor="ctr"/>
          <a:lstStyle/>
          <a:p>
            <a:pPr marL="0" indent="0" algn="ctr">
              <a:buNone/>
            </a:pPr>
            <a:r>
              <a:rPr lang="en-US" sz="700" b="1" dirty="0">
                <a:solidFill>
                  <a:srgbClr val="FFFFFF"/>
                </a:solidFill>
                <a:latin typeface="Inter" pitchFamily="34" charset="0"/>
                <a:ea typeface="Inter" pitchFamily="34" charset="-122"/>
                <a:cs typeface="Inter" pitchFamily="34" charset="-120"/>
              </a:rPr>
              <a:t>Open venture track →</a:t>
            </a:r>
            <a:endParaRPr lang="en-US" sz="700" dirty="0"/>
          </a:p>
        </p:txBody>
      </p:sp>
      <p:sp>
        <p:nvSpPr>
          <p:cNvPr id="78" name="Text 75"/>
          <p:cNvSpPr txBox="1"/>
          <p:nvPr/>
        </p:nvSpPr>
        <p:spPr>
          <a:xfrm>
            <a:off x="457200" y="5669280"/>
            <a:ext cx="1755648" cy="566928"/>
          </a:xfrm>
          <a:prstGeom prst="rect">
            <a:avLst/>
          </a:prstGeom>
          <a:noFill/>
          <a:ln/>
        </p:spPr>
        <p:txBody>
          <a:bodyPr wrap="square" lIns="0" tIns="0" rIns="0" bIns="0" rtlCol="0" anchor="t"/>
          <a:lstStyle/>
          <a:p>
            <a:pPr marL="0" indent="0" algn="ctr">
              <a:buNone/>
            </a:pPr>
            <a:r>
              <a:rPr lang="en-US" sz="950" b="1" dirty="0">
                <a:solidFill>
                  <a:srgbClr val="E5482D"/>
                </a:solidFill>
                <a:latin typeface="Inter" pitchFamily="34" charset="0"/>
                <a:ea typeface="Inter" pitchFamily="34" charset="-122"/>
                <a:cs typeface="Inter" pitchFamily="34" charset="-120"/>
              </a:rPr>
              <a:t>1  </a:t>
            </a:r>
            <a:r>
              <a:rPr lang="en-US" sz="950" b="1" dirty="0">
                <a:solidFill>
                  <a:srgbClr val="14161C"/>
                </a:solidFill>
                <a:latin typeface="Inter" pitchFamily="34" charset="0"/>
                <a:ea typeface="Inter" pitchFamily="34" charset="-122"/>
                <a:cs typeface="Inter" pitchFamily="34" charset="-120"/>
              </a:rPr>
              <a:t>Sign-up &amp; profile</a:t>
            </a:r>
            <a:endParaRPr lang="en-US" sz="950" dirty="0"/>
          </a:p>
          <a:p>
            <a:pPr marL="0" indent="0" algn="ctr">
              <a:buNone/>
            </a:pPr>
            <a:r>
              <a:rPr lang="en-US" sz="800" dirty="0">
                <a:solidFill>
                  <a:srgbClr val="545B69"/>
                </a:solidFill>
                <a:latin typeface="Inter" pitchFamily="34" charset="0"/>
                <a:ea typeface="Inter" pitchFamily="34" charset="-122"/>
                <a:cs typeface="Inter" pitchFamily="34" charset="-120"/>
              </a:rPr>
              <a:t>Verified email, DPDP consent, role and skills</a:t>
            </a:r>
            <a:endParaRPr lang="en-US" sz="950" dirty="0"/>
          </a:p>
        </p:txBody>
      </p:sp>
      <p:sp>
        <p:nvSpPr>
          <p:cNvPr id="79" name="Text 76"/>
          <p:cNvSpPr txBox="1"/>
          <p:nvPr/>
        </p:nvSpPr>
        <p:spPr>
          <a:xfrm>
            <a:off x="2331720" y="5669280"/>
            <a:ext cx="1755648" cy="566928"/>
          </a:xfrm>
          <a:prstGeom prst="rect">
            <a:avLst/>
          </a:prstGeom>
          <a:noFill/>
          <a:ln/>
        </p:spPr>
        <p:txBody>
          <a:bodyPr wrap="square" lIns="0" tIns="0" rIns="0" bIns="0" rtlCol="0" anchor="t"/>
          <a:lstStyle/>
          <a:p>
            <a:pPr marL="0" indent="0" algn="ctr">
              <a:buNone/>
            </a:pPr>
            <a:r>
              <a:rPr lang="en-US" sz="950" b="1" dirty="0">
                <a:solidFill>
                  <a:srgbClr val="E5482D"/>
                </a:solidFill>
                <a:latin typeface="Inter" pitchFamily="34" charset="0"/>
                <a:ea typeface="Inter" pitchFamily="34" charset="-122"/>
                <a:cs typeface="Inter" pitchFamily="34" charset="-120"/>
              </a:rPr>
              <a:t>2  </a:t>
            </a:r>
            <a:r>
              <a:rPr lang="en-US" sz="950" b="1" dirty="0">
                <a:solidFill>
                  <a:srgbClr val="14161C"/>
                </a:solidFill>
                <a:latin typeface="Inter" pitchFamily="34" charset="0"/>
                <a:ea typeface="Inter" pitchFamily="34" charset="-122"/>
                <a:cs typeface="Inter" pitchFamily="34" charset="-120"/>
              </a:rPr>
              <a:t>Opportunity page</a:t>
            </a:r>
            <a:endParaRPr lang="en-US" sz="950" dirty="0"/>
          </a:p>
          <a:p>
            <a:pPr marL="0" indent="0" algn="ctr">
              <a:buNone/>
            </a:pPr>
            <a:r>
              <a:rPr lang="en-US" sz="800" dirty="0">
                <a:solidFill>
                  <a:srgbClr val="545B69"/>
                </a:solidFill>
                <a:latin typeface="Inter" pitchFamily="34" charset="0"/>
                <a:ea typeface="Inter" pitchFamily="34" charset="-122"/>
                <a:cs typeface="Inter" pitchFamily="34" charset="-120"/>
              </a:rPr>
              <a:t>Hire-Proof Score, match %, skill gap, Q&amp;A</a:t>
            </a:r>
            <a:endParaRPr lang="en-US" sz="950" dirty="0"/>
          </a:p>
        </p:txBody>
      </p:sp>
      <p:sp>
        <p:nvSpPr>
          <p:cNvPr id="80" name="Text 77"/>
          <p:cNvSpPr txBox="1"/>
          <p:nvPr/>
        </p:nvSpPr>
        <p:spPr>
          <a:xfrm>
            <a:off x="4206240" y="5669280"/>
            <a:ext cx="1755648" cy="566928"/>
          </a:xfrm>
          <a:prstGeom prst="rect">
            <a:avLst/>
          </a:prstGeom>
          <a:noFill/>
          <a:ln/>
        </p:spPr>
        <p:txBody>
          <a:bodyPr wrap="square" lIns="0" tIns="0" rIns="0" bIns="0" rtlCol="0" anchor="t"/>
          <a:lstStyle/>
          <a:p>
            <a:pPr marL="0" indent="0" algn="ctr">
              <a:buNone/>
            </a:pPr>
            <a:r>
              <a:rPr lang="en-US" sz="950" b="1" dirty="0">
                <a:solidFill>
                  <a:srgbClr val="E5482D"/>
                </a:solidFill>
                <a:latin typeface="Inter" pitchFamily="34" charset="0"/>
                <a:ea typeface="Inter" pitchFamily="34" charset="-122"/>
                <a:cs typeface="Inter" pitchFamily="34" charset="-120"/>
              </a:rPr>
              <a:t>3  </a:t>
            </a:r>
            <a:r>
              <a:rPr lang="en-US" sz="950" b="1" dirty="0">
                <a:solidFill>
                  <a:srgbClr val="14161C"/>
                </a:solidFill>
                <a:latin typeface="Inter" pitchFamily="34" charset="0"/>
                <a:ea typeface="Inter" pitchFamily="34" charset="-122"/>
                <a:cs typeface="Inter" pitchFamily="34" charset="-120"/>
              </a:rPr>
              <a:t>Idea Lab</a:t>
            </a:r>
            <a:endParaRPr lang="en-US" sz="950" dirty="0"/>
          </a:p>
          <a:p>
            <a:pPr marL="0" indent="0" algn="ctr">
              <a:buNone/>
            </a:pPr>
            <a:r>
              <a:rPr lang="en-US" sz="800" dirty="0">
                <a:solidFill>
                  <a:srgbClr val="545B69"/>
                </a:solidFill>
                <a:latin typeface="Inter" pitchFamily="34" charset="0"/>
                <a:ea typeface="Inter" pitchFamily="34" charset="-122"/>
                <a:cs typeface="Inter" pitchFamily="34" charset="-120"/>
              </a:rPr>
              <a:t>Polls, Idea Pulse, co-founder and mentor match</a:t>
            </a:r>
            <a:endParaRPr lang="en-US" sz="950" dirty="0"/>
          </a:p>
        </p:txBody>
      </p:sp>
      <p:sp>
        <p:nvSpPr>
          <p:cNvPr id="81" name="Text 78"/>
          <p:cNvSpPr txBox="1"/>
          <p:nvPr/>
        </p:nvSpPr>
        <p:spPr>
          <a:xfrm>
            <a:off x="6263640" y="1755648"/>
            <a:ext cx="36576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IMPLEMENTATION PLAN</a:t>
            </a:r>
            <a:endParaRPr lang="en-US" sz="900" dirty="0"/>
          </a:p>
        </p:txBody>
      </p:sp>
      <p:sp>
        <p:nvSpPr>
          <p:cNvPr id="82" name="Shape 79"/>
          <p:cNvSpPr/>
          <p:nvPr/>
        </p:nvSpPr>
        <p:spPr>
          <a:xfrm>
            <a:off x="6263640" y="2011680"/>
            <a:ext cx="1216152" cy="786384"/>
          </a:xfrm>
          <a:prstGeom prst="roundRect">
            <a:avLst>
              <a:gd name="adj" fmla="val 9302"/>
            </a:avLst>
          </a:prstGeom>
          <a:solidFill>
            <a:srgbClr val="FFFFFF"/>
          </a:solidFill>
          <a:ln w="9525">
            <a:solidFill>
              <a:srgbClr val="DCDFE4"/>
            </a:solidFill>
            <a:prstDash val="solid"/>
          </a:ln>
        </p:spPr>
        <p:txBody>
          <a:bodyPr/>
          <a:lstStyle/>
          <a:p>
            <a:endParaRPr lang="en-IN"/>
          </a:p>
        </p:txBody>
      </p:sp>
      <p:sp>
        <p:nvSpPr>
          <p:cNvPr id="83" name="Text 80"/>
          <p:cNvSpPr txBox="1"/>
          <p:nvPr/>
        </p:nvSpPr>
        <p:spPr>
          <a:xfrm>
            <a:off x="6355080" y="2075688"/>
            <a:ext cx="1051560" cy="182880"/>
          </a:xfrm>
          <a:prstGeom prst="rect">
            <a:avLst/>
          </a:prstGeom>
          <a:noFill/>
          <a:ln/>
        </p:spPr>
        <p:txBody>
          <a:bodyPr wrap="square" lIns="0" tIns="0" rIns="0" bIns="0" rtlCol="0" anchor="ctr"/>
          <a:lstStyle/>
          <a:p>
            <a:pPr marL="0" indent="0">
              <a:buNone/>
            </a:pPr>
            <a:r>
              <a:rPr lang="en-US" sz="900" b="1" dirty="0">
                <a:solidFill>
                  <a:srgbClr val="E5482D"/>
                </a:solidFill>
                <a:latin typeface="Inter" pitchFamily="34" charset="0"/>
                <a:ea typeface="Inter" pitchFamily="34" charset="-122"/>
                <a:cs typeface="Inter" pitchFamily="34" charset="-120"/>
              </a:rPr>
              <a:t>Now</a:t>
            </a:r>
            <a:endParaRPr lang="en-US" sz="900" dirty="0"/>
          </a:p>
        </p:txBody>
      </p:sp>
      <p:sp>
        <p:nvSpPr>
          <p:cNvPr id="84" name="Text 81"/>
          <p:cNvSpPr txBox="1"/>
          <p:nvPr/>
        </p:nvSpPr>
        <p:spPr>
          <a:xfrm>
            <a:off x="6355080" y="2267712"/>
            <a:ext cx="1051560" cy="502920"/>
          </a:xfrm>
          <a:prstGeom prst="rect">
            <a:avLst/>
          </a:prstGeom>
          <a:noFill/>
          <a:ln/>
        </p:spPr>
        <p:txBody>
          <a:bodyPr wrap="square" lIns="0" tIns="0" rIns="0" bIns="0" rtlCol="0" anchor="t"/>
          <a:lstStyle/>
          <a:p>
            <a:pPr marL="0" indent="0">
              <a:buNone/>
            </a:pPr>
            <a:r>
              <a:rPr lang="en-US" sz="850" dirty="0">
                <a:solidFill>
                  <a:srgbClr val="14161C"/>
                </a:solidFill>
                <a:latin typeface="Inter" pitchFamily="34" charset="0"/>
                <a:ea typeface="Inter" pitchFamily="34" charset="-122"/>
                <a:cs typeface="Inter" pitchFamily="34" charset="-120"/>
              </a:rPr>
              <a:t>Schema, wireframes, repo + CI ready</a:t>
            </a:r>
            <a:endParaRPr lang="en-US" sz="850" dirty="0"/>
          </a:p>
        </p:txBody>
      </p:sp>
      <p:sp>
        <p:nvSpPr>
          <p:cNvPr id="85" name="Shape 82"/>
          <p:cNvSpPr/>
          <p:nvPr/>
        </p:nvSpPr>
        <p:spPr>
          <a:xfrm>
            <a:off x="7507224" y="2404872"/>
            <a:ext cx="146304" cy="0"/>
          </a:xfrm>
          <a:prstGeom prst="line">
            <a:avLst/>
          </a:prstGeom>
          <a:noFill/>
          <a:ln w="12700">
            <a:solidFill>
              <a:srgbClr val="8B919D"/>
            </a:solidFill>
            <a:prstDash val="solid"/>
            <a:tailEnd type="triangle"/>
          </a:ln>
        </p:spPr>
        <p:txBody>
          <a:bodyPr/>
          <a:lstStyle/>
          <a:p>
            <a:endParaRPr lang="en-IN"/>
          </a:p>
        </p:txBody>
      </p:sp>
      <p:sp>
        <p:nvSpPr>
          <p:cNvPr id="86" name="Shape 83"/>
          <p:cNvSpPr/>
          <p:nvPr/>
        </p:nvSpPr>
        <p:spPr>
          <a:xfrm>
            <a:off x="7680960" y="2011680"/>
            <a:ext cx="1216152" cy="786384"/>
          </a:xfrm>
          <a:prstGeom prst="roundRect">
            <a:avLst>
              <a:gd name="adj" fmla="val 9302"/>
            </a:avLst>
          </a:prstGeom>
          <a:solidFill>
            <a:srgbClr val="FFFFFF"/>
          </a:solidFill>
          <a:ln w="9525">
            <a:solidFill>
              <a:srgbClr val="DCDFE4"/>
            </a:solidFill>
            <a:prstDash val="solid"/>
          </a:ln>
        </p:spPr>
        <p:txBody>
          <a:bodyPr/>
          <a:lstStyle/>
          <a:p>
            <a:endParaRPr lang="en-IN"/>
          </a:p>
        </p:txBody>
      </p:sp>
      <p:sp>
        <p:nvSpPr>
          <p:cNvPr id="87" name="Text 84"/>
          <p:cNvSpPr txBox="1"/>
          <p:nvPr/>
        </p:nvSpPr>
        <p:spPr>
          <a:xfrm>
            <a:off x="7772400" y="2075688"/>
            <a:ext cx="1051560" cy="182880"/>
          </a:xfrm>
          <a:prstGeom prst="rect">
            <a:avLst/>
          </a:prstGeom>
          <a:noFill/>
          <a:ln/>
        </p:spPr>
        <p:txBody>
          <a:bodyPr wrap="square" lIns="0" tIns="0" rIns="0" bIns="0" rtlCol="0" anchor="ctr"/>
          <a:lstStyle/>
          <a:p>
            <a:pPr marL="0" indent="0">
              <a:buNone/>
            </a:pPr>
            <a:r>
              <a:rPr lang="en-US" sz="900" b="1" dirty="0">
                <a:solidFill>
                  <a:srgbClr val="E5482D"/>
                </a:solidFill>
                <a:latin typeface="Inter" pitchFamily="34" charset="0"/>
                <a:ea typeface="Inter" pitchFamily="34" charset="-122"/>
                <a:cs typeface="Inter" pitchFamily="34" charset="-120"/>
              </a:rPr>
              <a:t>24-hour round</a:t>
            </a:r>
            <a:endParaRPr lang="en-US" sz="900" dirty="0"/>
          </a:p>
        </p:txBody>
      </p:sp>
      <p:sp>
        <p:nvSpPr>
          <p:cNvPr id="88" name="Text 85"/>
          <p:cNvSpPr txBox="1"/>
          <p:nvPr/>
        </p:nvSpPr>
        <p:spPr>
          <a:xfrm>
            <a:off x="7772400" y="2267712"/>
            <a:ext cx="1051560" cy="502920"/>
          </a:xfrm>
          <a:prstGeom prst="rect">
            <a:avLst/>
          </a:prstGeom>
          <a:noFill/>
          <a:ln/>
        </p:spPr>
        <p:txBody>
          <a:bodyPr wrap="square" lIns="0" tIns="0" rIns="0" bIns="0" rtlCol="0" anchor="t"/>
          <a:lstStyle/>
          <a:p>
            <a:pPr marL="0" indent="0">
              <a:buNone/>
            </a:pPr>
            <a:r>
              <a:rPr lang="en-US" sz="850" dirty="0">
                <a:solidFill>
                  <a:srgbClr val="14161C"/>
                </a:solidFill>
                <a:latin typeface="Inter" pitchFamily="34" charset="0"/>
                <a:ea typeface="Inter" pitchFamily="34" charset="-122"/>
                <a:cs typeface="Inter" pitchFamily="34" charset="-120"/>
              </a:rPr>
              <a:t>Working MVP built and live on Vercel</a:t>
            </a:r>
            <a:endParaRPr lang="en-US" sz="850" dirty="0"/>
          </a:p>
        </p:txBody>
      </p:sp>
      <p:sp>
        <p:nvSpPr>
          <p:cNvPr id="89" name="Shape 86"/>
          <p:cNvSpPr/>
          <p:nvPr/>
        </p:nvSpPr>
        <p:spPr>
          <a:xfrm>
            <a:off x="8924544" y="2404872"/>
            <a:ext cx="146304" cy="0"/>
          </a:xfrm>
          <a:prstGeom prst="line">
            <a:avLst/>
          </a:prstGeom>
          <a:noFill/>
          <a:ln w="12700">
            <a:solidFill>
              <a:srgbClr val="8B919D"/>
            </a:solidFill>
            <a:prstDash val="solid"/>
            <a:tailEnd type="triangle"/>
          </a:ln>
        </p:spPr>
        <p:txBody>
          <a:bodyPr/>
          <a:lstStyle/>
          <a:p>
            <a:endParaRPr lang="en-IN"/>
          </a:p>
        </p:txBody>
      </p:sp>
      <p:sp>
        <p:nvSpPr>
          <p:cNvPr id="90" name="Shape 87"/>
          <p:cNvSpPr/>
          <p:nvPr/>
        </p:nvSpPr>
        <p:spPr>
          <a:xfrm>
            <a:off x="9098280" y="2011680"/>
            <a:ext cx="1216152" cy="786384"/>
          </a:xfrm>
          <a:prstGeom prst="roundRect">
            <a:avLst>
              <a:gd name="adj" fmla="val 9302"/>
            </a:avLst>
          </a:prstGeom>
          <a:solidFill>
            <a:srgbClr val="FFFFFF"/>
          </a:solidFill>
          <a:ln w="9525">
            <a:solidFill>
              <a:srgbClr val="DCDFE4"/>
            </a:solidFill>
            <a:prstDash val="solid"/>
          </a:ln>
        </p:spPr>
        <p:txBody>
          <a:bodyPr/>
          <a:lstStyle/>
          <a:p>
            <a:endParaRPr lang="en-IN"/>
          </a:p>
        </p:txBody>
      </p:sp>
      <p:sp>
        <p:nvSpPr>
          <p:cNvPr id="91" name="Text 88"/>
          <p:cNvSpPr txBox="1"/>
          <p:nvPr/>
        </p:nvSpPr>
        <p:spPr>
          <a:xfrm>
            <a:off x="9189720" y="2075688"/>
            <a:ext cx="1051560" cy="182880"/>
          </a:xfrm>
          <a:prstGeom prst="rect">
            <a:avLst/>
          </a:prstGeom>
          <a:noFill/>
          <a:ln/>
        </p:spPr>
        <p:txBody>
          <a:bodyPr wrap="square" lIns="0" tIns="0" rIns="0" bIns="0" rtlCol="0" anchor="ctr"/>
          <a:lstStyle/>
          <a:p>
            <a:pPr marL="0" indent="0">
              <a:buNone/>
            </a:pPr>
            <a:r>
              <a:rPr lang="en-US" sz="900" b="1" dirty="0">
                <a:solidFill>
                  <a:srgbClr val="E5482D"/>
                </a:solidFill>
                <a:latin typeface="Inter" pitchFamily="34" charset="0"/>
                <a:ea typeface="Inter" pitchFamily="34" charset="-122"/>
                <a:cs typeface="Inter" pitchFamily="34" charset="-120"/>
              </a:rPr>
              <a:t>Month 1</a:t>
            </a:r>
            <a:endParaRPr lang="en-US" sz="900" dirty="0"/>
          </a:p>
        </p:txBody>
      </p:sp>
      <p:sp>
        <p:nvSpPr>
          <p:cNvPr id="92" name="Text 89"/>
          <p:cNvSpPr txBox="1"/>
          <p:nvPr/>
        </p:nvSpPr>
        <p:spPr>
          <a:xfrm>
            <a:off x="9189720" y="2267712"/>
            <a:ext cx="1051560" cy="502920"/>
          </a:xfrm>
          <a:prstGeom prst="rect">
            <a:avLst/>
          </a:prstGeom>
          <a:noFill/>
          <a:ln/>
        </p:spPr>
        <p:txBody>
          <a:bodyPr wrap="square" lIns="0" tIns="0" rIns="0" bIns="0" rtlCol="0" anchor="t"/>
          <a:lstStyle/>
          <a:p>
            <a:pPr marL="0" indent="0">
              <a:buNone/>
            </a:pPr>
            <a:r>
              <a:rPr lang="en-US" sz="850" dirty="0">
                <a:solidFill>
                  <a:srgbClr val="14161C"/>
                </a:solidFill>
                <a:latin typeface="Inter" pitchFamily="34" charset="0"/>
                <a:ea typeface="Inter" pitchFamily="34" charset="-122"/>
                <a:cs typeface="Inter" pitchFamily="34" charset="-120"/>
              </a:rPr>
              <a:t>Campus pilot with our T&amp;P and E-cell teams</a:t>
            </a:r>
            <a:endParaRPr lang="en-US" sz="850" dirty="0"/>
          </a:p>
        </p:txBody>
      </p:sp>
      <p:sp>
        <p:nvSpPr>
          <p:cNvPr id="93" name="Shape 90"/>
          <p:cNvSpPr/>
          <p:nvPr/>
        </p:nvSpPr>
        <p:spPr>
          <a:xfrm>
            <a:off x="10341864" y="2404872"/>
            <a:ext cx="146304" cy="0"/>
          </a:xfrm>
          <a:prstGeom prst="line">
            <a:avLst/>
          </a:prstGeom>
          <a:noFill/>
          <a:ln w="12700">
            <a:solidFill>
              <a:srgbClr val="8B919D"/>
            </a:solidFill>
            <a:prstDash val="solid"/>
            <a:tailEnd type="triangle"/>
          </a:ln>
        </p:spPr>
        <p:txBody>
          <a:bodyPr/>
          <a:lstStyle/>
          <a:p>
            <a:endParaRPr lang="en-IN"/>
          </a:p>
        </p:txBody>
      </p:sp>
      <p:sp>
        <p:nvSpPr>
          <p:cNvPr id="94" name="Shape 91"/>
          <p:cNvSpPr/>
          <p:nvPr/>
        </p:nvSpPr>
        <p:spPr>
          <a:xfrm>
            <a:off x="10515600" y="2011680"/>
            <a:ext cx="1216152" cy="786384"/>
          </a:xfrm>
          <a:prstGeom prst="roundRect">
            <a:avLst>
              <a:gd name="adj" fmla="val 9302"/>
            </a:avLst>
          </a:prstGeom>
          <a:solidFill>
            <a:srgbClr val="FFFFFF"/>
          </a:solidFill>
          <a:ln w="9525">
            <a:solidFill>
              <a:srgbClr val="DCDFE4"/>
            </a:solidFill>
            <a:prstDash val="solid"/>
          </a:ln>
        </p:spPr>
        <p:txBody>
          <a:bodyPr/>
          <a:lstStyle/>
          <a:p>
            <a:endParaRPr lang="en-IN"/>
          </a:p>
        </p:txBody>
      </p:sp>
      <p:sp>
        <p:nvSpPr>
          <p:cNvPr id="95" name="Text 92"/>
          <p:cNvSpPr txBox="1"/>
          <p:nvPr/>
        </p:nvSpPr>
        <p:spPr>
          <a:xfrm>
            <a:off x="10607040" y="2075688"/>
            <a:ext cx="1051560" cy="182880"/>
          </a:xfrm>
          <a:prstGeom prst="rect">
            <a:avLst/>
          </a:prstGeom>
          <a:noFill/>
          <a:ln/>
        </p:spPr>
        <p:txBody>
          <a:bodyPr wrap="square" lIns="0" tIns="0" rIns="0" bIns="0" rtlCol="0" anchor="ctr"/>
          <a:lstStyle/>
          <a:p>
            <a:pPr marL="0" indent="0">
              <a:buNone/>
            </a:pPr>
            <a:r>
              <a:rPr lang="en-US" sz="900" b="1" dirty="0">
                <a:solidFill>
                  <a:srgbClr val="E5482D"/>
                </a:solidFill>
                <a:latin typeface="Inter" pitchFamily="34" charset="0"/>
                <a:ea typeface="Inter" pitchFamily="34" charset="-122"/>
                <a:cs typeface="Inter" pitchFamily="34" charset="-120"/>
              </a:rPr>
              <a:t>Month 3+</a:t>
            </a:r>
            <a:endParaRPr lang="en-US" sz="900" dirty="0"/>
          </a:p>
        </p:txBody>
      </p:sp>
      <p:sp>
        <p:nvSpPr>
          <p:cNvPr id="96" name="Text 93"/>
          <p:cNvSpPr txBox="1"/>
          <p:nvPr/>
        </p:nvSpPr>
        <p:spPr>
          <a:xfrm>
            <a:off x="10607040" y="2267712"/>
            <a:ext cx="1051560" cy="502920"/>
          </a:xfrm>
          <a:prstGeom prst="rect">
            <a:avLst/>
          </a:prstGeom>
          <a:noFill/>
          <a:ln/>
        </p:spPr>
        <p:txBody>
          <a:bodyPr wrap="square" lIns="0" tIns="0" rIns="0" bIns="0" rtlCol="0" anchor="t"/>
          <a:lstStyle/>
          <a:p>
            <a:pPr marL="0" indent="0">
              <a:buNone/>
            </a:pPr>
            <a:r>
              <a:rPr lang="en-US" sz="850" dirty="0">
                <a:solidFill>
                  <a:srgbClr val="14161C"/>
                </a:solidFill>
                <a:latin typeface="Inter" pitchFamily="34" charset="0"/>
                <a:ea typeface="Inter" pitchFamily="34" charset="-122"/>
                <a:cs typeface="Inter" pitchFamily="34" charset="-120"/>
              </a:rPr>
              <a:t>More colleges, Recruiter Pro, incubator tie-ups</a:t>
            </a:r>
            <a:endParaRPr lang="en-US" sz="850" dirty="0"/>
          </a:p>
        </p:txBody>
      </p:sp>
      <p:sp>
        <p:nvSpPr>
          <p:cNvPr id="97" name="Text 94"/>
          <p:cNvSpPr txBox="1"/>
          <p:nvPr/>
        </p:nvSpPr>
        <p:spPr>
          <a:xfrm>
            <a:off x="6263640" y="2962656"/>
            <a:ext cx="4572000" cy="182880"/>
          </a:xfrm>
          <a:prstGeom prst="rect">
            <a:avLst/>
          </a:prstGeom>
          <a:noFill/>
          <a:ln/>
        </p:spPr>
        <p:txBody>
          <a:bodyPr wrap="square" lIns="0" tIns="0" rIns="0" bIns="0" rtlCol="0" anchor="ctr"/>
          <a:lstStyle/>
          <a:p>
            <a:pPr marL="0" indent="0">
              <a:buNone/>
            </a:pPr>
            <a:r>
              <a:rPr lang="en-US" sz="900" b="1" kern="0" spc="150" dirty="0">
                <a:solidFill>
                  <a:srgbClr val="E5482D"/>
                </a:solidFill>
                <a:latin typeface="Inter" pitchFamily="34" charset="0"/>
                <a:ea typeface="Inter" pitchFamily="34" charset="-122"/>
                <a:cs typeface="Inter" pitchFamily="34" charset="-120"/>
              </a:rPr>
              <a:t>WHAT WE WILL BUILD IN THE 24-HOUR ROUND</a:t>
            </a:r>
            <a:endParaRPr lang="en-US" sz="900" dirty="0"/>
          </a:p>
        </p:txBody>
      </p:sp>
      <p:sp>
        <p:nvSpPr>
          <p:cNvPr id="98" name="Text 95"/>
          <p:cNvSpPr txBox="1"/>
          <p:nvPr/>
        </p:nvSpPr>
        <p:spPr>
          <a:xfrm>
            <a:off x="6739128" y="3172968"/>
            <a:ext cx="457200" cy="137160"/>
          </a:xfrm>
          <a:prstGeom prst="rect">
            <a:avLst/>
          </a:prstGeom>
          <a:noFill/>
          <a:ln/>
        </p:spPr>
        <p:txBody>
          <a:bodyPr wrap="square" lIns="0" tIns="0" rIns="0" bIns="0" rtlCol="0" anchor="ctr"/>
          <a:lstStyle/>
          <a:p>
            <a:pPr marL="0" indent="0" algn="ctr">
              <a:buNone/>
            </a:pPr>
            <a:r>
              <a:rPr lang="en-US" sz="700" dirty="0">
                <a:solidFill>
                  <a:srgbClr val="545B69"/>
                </a:solidFill>
                <a:latin typeface="Inter" pitchFamily="34" charset="0"/>
                <a:ea typeface="Inter" pitchFamily="34" charset="-122"/>
                <a:cs typeface="Inter" pitchFamily="34" charset="-120"/>
              </a:rPr>
              <a:t>0 h</a:t>
            </a:r>
            <a:endParaRPr lang="en-US" sz="700" dirty="0"/>
          </a:p>
        </p:txBody>
      </p:sp>
      <p:sp>
        <p:nvSpPr>
          <p:cNvPr id="99" name="Text 96"/>
          <p:cNvSpPr txBox="1"/>
          <p:nvPr/>
        </p:nvSpPr>
        <p:spPr>
          <a:xfrm>
            <a:off x="7539228" y="3172968"/>
            <a:ext cx="457200" cy="137160"/>
          </a:xfrm>
          <a:prstGeom prst="rect">
            <a:avLst/>
          </a:prstGeom>
          <a:noFill/>
          <a:ln/>
        </p:spPr>
        <p:txBody>
          <a:bodyPr wrap="square" lIns="0" tIns="0" rIns="0" bIns="0" rtlCol="0" anchor="ctr"/>
          <a:lstStyle/>
          <a:p>
            <a:pPr marL="0" indent="0" algn="ctr">
              <a:buNone/>
            </a:pPr>
            <a:r>
              <a:rPr lang="en-US" sz="700" dirty="0">
                <a:solidFill>
                  <a:srgbClr val="545B69"/>
                </a:solidFill>
                <a:latin typeface="Inter" pitchFamily="34" charset="0"/>
                <a:ea typeface="Inter" pitchFamily="34" charset="-122"/>
                <a:cs typeface="Inter" pitchFamily="34" charset="-120"/>
              </a:rPr>
              <a:t>12 h</a:t>
            </a:r>
            <a:endParaRPr lang="en-US" sz="700" dirty="0"/>
          </a:p>
        </p:txBody>
      </p:sp>
      <p:sp>
        <p:nvSpPr>
          <p:cNvPr id="100" name="Text 97"/>
          <p:cNvSpPr txBox="1"/>
          <p:nvPr/>
        </p:nvSpPr>
        <p:spPr>
          <a:xfrm>
            <a:off x="8339328" y="3172968"/>
            <a:ext cx="457200" cy="137160"/>
          </a:xfrm>
          <a:prstGeom prst="rect">
            <a:avLst/>
          </a:prstGeom>
          <a:noFill/>
          <a:ln/>
        </p:spPr>
        <p:txBody>
          <a:bodyPr wrap="square" lIns="0" tIns="0" rIns="0" bIns="0" rtlCol="0" anchor="ctr"/>
          <a:lstStyle/>
          <a:p>
            <a:pPr marL="0" indent="0" algn="ctr">
              <a:buNone/>
            </a:pPr>
            <a:r>
              <a:rPr lang="en-US" sz="700" dirty="0">
                <a:solidFill>
                  <a:srgbClr val="545B69"/>
                </a:solidFill>
                <a:latin typeface="Inter" pitchFamily="34" charset="0"/>
                <a:ea typeface="Inter" pitchFamily="34" charset="-122"/>
                <a:cs typeface="Inter" pitchFamily="34" charset="-120"/>
              </a:rPr>
              <a:t>24 h</a:t>
            </a:r>
            <a:endParaRPr lang="en-US" sz="700" dirty="0"/>
          </a:p>
        </p:txBody>
      </p:sp>
      <p:sp>
        <p:nvSpPr>
          <p:cNvPr id="101" name="Text 98"/>
          <p:cNvSpPr txBox="1"/>
          <p:nvPr/>
        </p:nvSpPr>
        <p:spPr>
          <a:xfrm>
            <a:off x="6263640" y="3364992"/>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0–3 h</a:t>
            </a:r>
            <a:endParaRPr lang="en-US" sz="900" dirty="0"/>
          </a:p>
        </p:txBody>
      </p:sp>
      <p:sp>
        <p:nvSpPr>
          <p:cNvPr id="102" name="Shape 99"/>
          <p:cNvSpPr/>
          <p:nvPr/>
        </p:nvSpPr>
        <p:spPr>
          <a:xfrm>
            <a:off x="6967728" y="3456432"/>
            <a:ext cx="1600200" cy="91440"/>
          </a:xfrm>
          <a:prstGeom prst="roundRect">
            <a:avLst>
              <a:gd name="adj" fmla="val 50000"/>
            </a:avLst>
          </a:prstGeom>
          <a:solidFill>
            <a:srgbClr val="DCDFE4"/>
          </a:solidFill>
          <a:ln/>
        </p:spPr>
        <p:txBody>
          <a:bodyPr/>
          <a:lstStyle/>
          <a:p>
            <a:endParaRPr lang="en-IN"/>
          </a:p>
        </p:txBody>
      </p:sp>
      <p:sp>
        <p:nvSpPr>
          <p:cNvPr id="103" name="Shape 100"/>
          <p:cNvSpPr/>
          <p:nvPr/>
        </p:nvSpPr>
        <p:spPr>
          <a:xfrm>
            <a:off x="6967728" y="3438144"/>
            <a:ext cx="200025" cy="128016"/>
          </a:xfrm>
          <a:prstGeom prst="roundRect">
            <a:avLst>
              <a:gd name="adj" fmla="val 35714"/>
            </a:avLst>
          </a:prstGeom>
          <a:solidFill>
            <a:srgbClr val="E5482D"/>
          </a:solidFill>
          <a:ln/>
        </p:spPr>
        <p:txBody>
          <a:bodyPr/>
          <a:lstStyle/>
          <a:p>
            <a:endParaRPr lang="en-IN"/>
          </a:p>
        </p:txBody>
      </p:sp>
      <p:sp>
        <p:nvSpPr>
          <p:cNvPr id="104" name="Text 101"/>
          <p:cNvSpPr txBox="1"/>
          <p:nvPr/>
        </p:nvSpPr>
        <p:spPr>
          <a:xfrm>
            <a:off x="8686800" y="3364992"/>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Schema + RLS, Google / email-OTP sign-up, profile and roles</a:t>
            </a:r>
            <a:endParaRPr lang="en-US" sz="850" dirty="0"/>
          </a:p>
        </p:txBody>
      </p:sp>
      <p:sp>
        <p:nvSpPr>
          <p:cNvPr id="105" name="Text 102"/>
          <p:cNvSpPr txBox="1"/>
          <p:nvPr/>
        </p:nvSpPr>
        <p:spPr>
          <a:xfrm>
            <a:off x="10954512" y="3401568"/>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Backend</a:t>
            </a:r>
            <a:endParaRPr lang="en-US" sz="750" dirty="0"/>
          </a:p>
        </p:txBody>
      </p:sp>
      <p:sp>
        <p:nvSpPr>
          <p:cNvPr id="106" name="Text 103"/>
          <p:cNvSpPr txBox="1"/>
          <p:nvPr/>
        </p:nvSpPr>
        <p:spPr>
          <a:xfrm>
            <a:off x="6263640" y="3712464"/>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3–7 h</a:t>
            </a:r>
            <a:endParaRPr lang="en-US" sz="900" dirty="0"/>
          </a:p>
        </p:txBody>
      </p:sp>
      <p:sp>
        <p:nvSpPr>
          <p:cNvPr id="107" name="Shape 104"/>
          <p:cNvSpPr/>
          <p:nvPr/>
        </p:nvSpPr>
        <p:spPr>
          <a:xfrm>
            <a:off x="6967728" y="3803904"/>
            <a:ext cx="1600200" cy="91440"/>
          </a:xfrm>
          <a:prstGeom prst="roundRect">
            <a:avLst>
              <a:gd name="adj" fmla="val 50000"/>
            </a:avLst>
          </a:prstGeom>
          <a:solidFill>
            <a:srgbClr val="DCDFE4"/>
          </a:solidFill>
          <a:ln/>
        </p:spPr>
        <p:txBody>
          <a:bodyPr/>
          <a:lstStyle/>
          <a:p>
            <a:endParaRPr lang="en-IN"/>
          </a:p>
        </p:txBody>
      </p:sp>
      <p:sp>
        <p:nvSpPr>
          <p:cNvPr id="108" name="Shape 105"/>
          <p:cNvSpPr/>
          <p:nvPr/>
        </p:nvSpPr>
        <p:spPr>
          <a:xfrm>
            <a:off x="7167753" y="3785616"/>
            <a:ext cx="266700" cy="128016"/>
          </a:xfrm>
          <a:prstGeom prst="roundRect">
            <a:avLst>
              <a:gd name="adj" fmla="val 35714"/>
            </a:avLst>
          </a:prstGeom>
          <a:solidFill>
            <a:srgbClr val="E5482D"/>
          </a:solidFill>
          <a:ln/>
        </p:spPr>
        <p:txBody>
          <a:bodyPr/>
          <a:lstStyle/>
          <a:p>
            <a:endParaRPr lang="en-IN"/>
          </a:p>
        </p:txBody>
      </p:sp>
      <p:sp>
        <p:nvSpPr>
          <p:cNvPr id="109" name="Text 106"/>
          <p:cNvSpPr txBox="1"/>
          <p:nvPr/>
        </p:nvSpPr>
        <p:spPr>
          <a:xfrm>
            <a:off x="8686800" y="3712464"/>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AI feed, opportunity pages, search and filters</a:t>
            </a:r>
            <a:endParaRPr lang="en-US" sz="850" dirty="0"/>
          </a:p>
        </p:txBody>
      </p:sp>
      <p:sp>
        <p:nvSpPr>
          <p:cNvPr id="110" name="Text 107"/>
          <p:cNvSpPr txBox="1"/>
          <p:nvPr/>
        </p:nvSpPr>
        <p:spPr>
          <a:xfrm>
            <a:off x="10954512" y="3749040"/>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Frontend</a:t>
            </a:r>
            <a:endParaRPr lang="en-US" sz="750" dirty="0"/>
          </a:p>
        </p:txBody>
      </p:sp>
      <p:sp>
        <p:nvSpPr>
          <p:cNvPr id="111" name="Text 108"/>
          <p:cNvSpPr txBox="1"/>
          <p:nvPr/>
        </p:nvSpPr>
        <p:spPr>
          <a:xfrm>
            <a:off x="6263640" y="4059936"/>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7–11 h</a:t>
            </a:r>
            <a:endParaRPr lang="en-US" sz="900" dirty="0"/>
          </a:p>
        </p:txBody>
      </p:sp>
      <p:sp>
        <p:nvSpPr>
          <p:cNvPr id="112" name="Shape 109"/>
          <p:cNvSpPr/>
          <p:nvPr/>
        </p:nvSpPr>
        <p:spPr>
          <a:xfrm>
            <a:off x="6967728" y="4151376"/>
            <a:ext cx="1600200" cy="91440"/>
          </a:xfrm>
          <a:prstGeom prst="roundRect">
            <a:avLst>
              <a:gd name="adj" fmla="val 50000"/>
            </a:avLst>
          </a:prstGeom>
          <a:solidFill>
            <a:srgbClr val="DCDFE4"/>
          </a:solidFill>
          <a:ln/>
        </p:spPr>
        <p:txBody>
          <a:bodyPr/>
          <a:lstStyle/>
          <a:p>
            <a:endParaRPr lang="en-IN"/>
          </a:p>
        </p:txBody>
      </p:sp>
      <p:sp>
        <p:nvSpPr>
          <p:cNvPr id="113" name="Shape 110"/>
          <p:cNvSpPr/>
          <p:nvPr/>
        </p:nvSpPr>
        <p:spPr>
          <a:xfrm>
            <a:off x="7434453" y="4133088"/>
            <a:ext cx="266700" cy="128016"/>
          </a:xfrm>
          <a:prstGeom prst="roundRect">
            <a:avLst>
              <a:gd name="adj" fmla="val 35714"/>
            </a:avLst>
          </a:prstGeom>
          <a:solidFill>
            <a:srgbClr val="E5482D"/>
          </a:solidFill>
          <a:ln/>
        </p:spPr>
        <p:txBody>
          <a:bodyPr/>
          <a:lstStyle/>
          <a:p>
            <a:endParaRPr lang="en-IN"/>
          </a:p>
        </p:txBody>
      </p:sp>
      <p:sp>
        <p:nvSpPr>
          <p:cNvPr id="114" name="Text 111"/>
          <p:cNvSpPr txBox="1"/>
          <p:nvPr/>
        </p:nvSpPr>
        <p:spPr>
          <a:xfrm>
            <a:off x="8686800" y="4059936"/>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Q&amp;A, live polls, Idea Lab, apply flow</a:t>
            </a:r>
            <a:endParaRPr lang="en-US" sz="850" dirty="0"/>
          </a:p>
        </p:txBody>
      </p:sp>
      <p:sp>
        <p:nvSpPr>
          <p:cNvPr id="115" name="Text 112"/>
          <p:cNvSpPr txBox="1"/>
          <p:nvPr/>
        </p:nvSpPr>
        <p:spPr>
          <a:xfrm>
            <a:off x="10954512" y="4096512"/>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Full-stack</a:t>
            </a:r>
            <a:endParaRPr lang="en-US" sz="750" dirty="0"/>
          </a:p>
        </p:txBody>
      </p:sp>
      <p:sp>
        <p:nvSpPr>
          <p:cNvPr id="116" name="Text 113"/>
          <p:cNvSpPr txBox="1"/>
          <p:nvPr/>
        </p:nvSpPr>
        <p:spPr>
          <a:xfrm>
            <a:off x="6263640" y="4407408"/>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11–15 h</a:t>
            </a:r>
            <a:endParaRPr lang="en-US" sz="900" dirty="0"/>
          </a:p>
        </p:txBody>
      </p:sp>
      <p:sp>
        <p:nvSpPr>
          <p:cNvPr id="117" name="Shape 114"/>
          <p:cNvSpPr/>
          <p:nvPr/>
        </p:nvSpPr>
        <p:spPr>
          <a:xfrm>
            <a:off x="6967728" y="4498848"/>
            <a:ext cx="1600200" cy="91440"/>
          </a:xfrm>
          <a:prstGeom prst="roundRect">
            <a:avLst>
              <a:gd name="adj" fmla="val 50000"/>
            </a:avLst>
          </a:prstGeom>
          <a:solidFill>
            <a:srgbClr val="DCDFE4"/>
          </a:solidFill>
          <a:ln/>
        </p:spPr>
        <p:txBody>
          <a:bodyPr/>
          <a:lstStyle/>
          <a:p>
            <a:endParaRPr lang="en-IN"/>
          </a:p>
        </p:txBody>
      </p:sp>
      <p:sp>
        <p:nvSpPr>
          <p:cNvPr id="118" name="Shape 115"/>
          <p:cNvSpPr/>
          <p:nvPr/>
        </p:nvSpPr>
        <p:spPr>
          <a:xfrm>
            <a:off x="7701153" y="4480560"/>
            <a:ext cx="266700" cy="128016"/>
          </a:xfrm>
          <a:prstGeom prst="roundRect">
            <a:avLst>
              <a:gd name="adj" fmla="val 35714"/>
            </a:avLst>
          </a:prstGeom>
          <a:solidFill>
            <a:srgbClr val="E5482D"/>
          </a:solidFill>
          <a:ln/>
        </p:spPr>
        <p:txBody>
          <a:bodyPr/>
          <a:lstStyle/>
          <a:p>
            <a:endParaRPr lang="en-IN"/>
          </a:p>
        </p:txBody>
      </p:sp>
      <p:sp>
        <p:nvSpPr>
          <p:cNvPr id="119" name="Text 116"/>
          <p:cNvSpPr txBox="1"/>
          <p:nvPr/>
        </p:nvSpPr>
        <p:spPr>
          <a:xfrm>
            <a:off x="8686800" y="4407408"/>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AI: match %, Skill-Gap Coach, idea critique, scam filter</a:t>
            </a:r>
            <a:endParaRPr lang="en-US" sz="850" dirty="0"/>
          </a:p>
        </p:txBody>
      </p:sp>
      <p:sp>
        <p:nvSpPr>
          <p:cNvPr id="120" name="Text 117"/>
          <p:cNvSpPr txBox="1"/>
          <p:nvPr/>
        </p:nvSpPr>
        <p:spPr>
          <a:xfrm>
            <a:off x="10954512" y="4443984"/>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AI / ML</a:t>
            </a:r>
            <a:endParaRPr lang="en-US" sz="750" dirty="0"/>
          </a:p>
        </p:txBody>
      </p:sp>
      <p:sp>
        <p:nvSpPr>
          <p:cNvPr id="121" name="Text 118"/>
          <p:cNvSpPr txBox="1"/>
          <p:nvPr/>
        </p:nvSpPr>
        <p:spPr>
          <a:xfrm>
            <a:off x="6263640" y="4754880"/>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15–19 h</a:t>
            </a:r>
            <a:endParaRPr lang="en-US" sz="900" dirty="0"/>
          </a:p>
        </p:txBody>
      </p:sp>
      <p:sp>
        <p:nvSpPr>
          <p:cNvPr id="122" name="Shape 119"/>
          <p:cNvSpPr/>
          <p:nvPr/>
        </p:nvSpPr>
        <p:spPr>
          <a:xfrm>
            <a:off x="6967728" y="4846320"/>
            <a:ext cx="1600200" cy="91440"/>
          </a:xfrm>
          <a:prstGeom prst="roundRect">
            <a:avLst>
              <a:gd name="adj" fmla="val 50000"/>
            </a:avLst>
          </a:prstGeom>
          <a:solidFill>
            <a:srgbClr val="DCDFE4"/>
          </a:solidFill>
          <a:ln/>
        </p:spPr>
        <p:txBody>
          <a:bodyPr/>
          <a:lstStyle/>
          <a:p>
            <a:endParaRPr lang="en-IN"/>
          </a:p>
        </p:txBody>
      </p:sp>
      <p:sp>
        <p:nvSpPr>
          <p:cNvPr id="123" name="Shape 120"/>
          <p:cNvSpPr/>
          <p:nvPr/>
        </p:nvSpPr>
        <p:spPr>
          <a:xfrm>
            <a:off x="7967853" y="4828032"/>
            <a:ext cx="266700" cy="128016"/>
          </a:xfrm>
          <a:prstGeom prst="roundRect">
            <a:avLst>
              <a:gd name="adj" fmla="val 35714"/>
            </a:avLst>
          </a:prstGeom>
          <a:solidFill>
            <a:srgbClr val="E5482D"/>
          </a:solidFill>
          <a:ln/>
        </p:spPr>
        <p:txBody>
          <a:bodyPr/>
          <a:lstStyle/>
          <a:p>
            <a:endParaRPr lang="en-IN"/>
          </a:p>
        </p:txBody>
      </p:sp>
      <p:sp>
        <p:nvSpPr>
          <p:cNvPr id="124" name="Text 121"/>
          <p:cNvSpPr txBox="1"/>
          <p:nvPr/>
        </p:nvSpPr>
        <p:spPr>
          <a:xfrm>
            <a:off x="8686800" y="4754880"/>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Recruiter Reality Check + Hire-Proof engine</a:t>
            </a:r>
            <a:endParaRPr lang="en-US" sz="850" dirty="0"/>
          </a:p>
        </p:txBody>
      </p:sp>
      <p:sp>
        <p:nvSpPr>
          <p:cNvPr id="125" name="Text 122"/>
          <p:cNvSpPr txBox="1"/>
          <p:nvPr/>
        </p:nvSpPr>
        <p:spPr>
          <a:xfrm>
            <a:off x="10954512" y="4791456"/>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Full-stack</a:t>
            </a:r>
            <a:endParaRPr lang="en-US" sz="750" dirty="0"/>
          </a:p>
        </p:txBody>
      </p:sp>
      <p:sp>
        <p:nvSpPr>
          <p:cNvPr id="126" name="Text 123"/>
          <p:cNvSpPr txBox="1"/>
          <p:nvPr/>
        </p:nvSpPr>
        <p:spPr>
          <a:xfrm>
            <a:off x="6263640" y="5102352"/>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19–22 h</a:t>
            </a:r>
            <a:endParaRPr lang="en-US" sz="900" dirty="0"/>
          </a:p>
        </p:txBody>
      </p:sp>
      <p:sp>
        <p:nvSpPr>
          <p:cNvPr id="127" name="Shape 124"/>
          <p:cNvSpPr/>
          <p:nvPr/>
        </p:nvSpPr>
        <p:spPr>
          <a:xfrm>
            <a:off x="6967728" y="5193792"/>
            <a:ext cx="1600200" cy="91440"/>
          </a:xfrm>
          <a:prstGeom prst="roundRect">
            <a:avLst>
              <a:gd name="adj" fmla="val 50000"/>
            </a:avLst>
          </a:prstGeom>
          <a:solidFill>
            <a:srgbClr val="DCDFE4"/>
          </a:solidFill>
          <a:ln/>
        </p:spPr>
        <p:txBody>
          <a:bodyPr/>
          <a:lstStyle/>
          <a:p>
            <a:endParaRPr lang="en-IN"/>
          </a:p>
        </p:txBody>
      </p:sp>
      <p:sp>
        <p:nvSpPr>
          <p:cNvPr id="128" name="Shape 125"/>
          <p:cNvSpPr/>
          <p:nvPr/>
        </p:nvSpPr>
        <p:spPr>
          <a:xfrm>
            <a:off x="8234553" y="5175504"/>
            <a:ext cx="200025" cy="128016"/>
          </a:xfrm>
          <a:prstGeom prst="roundRect">
            <a:avLst>
              <a:gd name="adj" fmla="val 35714"/>
            </a:avLst>
          </a:prstGeom>
          <a:solidFill>
            <a:srgbClr val="E5482D"/>
          </a:solidFill>
          <a:ln/>
        </p:spPr>
        <p:txBody>
          <a:bodyPr/>
          <a:lstStyle/>
          <a:p>
            <a:endParaRPr lang="en-IN"/>
          </a:p>
        </p:txBody>
      </p:sp>
      <p:sp>
        <p:nvSpPr>
          <p:cNvPr id="129" name="Text 126"/>
          <p:cNvSpPr txBox="1"/>
          <p:nvPr/>
        </p:nvSpPr>
        <p:spPr>
          <a:xfrm>
            <a:off x="8686800" y="5102352"/>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Seed data, E2E tests, CLI deploy (Vercel + Supabase)</a:t>
            </a:r>
            <a:endParaRPr lang="en-US" sz="850" dirty="0"/>
          </a:p>
        </p:txBody>
      </p:sp>
      <p:sp>
        <p:nvSpPr>
          <p:cNvPr id="130" name="Text 127"/>
          <p:cNvSpPr txBox="1"/>
          <p:nvPr/>
        </p:nvSpPr>
        <p:spPr>
          <a:xfrm>
            <a:off x="10954512" y="5138928"/>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Whole team</a:t>
            </a:r>
            <a:endParaRPr lang="en-US" sz="750" dirty="0"/>
          </a:p>
        </p:txBody>
      </p:sp>
      <p:sp>
        <p:nvSpPr>
          <p:cNvPr id="131" name="Text 128"/>
          <p:cNvSpPr txBox="1"/>
          <p:nvPr/>
        </p:nvSpPr>
        <p:spPr>
          <a:xfrm>
            <a:off x="6263640" y="5449824"/>
            <a:ext cx="640080" cy="274320"/>
          </a:xfrm>
          <a:prstGeom prst="rect">
            <a:avLst/>
          </a:prstGeom>
          <a:noFill/>
          <a:ln/>
        </p:spPr>
        <p:txBody>
          <a:bodyPr wrap="square" lIns="0" tIns="0" rIns="0" bIns="0" rtlCol="0" anchor="ctr"/>
          <a:lstStyle/>
          <a:p>
            <a:pPr marL="0" indent="0">
              <a:buNone/>
            </a:pPr>
            <a:r>
              <a:rPr lang="en-US" sz="900" b="1" dirty="0">
                <a:solidFill>
                  <a:srgbClr val="14161C"/>
                </a:solidFill>
                <a:latin typeface="Inter" pitchFamily="34" charset="0"/>
                <a:ea typeface="Inter" pitchFamily="34" charset="-122"/>
                <a:cs typeface="Inter" pitchFamily="34" charset="-120"/>
              </a:rPr>
              <a:t>22–24 h</a:t>
            </a:r>
            <a:endParaRPr lang="en-US" sz="900" dirty="0"/>
          </a:p>
        </p:txBody>
      </p:sp>
      <p:sp>
        <p:nvSpPr>
          <p:cNvPr id="132" name="Shape 129"/>
          <p:cNvSpPr/>
          <p:nvPr/>
        </p:nvSpPr>
        <p:spPr>
          <a:xfrm>
            <a:off x="6967728" y="5541264"/>
            <a:ext cx="1600200" cy="91440"/>
          </a:xfrm>
          <a:prstGeom prst="roundRect">
            <a:avLst>
              <a:gd name="adj" fmla="val 50000"/>
            </a:avLst>
          </a:prstGeom>
          <a:solidFill>
            <a:srgbClr val="DCDFE4"/>
          </a:solidFill>
          <a:ln/>
        </p:spPr>
        <p:txBody>
          <a:bodyPr/>
          <a:lstStyle/>
          <a:p>
            <a:endParaRPr lang="en-IN"/>
          </a:p>
        </p:txBody>
      </p:sp>
      <p:sp>
        <p:nvSpPr>
          <p:cNvPr id="133" name="Shape 130"/>
          <p:cNvSpPr/>
          <p:nvPr/>
        </p:nvSpPr>
        <p:spPr>
          <a:xfrm>
            <a:off x="8434578" y="5522976"/>
            <a:ext cx="133350" cy="128016"/>
          </a:xfrm>
          <a:prstGeom prst="roundRect">
            <a:avLst>
              <a:gd name="adj" fmla="val 35714"/>
            </a:avLst>
          </a:prstGeom>
          <a:solidFill>
            <a:srgbClr val="E5482D"/>
          </a:solidFill>
          <a:ln/>
        </p:spPr>
        <p:txBody>
          <a:bodyPr/>
          <a:lstStyle/>
          <a:p>
            <a:endParaRPr lang="en-IN"/>
          </a:p>
        </p:txBody>
      </p:sp>
      <p:sp>
        <p:nvSpPr>
          <p:cNvPr id="134" name="Text 131"/>
          <p:cNvSpPr txBox="1"/>
          <p:nvPr/>
        </p:nvSpPr>
        <p:spPr>
          <a:xfrm>
            <a:off x="8686800" y="5449824"/>
            <a:ext cx="2194560" cy="292608"/>
          </a:xfrm>
          <a:prstGeom prst="rect">
            <a:avLst/>
          </a:prstGeom>
          <a:noFill/>
          <a:ln/>
        </p:spPr>
        <p:txBody>
          <a:bodyPr wrap="square" lIns="0" tIns="0" rIns="0" bIns="0" rtlCol="0" anchor="ctr"/>
          <a:lstStyle/>
          <a:p>
            <a:pPr marL="0" indent="0">
              <a:buNone/>
            </a:pPr>
            <a:r>
              <a:rPr lang="en-US" sz="850" dirty="0">
                <a:solidFill>
                  <a:srgbClr val="14161C"/>
                </a:solidFill>
                <a:latin typeface="Inter" pitchFamily="34" charset="0"/>
                <a:ea typeface="Inter" pitchFamily="34" charset="-122"/>
                <a:cs typeface="Inter" pitchFamily="34" charset="-120"/>
              </a:rPr>
              <a:t>UI polish, demo run, pitch</a:t>
            </a:r>
            <a:endParaRPr lang="en-US" sz="850" dirty="0"/>
          </a:p>
        </p:txBody>
      </p:sp>
      <p:sp>
        <p:nvSpPr>
          <p:cNvPr id="135" name="Text 132"/>
          <p:cNvSpPr txBox="1"/>
          <p:nvPr/>
        </p:nvSpPr>
        <p:spPr>
          <a:xfrm>
            <a:off x="10954512" y="5486400"/>
            <a:ext cx="777240" cy="201168"/>
          </a:xfrm>
          <a:prstGeom prst="roundRect">
            <a:avLst>
              <a:gd name="adj" fmla="val 50000"/>
            </a:avLst>
          </a:prstGeom>
          <a:solidFill>
            <a:srgbClr val="FFFFFF"/>
          </a:solidFill>
          <a:ln w="9525">
            <a:solidFill>
              <a:srgbClr val="DCDFE4"/>
            </a:solidFill>
          </a:ln>
        </p:spPr>
        <p:txBody>
          <a:bodyPr wrap="square" lIns="0" tIns="0" rIns="0" bIns="0" rtlCol="0" anchor="ctr"/>
          <a:lstStyle/>
          <a:p>
            <a:pPr marL="0" indent="0" algn="ctr">
              <a:buNone/>
            </a:pPr>
            <a:r>
              <a:rPr lang="en-US" sz="750" b="1" dirty="0">
                <a:solidFill>
                  <a:srgbClr val="545B69"/>
                </a:solidFill>
                <a:latin typeface="Inter" pitchFamily="34" charset="0"/>
                <a:ea typeface="Inter" pitchFamily="34" charset="-122"/>
                <a:cs typeface="Inter" pitchFamily="34" charset="-120"/>
              </a:rPr>
              <a:t>Whole team</a:t>
            </a:r>
            <a:endParaRPr lang="en-US" sz="750" dirty="0"/>
          </a:p>
        </p:txBody>
      </p:sp>
      <p:sp>
        <p:nvSpPr>
          <p:cNvPr id="136" name="Shape 133"/>
          <p:cNvSpPr/>
          <p:nvPr/>
        </p:nvSpPr>
        <p:spPr>
          <a:xfrm>
            <a:off x="6263640" y="5833872"/>
            <a:ext cx="5468112" cy="493776"/>
          </a:xfrm>
          <a:prstGeom prst="roundRect">
            <a:avLst>
              <a:gd name="adj" fmla="val 14815"/>
            </a:avLst>
          </a:prstGeom>
          <a:solidFill>
            <a:srgbClr val="14161C"/>
          </a:solidFill>
          <a:ln/>
        </p:spPr>
        <p:txBody>
          <a:bodyPr/>
          <a:lstStyle/>
          <a:p>
            <a:endParaRPr lang="en-IN"/>
          </a:p>
        </p:txBody>
      </p:sp>
      <p:sp>
        <p:nvSpPr>
          <p:cNvPr id="137" name="Text 134"/>
          <p:cNvSpPr txBox="1"/>
          <p:nvPr/>
        </p:nvSpPr>
        <p:spPr>
          <a:xfrm>
            <a:off x="6400800" y="5989320"/>
            <a:ext cx="914400" cy="182880"/>
          </a:xfrm>
          <a:prstGeom prst="rect">
            <a:avLst/>
          </a:prstGeom>
          <a:noFill/>
          <a:ln/>
        </p:spPr>
        <p:txBody>
          <a:bodyPr wrap="square" lIns="0" tIns="0" rIns="0" bIns="0" rtlCol="0" anchor="ctr"/>
          <a:lstStyle/>
          <a:p>
            <a:pPr marL="0" indent="0">
              <a:buNone/>
            </a:pPr>
            <a:r>
              <a:rPr lang="en-US" sz="850" b="1" kern="0" spc="150" dirty="0">
                <a:solidFill>
                  <a:srgbClr val="E5482D"/>
                </a:solidFill>
                <a:latin typeface="Inter" pitchFamily="34" charset="0"/>
                <a:ea typeface="Inter" pitchFamily="34" charset="-122"/>
                <a:cs typeface="Inter" pitchFamily="34" charset="-120"/>
              </a:rPr>
              <a:t>DEMO PATH</a:t>
            </a:r>
            <a:endParaRPr lang="en-US" sz="850" dirty="0"/>
          </a:p>
        </p:txBody>
      </p:sp>
      <p:sp>
        <p:nvSpPr>
          <p:cNvPr id="138" name="Text 135"/>
          <p:cNvSpPr txBox="1"/>
          <p:nvPr/>
        </p:nvSpPr>
        <p:spPr>
          <a:xfrm>
            <a:off x="7315200" y="5852160"/>
            <a:ext cx="4297680" cy="457200"/>
          </a:xfrm>
          <a:prstGeom prst="rect">
            <a:avLst/>
          </a:prstGeom>
          <a:noFill/>
          <a:ln/>
        </p:spPr>
        <p:txBody>
          <a:bodyPr wrap="square" lIns="0" tIns="0" rIns="0" bIns="0" rtlCol="0" anchor="ctr"/>
          <a:lstStyle/>
          <a:p>
            <a:pPr marL="0" indent="0">
              <a:buNone/>
            </a:pPr>
            <a:r>
              <a:rPr lang="en-US" sz="850" dirty="0">
                <a:solidFill>
                  <a:srgbClr val="FFFFFF"/>
                </a:solidFill>
                <a:latin typeface="Inter" pitchFamily="34" charset="0"/>
                <a:ea typeface="Inter" pitchFamily="34" charset="-122"/>
                <a:cs typeface="Inter" pitchFamily="34" charset="-120"/>
              </a:rPr>
              <a:t>Sign up → verify → AI feed → skill gap → apply → recruiter marks hire → candidate confirms → Hire-Proof updates live → post idea → poll → validated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3064</Words>
  <Application>Microsoft Office PowerPoint</Application>
  <PresentationFormat>Widescreen</PresentationFormat>
  <Paragraphs>475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Team CAMBIA-REGLAS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Sangam - HackShift 2026 PS 2 Entrepreneurship and Employment</dc:title>
  <dc:subject>PptxGenJS Presentation</dc:subject>
  <dc:creator>Team CAMBIA-REGLAS</dc:creator>
  <cp:lastModifiedBy>Shivam Pandey</cp:lastModifiedBy>
  <cp:revision>2</cp:revision>
  <cp:lastPrinted>2026-10-17T08:12:09Z</cp:lastPrinted>
  <dcterms:created xsi:type="dcterms:W3CDTF">2026-10-17T08:08:03Z</dcterms:created>
  <dcterms:modified xsi:type="dcterms:W3CDTF">2026-10-17T08:12:55Z</dcterms:modified>
</cp:coreProperties>
</file>